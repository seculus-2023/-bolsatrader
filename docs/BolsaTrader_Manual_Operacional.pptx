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81" r:id="rId32"/>
    <p:sldId id="261" r:id="rId7"/>
    <p:sldId id="280" r:id="rId31"/>
    <p:sldId id="262" r:id="rId8"/>
    <p:sldId id="263" r:id="rId9"/>
    <p:sldId id="264" r:id="rId10"/>
    <p:sldId id="265" r:id="rId11"/>
    <p:sldId id="266" r:id="rId12"/>
    <p:sldId id="267" r:id="rId13"/>
    <p:sldId id="285" r:id="rId36"/>
    <p:sldId id="268" r:id="rId14"/>
    <p:sldId id="269" r:id="rId15"/>
    <p:sldId id="270" r:id="rId16"/>
    <p:sldId id="271" r:id="rId17"/>
    <p:sldId id="272" r:id="rId18"/>
    <p:sldId id="279" r:id="rId30"/>
    <p:sldId id="273" r:id="rId19"/>
    <p:sldId id="286" r:id="rId37"/>
    <p:sldId id="274" r:id="rId20"/>
    <p:sldId id="278" r:id="rId29"/>
    <p:sldId id="282" r:id="rId33"/>
    <p:sldId id="283" r:id="rId34"/>
    <p:sldId id="275" r:id="rId21"/>
    <p:sldId id="284" r:id="rId35"/>
    <p:sldId id="287" r:id="rId38"/>
    <p:sldId id="288" r:id="rId39"/>
    <p:sldId id="289" r:id="rId40"/>
    <p:sldId id="290" r:id="rId41"/>
    <p:sldId id="291" r:id="rId42"/>
    <p:sldId id="292" r:id="rId43"/>
    <p:sldId id="293" r:id="rId44"/>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2.xml"/><Relationship Id="rId20" Type="http://schemas.openxmlformats.org/officeDocument/2006/relationships/slide" Target="slides/slide24.xml"/><Relationship Id="rId21" Type="http://schemas.openxmlformats.org/officeDocument/2006/relationships/slide" Target="slides/slide28.xml"/><Relationship Id="rId22" Type="http://schemas.openxmlformats.org/officeDocument/2006/relationships/slide" Target="slides/slide30.xml"/><Relationship Id="rId23" Type="http://schemas.openxmlformats.org/officeDocument/2006/relationships/slide" Target="slides/slide3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5.xml"/><Relationship Id="rId30" Type="http://schemas.openxmlformats.org/officeDocument/2006/relationships/slide" Target="slides/slide21.xml"/><Relationship Id="rId31" Type="http://schemas.openxmlformats.org/officeDocument/2006/relationships/slide" Target="slides/slide8.xml"/><Relationship Id="rId32" Type="http://schemas.openxmlformats.org/officeDocument/2006/relationships/slide" Target="slides/slide6.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9.xml"/><Relationship Id="rId36" Type="http://schemas.openxmlformats.org/officeDocument/2006/relationships/slide" Target="slides/slide15.xml"/><Relationship Id="rId37" Type="http://schemas.openxmlformats.org/officeDocument/2006/relationships/slide" Target="slides/slide23.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2.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slideLayout" Target="../slideLayouts/slideLayout1.xml"/><Relationship Id="rId18"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image" Target="../media/telegram-send.png"/><Relationship Id="rId2" Type="http://schemas.openxmlformats.org/officeDocument/2006/relationships/image" Target="../media/telegram-cart.png"/><Relationship Id="rId3" Type="http://schemas.openxmlformats.org/officeDocument/2006/relationships/image" Target="../media/telegram-cpu.png"/><Relationship Id="rId4" Type="http://schemas.openxmlformats.org/officeDocument/2006/relationships/image" Target="../media/telegram-target.png"/><Relationship Id="rId5" Type="http://schemas.openxmlformats.org/officeDocument/2006/relationships/image" Target="../media/telegram-ia.png"/><Relationship Id="rId6" Type="http://schemas.openxmlformats.org/officeDocument/2006/relationships/image" Target="../media/image-12-6.png"/><Relationship Id="rId7"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telegram-cart.png"/><Relationship Id="rId3" Type="http://schemas.openxmlformats.org/officeDocument/2006/relationships/image" Target="../media/image-17-6.png"/><Relationship Id="rId4" Type="http://schemas.openxmlformats.org/officeDocument/2006/relationships/image" Target="../media/image-3-1.png"/><Relationship Id="rId5" Type="http://schemas.openxmlformats.org/officeDocument/2006/relationships/image" Target="../media/image-5-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6-14.png"/><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jpg"/><Relationship Id="rId3" Type="http://schemas.openxmlformats.org/officeDocument/2006/relationships/image" Target="../media/image-8-2.png"/><Relationship Id="rId4" Type="http://schemas.openxmlformats.org/officeDocument/2006/relationships/image" Target="../media/image-3-5.png"/><Relationship Id="rId5" Type="http://schemas.openxmlformats.org/officeDocument/2006/relationships/image" Target="../media/image-6-15.png"/><Relationship Id="rId6" Type="http://schemas.openxmlformats.org/officeDocument/2006/relationships/image" Target="../media/image-5-6.png"/><Relationship Id="rId7"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jpg"/><Relationship Id="rId3" Type="http://schemas.openxmlformats.org/officeDocument/2006/relationships/image" Target="../media/image-6-10.png"/><Relationship Id="rId4" Type="http://schemas.openxmlformats.org/officeDocument/2006/relationships/image" Target="../media/image-6-15.png"/><Relationship Id="rId5" Type="http://schemas.openxmlformats.org/officeDocument/2006/relationships/image" Target="../media/image-17-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4.png"/><Relationship Id="rId3" Type="http://schemas.openxmlformats.org/officeDocument/2006/relationships/image" Target="../media/image-5-6.png"/><Relationship Id="rId4" Type="http://schemas.openxmlformats.org/officeDocument/2006/relationships/image" Target="../media/image-6-8.png"/><Relationship Id="rId5"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5-3.png"/><Relationship Id="rId4" Type="http://schemas.openxmlformats.org/officeDocument/2006/relationships/image" Target="../media/image-5-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telegram-cart.png"/><Relationship Id="rId4" Type="http://schemas.openxmlformats.org/officeDocument/2006/relationships/image" Target="../media/image-6-14.png"/><Relationship Id="rId5" Type="http://schemas.openxmlformats.org/officeDocument/2006/relationships/image" Target="../media/image-8-2.png"/><Relationship Id="rId6" Type="http://schemas.openxmlformats.org/officeDocument/2006/relationships/image" Target="../media/image-4-2.png"/><Relationship Id="rId7"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16264D"/>
          </a:solidFill>
          <a:ln/>
        </p:spPr>
        <p:txBody>
          <a:bodyPr/>
          <a:p/>
        </p:txBody>
      </p:sp>
      <p:sp>
        <p:nvSpPr>
          <p:cNvPr id="3" name="Shape 1"/>
          <p:cNvSpPr/>
          <p:nvPr/>
        </p:nvSpPr>
        <p:spPr>
          <a:xfrm>
            <a:off x="9509760" y="-1463040"/>
            <a:ext cx="4754880" cy="4754880"/>
          </a:xfrm>
          <a:prstGeom prst="ellipse">
            <a:avLst/>
          </a:prstGeom>
          <a:solidFill>
            <a:srgbClr val="081226"/>
          </a:solidFill>
          <a:ln/>
        </p:spPr>
        <p:txBody>
          <a:bodyPr/>
          <a:p/>
        </p:txBody>
      </p:sp>
      <p:sp>
        <p:nvSpPr>
          <p:cNvPr id="4" name="Shape 2"/>
          <p:cNvSpPr/>
          <p:nvPr/>
        </p:nvSpPr>
        <p:spPr>
          <a:xfrm>
            <a:off x="10515600" y="4206240"/>
            <a:ext cx="2926080" cy="2926080"/>
          </a:xfrm>
          <a:prstGeom prst="ellipse">
            <a:avLst/>
          </a:prstGeom>
          <a:solidFill>
            <a:srgbClr val="081226"/>
          </a:solidFill>
          <a:ln/>
        </p:spPr>
        <p:txBody>
          <a:bodyPr/>
          <a:p/>
        </p:txBody>
      </p:sp>
      <p:sp>
        <p:nvSpPr>
          <p:cNvPr id="5" name="Shape 3"/>
          <p:cNvSpPr/>
          <p:nvPr/>
        </p:nvSpPr>
        <p:spPr>
          <a:xfrm>
            <a:off x="8732520" y="2788920"/>
            <a:ext cx="1234440" cy="1234440"/>
          </a:xfrm>
          <a:prstGeom prst="ellipse">
            <a:avLst/>
          </a:prstGeom>
          <a:solidFill>
            <a:srgbClr val="00D68F"/>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043416" y="3099816"/>
            <a:ext cx="612648" cy="612648"/>
          </a:xfrm>
          <a:prstGeom prst="rect">
            <a:avLst/>
          </a:prstGeom>
        </p:spPr>
      </p:pic>
      <p:sp>
        <p:nvSpPr>
          <p:cNvPr id="7" name="Text 4"/>
          <p:cNvSpPr/>
          <p:nvPr/>
        </p:nvSpPr>
        <p:spPr>
          <a:xfrm>
            <a:off x="548640" y="2084832"/>
            <a:ext cx="7498080" cy="457200"/>
          </a:xfrm>
          <a:prstGeom prst="rect">
            <a:avLst/>
          </a:prstGeom>
          <a:noFill/>
          <a:ln/>
        </p:spPr>
        <p:txBody>
          <a:bodyPr wrap="square" lIns="0" tIns="0" rIns="0" bIns="0" rtlCol="0" anchor="ctr"/>
          <a:lstStyle/>
          <a:p>
            <a:pPr indent="0" marL="0">
              <a:buNone/>
            </a:pPr>
            <a:r>
              <a:rPr lang="en-US" sz="1600" b="1" spc="300" kern="0" dirty="0">
                <a:solidFill>
                  <a:srgbClr val="00D68F"/>
                </a:solidFill>
                <a:latin typeface="Calibri" pitchFamily="34" charset="0"/>
                <a:ea typeface="Calibri" pitchFamily="34" charset="-122"/>
                <a:cs typeface="Calibri" pitchFamily="34" charset="-120"/>
              </a:rPr>
              <a:t>⚡ BOLSATRADER</a:t>
            </a:r>
            <a:endParaRPr lang="en-US" sz="1600" dirty="0"/>
          </a:p>
        </p:txBody>
      </p:sp>
      <p:sp>
        <p:nvSpPr>
          <p:cNvPr id="8" name="Text 5"/>
          <p:cNvSpPr/>
          <p:nvPr/>
        </p:nvSpPr>
        <p:spPr>
          <a:xfrm>
            <a:off x="548640" y="2514600"/>
            <a:ext cx="7498080" cy="1371600"/>
          </a:xfrm>
          <a:prstGeom prst="rect">
            <a:avLst/>
          </a:prstGeom>
          <a:noFill/>
          <a:ln/>
        </p:spPr>
        <p:txBody>
          <a:bodyPr wrap="square" lIns="0" tIns="0" rIns="0" bIns="0" rtlCol="0" anchor="ctr"/>
          <a:lstStyle/>
          <a:p>
            <a:pPr indent="0" marL="0">
              <a:lnSpc>
                <a:spcPct val="102000"/>
              </a:lnSpc>
              <a:buNone/>
            </a:pPr>
            <a:r>
              <a:rPr lang="en-US" sz="4200" b="1" dirty="0">
                <a:solidFill>
                  <a:srgbClr val="FFFFFF"/>
                </a:solidFill>
                <a:latin typeface="Calibri" pitchFamily="34" charset="0"/>
                <a:ea typeface="Calibri" pitchFamily="34" charset="-122"/>
                <a:cs typeface="Calibri" pitchFamily="34" charset="-120"/>
              </a:rPr>
              <a:t>Manual Operacional do Sistema</a:t>
            </a:r>
            <a:endParaRPr lang="en-US" sz="4200" dirty="0"/>
          </a:p>
        </p:txBody>
      </p:sp>
      <p:sp>
        <p:nvSpPr>
          <p:cNvPr id="9" name="Text 6"/>
          <p:cNvSpPr/>
          <p:nvPr/>
        </p:nvSpPr>
        <p:spPr>
          <a:xfrm>
            <a:off x="548640" y="3611880"/>
            <a:ext cx="6949440" cy="777240"/>
          </a:xfrm>
          <a:prstGeom prst="rect">
            <a:avLst/>
          </a:prstGeom>
          <a:noFill/>
          <a:ln/>
        </p:spPr>
        <p:txBody>
          <a:bodyPr wrap="square" lIns="0" tIns="0" rIns="0" bIns="0" rtlCol="0" anchor="ctr"/>
          <a:lstStyle/>
          <a:p>
            <a:pPr indent="0" marL="0">
              <a:lnSpc>
                <a:spcPct val="125000"/>
              </a:lnSpc>
              <a:buNone/>
            </a:pPr>
            <a:r>
              <a:rPr lang="en-US" sz="1450" dirty="0">
                <a:solidFill>
                  <a:srgbClr val="CADCFC"/>
                </a:solidFill>
                <a:latin typeface="Calibri" pitchFamily="34" charset="0"/>
                <a:ea typeface="Calibri" pitchFamily="34" charset="-122"/>
                <a:cs typeface="Calibri" pitchFamily="34" charset="-120"/>
              </a:rPr>
              <a:t>Guia completo de uso de todas as telas e funcionalidades da plataforma de acompanhamento de carteira na B3</a:t>
            </a:r>
            <a:endParaRPr lang="en-US" sz="1450" dirty="0"/>
          </a:p>
        </p:txBody>
      </p:sp>
      <p:sp>
        <p:nvSpPr>
          <p:cNvPr id="10" name="Text 7"/>
          <p:cNvSpPr/>
          <p:nvPr/>
        </p:nvSpPr>
        <p:spPr>
          <a:xfrm>
            <a:off x="548640" y="4892040"/>
            <a:ext cx="6400800" cy="292608"/>
          </a:xfrm>
          <a:prstGeom prst="rect">
            <a:avLst/>
          </a:prstGeom>
          <a:noFill/>
          <a:ln/>
        </p:spPr>
        <p:txBody>
          <a:bodyPr wrap="square" lIns="0" tIns="0" rIns="0" bIns="0" rtlCol="0" anchor="ctr"/>
          <a:lstStyle/>
          <a:p>
            <a:pPr indent="0" marL="0">
              <a:buNone/>
            </a:pPr>
            <a:r>
              <a:rPr lang="en-US" sz="1150" dirty="0">
                <a:solidFill>
                  <a:srgbClr val="8FA3CE"/>
                </a:solidFill>
                <a:latin typeface="Calibri" pitchFamily="34" charset="0"/>
                <a:ea typeface="Calibri" pitchFamily="34" charset="-122"/>
                <a:cs typeface="Calibri" pitchFamily="34" charset="-120"/>
              </a:rPr>
              <a:t>Versão do documento  ·  10/2026 (revisão 20/10/2026)</a:t>
            </a:r>
            <a:pPr indent="0" marL="0">
              <a:buNone/>
            </a:pPr>
            <a:endParaRPr lang="en-US" sz="1150" dirty="0"/>
          </a:p>
        </p:txBody>
      </p:sp>
      <p:sp>
        <p:nvSpPr>
          <p:cNvPr id="11" name="Shape 8"/>
          <p:cNvSpPr/>
          <p:nvPr/>
        </p:nvSpPr>
        <p:spPr>
          <a:xfrm>
            <a:off x="548640" y="5349240"/>
            <a:ext cx="6035040" cy="566928"/>
          </a:xfrm>
          <a:prstGeom prst="roundRect">
            <a:avLst>
              <a:gd name="adj" fmla="val 12903"/>
            </a:avLst>
          </a:prstGeom>
          <a:solidFill>
            <a:srgbClr val="081226"/>
          </a:solidFill>
          <a:ln w="12700">
            <a:solidFill>
              <a:srgbClr val="2A3A66"/>
            </a:solidFill>
            <a:prstDash val="solid"/>
          </a:ln>
        </p:spPr>
        <p:txBody>
          <a:bodyPr/>
          <a:p/>
        </p:txBody>
      </p:sp>
      <p:sp>
        <p:nvSpPr>
          <p:cNvPr id="12" name="Shape 9"/>
          <p:cNvSpPr/>
          <p:nvPr/>
        </p:nvSpPr>
        <p:spPr>
          <a:xfrm>
            <a:off x="694944" y="5477256"/>
            <a:ext cx="310896" cy="310896"/>
          </a:xfrm>
          <a:prstGeom prst="ellipse">
            <a:avLst/>
          </a:prstGeom>
          <a:solidFill>
            <a:srgbClr val="E1495A"/>
          </a:solidFill>
          <a:ln/>
        </p:spPr>
        <p:txBody>
          <a:bodyPr/>
          <a:p/>
        </p:txBody>
      </p:sp>
      <p:pic>
        <p:nvPicPr>
          <p:cNvPr id="13" name="Image 1" descr="C:\Users\PC ANTONIO\AppData\Roaming\Claude\scratch-workspaces\f0f5d1bc-bf72-4611-a8ea-e50e459a0a45\08c0c592-3fff-44bf-a144-086c85aaeea0\scratch-2026-09-22-98642c\icons\shield.png">    </p:cNvPr>
          <p:cNvPicPr>
            <a:picLocks noChangeAspect="1"/>
          </p:cNvPicPr>
          <p:nvPr/>
        </p:nvPicPr>
        <p:blipFill>
          <a:blip r:embed="rId2"/>
          <a:stretch>
            <a:fillRect/>
          </a:stretch>
        </p:blipFill>
        <p:spPr>
          <a:xfrm>
            <a:off x="757123" y="5539435"/>
            <a:ext cx="186538" cy="186538"/>
          </a:xfrm>
          <a:prstGeom prst="rect">
            <a:avLst/>
          </a:prstGeom>
        </p:spPr>
      </p:pic>
      <p:sp>
        <p:nvSpPr>
          <p:cNvPr id="14" name="Text 10"/>
          <p:cNvSpPr/>
          <p:nvPr/>
        </p:nvSpPr>
        <p:spPr>
          <a:xfrm>
            <a:off x="1133856" y="5349240"/>
            <a:ext cx="5358384" cy="56692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Uso educacional — não constitui recomendação de investimento</a:t>
            </a:r>
            <a:endParaRPr lang="en-US" sz="1050" dirty="0"/>
          </a:p>
        </p:txBody>
      </p:sp>
      <p:sp>
        <p:nvSpPr>
          <p:cNvPr id="15" name="Text 1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16" name="Text 1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3E"/>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00  </a:t>
            </a:r>
            <a:pPr indent="0" marL="0">
              <a:buNone/>
            </a:pPr>
            <a:r>
              <a:rPr lang="en-US" sz="1250" b="1" spc="200" kern="0" dirty="0">
                <a:solidFill>
                  <a:srgbClr val="8FA3CE"/>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O que vamos percorrer</a:t>
            </a:r>
            <a:endParaRPr lang="en-US" sz="3000" dirty="0"/>
          </a:p>
        </p:txBody>
      </p:sp>
      <p:sp>
        <p:nvSpPr>
          <p:cNvPr id="4" name="Text 2"/>
          <p:cNvSpPr/>
          <p:nvPr/>
        </p:nvSpPr>
        <p:spPr>
          <a:xfrm>
            <a:off x="548640" y="167335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01</a:t>
            </a:r>
            <a:endParaRPr lang="en-US" sz="1700" dirty="0"/>
          </a:p>
        </p:txBody>
      </p:sp>
      <p:sp>
        <p:nvSpPr>
          <p:cNvPr id="5" name="Text 3"/>
          <p:cNvSpPr/>
          <p:nvPr/>
        </p:nvSpPr>
        <p:spPr>
          <a:xfrm>
            <a:off x="1097280" y="169164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Visão geral do sistema</a:t>
            </a:r>
            <a:endParaRPr lang="en-US" sz="1350" dirty="0"/>
          </a:p>
        </p:txBody>
      </p:sp>
      <p:sp>
        <p:nvSpPr>
          <p:cNvPr id="6" name="Text 4"/>
          <p:cNvSpPr/>
          <p:nvPr/>
        </p:nvSpPr>
        <p:spPr>
          <a:xfrm>
            <a:off x="548640" y="224028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02</a:t>
            </a:r>
            <a:endParaRPr lang="en-US" sz="1700" dirty="0"/>
          </a:p>
        </p:txBody>
      </p:sp>
      <p:sp>
        <p:nvSpPr>
          <p:cNvPr id="7" name="Text 5"/>
          <p:cNvSpPr/>
          <p:nvPr/>
        </p:nvSpPr>
        <p:spPr>
          <a:xfrm>
            <a:off x="1097280" y="225856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Público-alvo e convenções</a:t>
            </a:r>
            <a:endParaRPr lang="en-US" sz="1350" dirty="0"/>
          </a:p>
        </p:txBody>
      </p:sp>
      <p:sp>
        <p:nvSpPr>
          <p:cNvPr id="8" name="Text 6"/>
          <p:cNvSpPr/>
          <p:nvPr/>
        </p:nvSpPr>
        <p:spPr>
          <a:xfrm>
            <a:off x="548640" y="2807208"/>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03</a:t>
            </a:r>
            <a:endParaRPr lang="en-US" sz="1700" dirty="0"/>
          </a:p>
        </p:txBody>
      </p:sp>
      <p:sp>
        <p:nvSpPr>
          <p:cNvPr id="9" name="Text 7"/>
          <p:cNvSpPr/>
          <p:nvPr/>
        </p:nvSpPr>
        <p:spPr>
          <a:xfrm>
            <a:off x="1097280" y="2825496"/>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Acesso ao sistema e segurança</a:t>
            </a:r>
            <a:endParaRPr lang="en-US" sz="1350" dirty="0"/>
          </a:p>
        </p:txBody>
      </p:sp>
      <p:sp>
        <p:nvSpPr>
          <p:cNvPr id="10" name="Text 8"/>
          <p:cNvSpPr/>
          <p:nvPr/>
        </p:nvSpPr>
        <p:spPr>
          <a:xfrm>
            <a:off x="548640" y="3374136"/>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04</a:t>
            </a:r>
            <a:endParaRPr lang="en-US" sz="1700" dirty="0"/>
          </a:p>
        </p:txBody>
      </p:sp>
      <p:sp>
        <p:nvSpPr>
          <p:cNvPr id="11" name="Text 9"/>
          <p:cNvSpPr/>
          <p:nvPr/>
        </p:nvSpPr>
        <p:spPr>
          <a:xfrm>
            <a:off x="1097280" y="3392424"/>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Navegação, menu e comando de voz</a:t>
            </a:r>
            <a:endParaRPr lang="en-US" sz="1350" dirty="0"/>
          </a:p>
        </p:txBody>
      </p:sp>
      <p:sp>
        <p:nvSpPr>
          <p:cNvPr id="12" name="Text 10"/>
          <p:cNvSpPr/>
          <p:nvPr/>
        </p:nvSpPr>
        <p:spPr>
          <a:xfrm>
            <a:off x="548640" y="3941064"/>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05</a:t>
            </a:r>
            <a:endParaRPr lang="en-US" sz="1700" dirty="0"/>
          </a:p>
        </p:txBody>
      </p:sp>
      <p:sp>
        <p:nvSpPr>
          <p:cNvPr id="13" name="Text 11"/>
          <p:cNvSpPr/>
          <p:nvPr/>
        </p:nvSpPr>
        <p:spPr>
          <a:xfrm>
            <a:off x="1097280" y="3959352"/>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Painel de controle (dashboard)</a:t>
            </a:r>
            <a:endParaRPr lang="en-US" sz="1350" dirty="0"/>
          </a:p>
        </p:txBody>
      </p:sp>
      <p:sp>
        <p:nvSpPr>
          <p:cNvPr id="14" name="Text 12"/>
          <p:cNvSpPr/>
          <p:nvPr/>
        </p:nvSpPr>
        <p:spPr>
          <a:xfrm>
            <a:off x="548640" y="450799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06</a:t>
            </a:r>
            <a:endParaRPr lang="en-US" sz="1700" dirty="0"/>
          </a:p>
        </p:txBody>
      </p:sp>
      <p:sp>
        <p:nvSpPr>
          <p:cNvPr id="15" name="Text 13"/>
          <p:cNvSpPr/>
          <p:nvPr/>
        </p:nvSpPr>
        <p:spPr>
          <a:xfrm>
            <a:off x="1097280" y="452628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Minhas operações (compra/venda)</a:t>
            </a:r>
            <a:endParaRPr lang="en-US" sz="1350" dirty="0"/>
          </a:p>
        </p:txBody>
      </p:sp>
      <p:sp>
        <p:nvSpPr>
          <p:cNvPr id="16" name="Text 14"/>
          <p:cNvSpPr/>
          <p:nvPr/>
        </p:nvSpPr>
        <p:spPr>
          <a:xfrm>
            <a:off x="6370168" y="167335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07</a:t>
            </a:r>
            <a:endParaRPr lang="en-US" sz="1700" dirty="0"/>
          </a:p>
        </p:txBody>
      </p:sp>
      <p:sp>
        <p:nvSpPr>
          <p:cNvPr id="17" name="Text 15"/>
          <p:cNvSpPr/>
          <p:nvPr/>
        </p:nvSpPr>
        <p:spPr>
          <a:xfrm>
            <a:off x="6918808" y="169164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Posições em carteira e risco</a:t>
            </a:r>
            <a:endParaRPr lang="en-US" sz="1350" dirty="0"/>
          </a:p>
        </p:txBody>
      </p:sp>
      <p:sp>
        <p:nvSpPr>
          <p:cNvPr id="18" name="Text 16"/>
          <p:cNvSpPr/>
          <p:nvPr/>
        </p:nvSpPr>
        <p:spPr>
          <a:xfrm>
            <a:off x="6370168" y="224028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08</a:t>
            </a:r>
            <a:endParaRPr lang="en-US" sz="1700" dirty="0"/>
          </a:p>
        </p:txBody>
      </p:sp>
      <p:sp>
        <p:nvSpPr>
          <p:cNvPr id="19" name="Text 17"/>
          <p:cNvSpPr/>
          <p:nvPr/>
        </p:nvSpPr>
        <p:spPr>
          <a:xfrm>
            <a:off x="6918808" y="225856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Robô consultor e backtesting</a:t>
            </a:r>
            <a:endParaRPr lang="en-US" sz="1350" dirty="0"/>
          </a:p>
        </p:txBody>
      </p:sp>
      <p:sp>
        <p:nvSpPr>
          <p:cNvPr id="20" name="Text 18"/>
          <p:cNvSpPr/>
          <p:nvPr/>
        </p:nvSpPr>
        <p:spPr>
          <a:xfrm>
            <a:off x="6370168" y="2807208"/>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09</a:t>
            </a:r>
            <a:endParaRPr lang="en-US" sz="1700" dirty="0"/>
          </a:p>
        </p:txBody>
      </p:sp>
      <p:sp>
        <p:nvSpPr>
          <p:cNvPr id="21" name="Text 19"/>
          <p:cNvSpPr/>
          <p:nvPr/>
        </p:nvSpPr>
        <p:spPr>
          <a:xfrm>
            <a:off x="6918808" y="2825496"/>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Análise de mercado e scanner técnico</a:t>
            </a:r>
            <a:endParaRPr lang="en-US" sz="1350" dirty="0"/>
          </a:p>
        </p:txBody>
      </p:sp>
      <p:sp>
        <p:nvSpPr>
          <p:cNvPr id="22" name="Text 20"/>
          <p:cNvSpPr/>
          <p:nvPr/>
        </p:nvSpPr>
        <p:spPr>
          <a:xfrm>
            <a:off x="6370168" y="3374136"/>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10</a:t>
            </a:r>
            <a:endParaRPr lang="en-US" sz="1700" dirty="0"/>
          </a:p>
        </p:txBody>
      </p:sp>
      <p:sp>
        <p:nvSpPr>
          <p:cNvPr id="23" name="Text 21"/>
          <p:cNvSpPr/>
          <p:nvPr/>
        </p:nvSpPr>
        <p:spPr>
          <a:xfrm>
            <a:off x="6918808" y="3392424"/>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Histórico, cotações, IFR e registros</a:t>
            </a:r>
            <a:endParaRPr lang="en-US" sz="1350" dirty="0"/>
          </a:p>
        </p:txBody>
      </p:sp>
      <p:sp>
        <p:nvSpPr>
          <p:cNvPr id="24" name="Text 22"/>
          <p:cNvSpPr/>
          <p:nvPr/>
        </p:nvSpPr>
        <p:spPr>
          <a:xfrm>
            <a:off x="6370168" y="3941064"/>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11</a:t>
            </a:r>
            <a:endParaRPr lang="en-US" sz="1700" dirty="0"/>
          </a:p>
        </p:txBody>
      </p:sp>
      <p:sp>
        <p:nvSpPr>
          <p:cNvPr id="25" name="Text 23"/>
          <p:cNvSpPr/>
          <p:nvPr/>
        </p:nvSpPr>
        <p:spPr>
          <a:xfrm>
            <a:off x="6918808" y="3959352"/>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Notícias, TradingView, alertas e WhatsApp</a:t>
            </a:r>
            <a:endParaRPr lang="en-US" sz="1350" dirty="0"/>
          </a:p>
        </p:txBody>
      </p:sp>
      <p:sp>
        <p:nvSpPr>
          <p:cNvPr id="26" name="Text 24"/>
          <p:cNvSpPr/>
          <p:nvPr/>
        </p:nvSpPr>
        <p:spPr>
          <a:xfrm>
            <a:off x="6370168" y="450799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12</a:t>
            </a:r>
            <a:endParaRPr lang="en-US" sz="1700" dirty="0"/>
          </a:p>
        </p:txBody>
      </p:sp>
      <p:sp>
        <p:nvSpPr>
          <p:cNvPr id="27" name="Text 25"/>
          <p:cNvSpPr/>
          <p:nvPr/>
        </p:nvSpPr>
        <p:spPr>
          <a:xfrm>
            <a:off x="6918808" y="452628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Conta corrente, cripto, apoio à decisão e configurações</a:t>
            </a:r>
            <a:endParaRPr lang="en-US" sz="1350" dirty="0"/>
          </a:p>
        </p:txBody>
      </p:sp>
      <p:sp>
        <p:nvSpPr>
          <p:cNvPr id="28" name="Text 2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29" name="Text 2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02</a:t>
            </a:r>
            <a:endParaRPr lang="en-US" sz="900" dirty="0"/>
          </a:p>
        </p:txBody>
      </p:sp>
      <p:sp>
        <p:nvSpPr>
          <p:cNvPr id="30" name="Text 24"/>
          <p:cNvSpPr/>
          <p:nvPr/>
        </p:nvSpPr>
        <p:spPr>
          <a:xfrm>
            <a:off x="6370168" y="507492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13</a:t>
            </a:r>
            <a:endParaRPr lang="en-US" sz="1700" dirty="0"/>
          </a:p>
        </p:txBody>
      </p:sp>
      <p:sp>
        <p:nvSpPr>
          <p:cNvPr id="31" name="Text 25"/>
          <p:cNvSpPr/>
          <p:nvPr/>
        </p:nvSpPr>
        <p:spPr>
          <a:xfrm>
            <a:off x="6918808" y="509320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Imposto de Renda: cálculo, DARF e declaração</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01  </a:t>
            </a:r>
            <a:pPr indent="0" marL="0">
              <a:buNone/>
            </a:pPr>
            <a:r>
              <a:rPr lang="en-US" sz="1250" b="1" spc="200" kern="0" dirty="0">
                <a:solidFill>
                  <a:srgbClr val="00D68F"/>
                </a:solidFill>
                <a:latin typeface="Calibri" pitchFamily="34" charset="0"/>
                <a:ea typeface="Calibri" pitchFamily="34" charset="-122"/>
                <a:cs typeface="Calibri" pitchFamily="34" charset="-120"/>
              </a:rPr>
              <a:t>VISÃO GERAL</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O que é o BolsaTrader</a:t>
            </a:r>
            <a:endParaRPr lang="en-US" sz="3000" dirty="0"/>
          </a:p>
        </p:txBody>
      </p:sp>
      <p:sp>
        <p:nvSpPr>
          <p:cNvPr id="4" name="Text 2"/>
          <p:cNvSpPr/>
          <p:nvPr/>
        </p:nvSpPr>
        <p:spPr>
          <a:xfrm>
            <a:off x="548640" y="1417320"/>
            <a:ext cx="11094415" cy="685800"/>
          </a:xfrm>
          <a:prstGeom prst="rect">
            <a:avLst/>
          </a:prstGeom>
          <a:noFill/>
          <a:ln/>
        </p:spPr>
        <p:txBody>
          <a:bodyPr wrap="square" lIns="0" tIns="0" rIns="0" bIns="0" rtlCol="0" anchor="ctr"/>
          <a:lstStyle/>
          <a:p>
            <a:pPr indent="0" marL="0">
              <a:lnSpc>
                <a:spcPct val="125000"/>
              </a:lnSpc>
              <a:buNone/>
            </a:pPr>
            <a:r>
              <a:rPr lang="en-US" sz="1300" dirty="0">
                <a:solidFill>
                  <a:srgbClr val="40496B"/>
                </a:solidFill>
                <a:latin typeface="Calibri" pitchFamily="34" charset="0"/>
                <a:ea typeface="Calibri" pitchFamily="34" charset="-122"/>
                <a:cs typeface="Calibri" pitchFamily="34" charset="-120"/>
              </a:rPr>
              <a:t>Sistema web de acompanhamento de compra e venda de ações da B3. Registra operações, calcula lucro/perda automaticamente, acompanha cotações diárias, compara o desempenho da carteira com o mercado e conta com um robô consultor que analisa indicadores técnicos.</a:t>
            </a:r>
            <a:endParaRPr lang="en-US" sz="1300" dirty="0"/>
          </a:p>
        </p:txBody>
      </p:sp>
      <p:sp>
        <p:nvSpPr>
          <p:cNvPr id="5" name="Shape 3"/>
          <p:cNvSpPr/>
          <p:nvPr/>
        </p:nvSpPr>
        <p:spPr>
          <a:xfrm>
            <a:off x="548640" y="2331720"/>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56946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wallet.png">    </p:cNvPr>
          <p:cNvPicPr>
            <a:picLocks noChangeAspect="1"/>
          </p:cNvPicPr>
          <p:nvPr/>
        </p:nvPicPr>
        <p:blipFill>
          <a:blip r:embed="rId1"/>
          <a:stretch>
            <a:fillRect/>
          </a:stretch>
        </p:blipFill>
        <p:spPr>
          <a:xfrm>
            <a:off x="923544" y="2688336"/>
            <a:ext cx="219456" cy="219456"/>
          </a:xfrm>
          <a:prstGeom prst="rect">
            <a:avLst/>
          </a:prstGeom>
        </p:spPr>
      </p:pic>
      <p:sp>
        <p:nvSpPr>
          <p:cNvPr id="8" name="Text 5"/>
          <p:cNvSpPr/>
          <p:nvPr/>
        </p:nvSpPr>
        <p:spPr>
          <a:xfrm>
            <a:off x="1426464" y="25146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Registro de operações</a:t>
            </a:r>
            <a:endParaRPr lang="en-US" sz="1350" dirty="0"/>
          </a:p>
        </p:txBody>
      </p:sp>
      <p:sp>
        <p:nvSpPr>
          <p:cNvPr id="9" name="Text 6"/>
          <p:cNvSpPr/>
          <p:nvPr/>
        </p:nvSpPr>
        <p:spPr>
          <a:xfrm>
            <a:off x="804672" y="3154680"/>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Compras, vendas e reservas de intenção de compra, com cálculo automático de lucro/perda por lote.</a:t>
            </a:r>
            <a:endParaRPr lang="en-US" sz="1050" dirty="0"/>
          </a:p>
        </p:txBody>
      </p:sp>
      <p:sp>
        <p:nvSpPr>
          <p:cNvPr id="10" name="Shape 7"/>
          <p:cNvSpPr/>
          <p:nvPr/>
        </p:nvSpPr>
        <p:spPr>
          <a:xfrm>
            <a:off x="6278728" y="2331720"/>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6534760" y="256946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trendUp.png">    </p:cNvPr>
          <p:cNvPicPr>
            <a:picLocks noChangeAspect="1"/>
          </p:cNvPicPr>
          <p:nvPr/>
        </p:nvPicPr>
        <p:blipFill>
          <a:blip r:embed="rId2"/>
          <a:stretch>
            <a:fillRect/>
          </a:stretch>
        </p:blipFill>
        <p:spPr>
          <a:xfrm>
            <a:off x="6653632" y="2688336"/>
            <a:ext cx="219456" cy="219456"/>
          </a:xfrm>
          <a:prstGeom prst="rect">
            <a:avLst/>
          </a:prstGeom>
        </p:spPr>
      </p:pic>
      <p:sp>
        <p:nvSpPr>
          <p:cNvPr id="13" name="Text 9"/>
          <p:cNvSpPr/>
          <p:nvPr/>
        </p:nvSpPr>
        <p:spPr>
          <a:xfrm>
            <a:off x="7156552" y="25146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Cotações diárias</a:t>
            </a:r>
            <a:endParaRPr lang="en-US" sz="1350" dirty="0"/>
          </a:p>
        </p:txBody>
      </p:sp>
      <p:sp>
        <p:nvSpPr>
          <p:cNvPr id="14" name="Text 10"/>
          <p:cNvSpPr/>
          <p:nvPr/>
        </p:nvSpPr>
        <p:spPr>
          <a:xfrm>
            <a:off x="6534760" y="3154680"/>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Acompanhamento automático dos preços dos ativos comprados e reservados, com histórico e gráficos.</a:t>
            </a:r>
            <a:endParaRPr lang="en-US" sz="1050" dirty="0"/>
          </a:p>
        </p:txBody>
      </p:sp>
      <p:sp>
        <p:nvSpPr>
          <p:cNvPr id="15" name="Shape 11"/>
          <p:cNvSpPr/>
          <p:nvPr/>
        </p:nvSpPr>
        <p:spPr>
          <a:xfrm>
            <a:off x="548640" y="4178808"/>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04672" y="4416552"/>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pieChart.png">    </p:cNvPr>
          <p:cNvPicPr>
            <a:picLocks noChangeAspect="1"/>
          </p:cNvPicPr>
          <p:nvPr/>
        </p:nvPicPr>
        <p:blipFill>
          <a:blip r:embed="rId3"/>
          <a:stretch>
            <a:fillRect/>
          </a:stretch>
        </p:blipFill>
        <p:spPr>
          <a:xfrm>
            <a:off x="923544" y="4535424"/>
            <a:ext cx="219456" cy="219456"/>
          </a:xfrm>
          <a:prstGeom prst="rect">
            <a:avLst/>
          </a:prstGeom>
        </p:spPr>
      </p:pic>
      <p:sp>
        <p:nvSpPr>
          <p:cNvPr id="18" name="Text 13"/>
          <p:cNvSpPr/>
          <p:nvPr/>
        </p:nvSpPr>
        <p:spPr>
          <a:xfrm>
            <a:off x="1426464" y="4361688"/>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Carteira x mercado</a:t>
            </a:r>
            <a:endParaRPr lang="en-US" sz="1350" dirty="0"/>
          </a:p>
        </p:txBody>
      </p:sp>
      <p:sp>
        <p:nvSpPr>
          <p:cNvPr id="19" name="Text 14"/>
          <p:cNvSpPr/>
          <p:nvPr/>
        </p:nvSpPr>
        <p:spPr>
          <a:xfrm>
            <a:off x="804672" y="5001768"/>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Compara o retorno da carteira com o Ibovespa e o CDI acumulado no mesmo período.</a:t>
            </a:r>
            <a:endParaRPr lang="en-US" sz="1050" dirty="0"/>
          </a:p>
        </p:txBody>
      </p:sp>
      <p:sp>
        <p:nvSpPr>
          <p:cNvPr id="20" name="Shape 15"/>
          <p:cNvSpPr/>
          <p:nvPr/>
        </p:nvSpPr>
        <p:spPr>
          <a:xfrm>
            <a:off x="6278728" y="4178808"/>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1" name="Shape 16"/>
          <p:cNvSpPr/>
          <p:nvPr/>
        </p:nvSpPr>
        <p:spPr>
          <a:xfrm>
            <a:off x="6534760" y="4416552"/>
            <a:ext cx="457200" cy="457200"/>
          </a:xfrm>
          <a:prstGeom prst="ellipse">
            <a:avLst/>
          </a:prstGeom>
          <a:solidFill>
            <a:srgbClr val="00D68F"/>
          </a:solidFill>
          <a:ln/>
        </p:spPr>
        <p:txBody>
          <a:bodyPr/>
          <a:p/>
        </p:txBody>
      </p:sp>
      <p:pic>
        <p:nvPicPr>
          <p:cNvPr id="22" name="Image 3" descr="C:\Users\PC ANTONIO\AppData\Roaming\Claude\scratch-workspaces\f0f5d1bc-bf72-4611-a8ea-e50e459a0a45\08c0c592-3fff-44bf-a144-086c85aaeea0\scratch-2026-09-22-98642c\icons\robot.png">    </p:cNvPr>
          <p:cNvPicPr>
            <a:picLocks noChangeAspect="1"/>
          </p:cNvPicPr>
          <p:nvPr/>
        </p:nvPicPr>
        <p:blipFill>
          <a:blip r:embed="rId4"/>
          <a:stretch>
            <a:fillRect/>
          </a:stretch>
        </p:blipFill>
        <p:spPr>
          <a:xfrm>
            <a:off x="6653632" y="4535424"/>
            <a:ext cx="219456" cy="219456"/>
          </a:xfrm>
          <a:prstGeom prst="rect">
            <a:avLst/>
          </a:prstGeom>
        </p:spPr>
      </p:pic>
      <p:sp>
        <p:nvSpPr>
          <p:cNvPr id="23" name="Text 17"/>
          <p:cNvSpPr/>
          <p:nvPr/>
        </p:nvSpPr>
        <p:spPr>
          <a:xfrm>
            <a:off x="7156552" y="4361688"/>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Robô consultor</a:t>
            </a:r>
            <a:endParaRPr lang="en-US" sz="1350" dirty="0"/>
          </a:p>
        </p:txBody>
      </p:sp>
      <p:sp>
        <p:nvSpPr>
          <p:cNvPr id="24" name="Text 18"/>
          <p:cNvSpPr/>
          <p:nvPr/>
        </p:nvSpPr>
        <p:spPr>
          <a:xfrm>
            <a:off x="6534760" y="5001768"/>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Analisa tendência, RSI e MACD e sugere sinais de compra/venda, com reserva automática.</a:t>
            </a:r>
            <a:endParaRPr lang="en-US" sz="1050" dirty="0"/>
          </a:p>
        </p:txBody>
      </p:sp>
      <p:sp>
        <p:nvSpPr>
          <p:cNvPr id="25" name="Shape 19"/>
          <p:cNvSpPr/>
          <p:nvPr/>
        </p:nvSpPr>
        <p:spPr>
          <a:xfrm>
            <a:off x="548640" y="5870448"/>
            <a:ext cx="11094415" cy="548640"/>
          </a:xfrm>
          <a:prstGeom prst="roundRect">
            <a:avLst>
              <a:gd name="adj" fmla="val 13333"/>
            </a:avLst>
          </a:prstGeom>
          <a:solidFill>
            <a:srgbClr val="FDECEE"/>
          </a:solidFill>
          <a:ln/>
        </p:spPr>
        <p:txBody>
          <a:bodyPr/>
          <a:p/>
        </p:txBody>
      </p:sp>
      <p:sp>
        <p:nvSpPr>
          <p:cNvPr id="26" name="Shape 20"/>
          <p:cNvSpPr/>
          <p:nvPr/>
        </p:nvSpPr>
        <p:spPr>
          <a:xfrm>
            <a:off x="731520" y="5980176"/>
            <a:ext cx="329184" cy="329184"/>
          </a:xfrm>
          <a:prstGeom prst="ellipse">
            <a:avLst/>
          </a:prstGeom>
          <a:solidFill>
            <a:srgbClr val="E1495A"/>
          </a:solidFill>
          <a:ln/>
        </p:spPr>
        <p:txBody>
          <a:bodyPr/>
          <a:p/>
        </p:txBody>
      </p:sp>
      <p:pic>
        <p:nvPicPr>
          <p:cNvPr id="27" name="Image 4" descr="C:\Users\PC ANTONIO\AppData\Roaming\Claude\scratch-workspaces\f0f5d1bc-bf72-4611-a8ea-e50e459a0a45\08c0c592-3fff-44bf-a144-086c85aaeea0\scratch-2026-09-22-98642c\icons\alert.png">    </p:cNvPr>
          <p:cNvPicPr>
            <a:picLocks noChangeAspect="1"/>
          </p:cNvPicPr>
          <p:nvPr/>
        </p:nvPicPr>
        <p:blipFill>
          <a:blip r:embed="rId5"/>
          <a:stretch>
            <a:fillRect/>
          </a:stretch>
        </p:blipFill>
        <p:spPr>
          <a:xfrm>
            <a:off x="803940" y="6052596"/>
            <a:ext cx="184343" cy="184343"/>
          </a:xfrm>
          <a:prstGeom prst="rect">
            <a:avLst/>
          </a:prstGeom>
        </p:spPr>
      </p:pic>
      <p:sp>
        <p:nvSpPr>
          <p:cNvPr id="28" name="Text 21"/>
          <p:cNvSpPr/>
          <p:nvPr/>
        </p:nvSpPr>
        <p:spPr>
          <a:xfrm>
            <a:off x="1225296" y="5961888"/>
            <a:ext cx="10234879" cy="36576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Nenhuma informação, sinal ou indicador do sistema constitui recomendação de investimento. Decisões de compra e venda são de inteira responsabilidade do usuário.</a:t>
            </a:r>
            <a:endParaRPr lang="en-US" sz="1050" dirty="0"/>
          </a:p>
        </p:txBody>
      </p:sp>
      <p:sp>
        <p:nvSpPr>
          <p:cNvPr id="29"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0"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01.1  </a:t>
            </a:r>
            <a:pPr indent="0" marL="0">
              <a:buNone/>
            </a:pPr>
            <a:r>
              <a:rPr lang="en-US" sz="1250" b="1" spc="200" kern="0" dirty="0">
                <a:solidFill>
                  <a:srgbClr val="00D68F"/>
                </a:solidFill>
                <a:latin typeface="Calibri" pitchFamily="34" charset="0"/>
                <a:ea typeface="Calibri" pitchFamily="34" charset="-122"/>
                <a:cs typeface="Calibri" pitchFamily="34" charset="-120"/>
              </a:rPr>
              <a:t>ESCOPO DO MANUAL</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Público-alvo e convenções do documento</a:t>
            </a:r>
            <a:endParaRPr lang="en-US" sz="3000" dirty="0"/>
          </a:p>
        </p:txBody>
      </p:sp>
      <p:sp>
        <p:nvSpPr>
          <p:cNvPr id="4" name="Shape 2"/>
          <p:cNvSpPr/>
          <p:nvPr/>
        </p:nvSpPr>
        <p:spPr>
          <a:xfrm>
            <a:off x="548640" y="1600200"/>
            <a:ext cx="5364328" cy="2011680"/>
          </a:xfrm>
          <a:prstGeom prst="roundRect">
            <a:avLst>
              <a:gd name="adj" fmla="val 4091"/>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83794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users.png">    </p:cNvPr>
          <p:cNvPicPr>
            <a:picLocks noChangeAspect="1"/>
          </p:cNvPicPr>
          <p:nvPr/>
        </p:nvPicPr>
        <p:blipFill>
          <a:blip r:embed="rId1"/>
          <a:stretch>
            <a:fillRect/>
          </a:stretch>
        </p:blipFill>
        <p:spPr>
          <a:xfrm>
            <a:off x="923544" y="1956816"/>
            <a:ext cx="219456" cy="219456"/>
          </a:xfrm>
          <a:prstGeom prst="rect">
            <a:avLst/>
          </a:prstGeom>
        </p:spPr>
      </p:pic>
      <p:sp>
        <p:nvSpPr>
          <p:cNvPr id="7" name="Text 4"/>
          <p:cNvSpPr/>
          <p:nvPr/>
        </p:nvSpPr>
        <p:spPr>
          <a:xfrm>
            <a:off x="1426464" y="178308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Para quem é este manual</a:t>
            </a:r>
            <a:endParaRPr lang="en-US" sz="1450" dirty="0"/>
          </a:p>
        </p:txBody>
      </p:sp>
      <p:sp>
        <p:nvSpPr>
          <p:cNvPr id="8" name="Text 5"/>
          <p:cNvSpPr/>
          <p:nvPr/>
        </p:nvSpPr>
        <p:spPr>
          <a:xfrm>
            <a:off x="804672" y="2423160"/>
            <a:ext cx="4852264" cy="102412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Investidores pessoa física que usam o BolsaTrader para organizar a própria carteira de ações. Não é necessário conhecimento técnico de programação para acompanhar o conteúdo.</a:t>
            </a:r>
            <a:endParaRPr lang="en-US" sz="1150" dirty="0"/>
          </a:p>
        </p:txBody>
      </p:sp>
      <p:sp>
        <p:nvSpPr>
          <p:cNvPr id="9" name="Shape 6"/>
          <p:cNvSpPr/>
          <p:nvPr/>
        </p:nvSpPr>
        <p:spPr>
          <a:xfrm>
            <a:off x="6278728" y="1600200"/>
            <a:ext cx="5364328" cy="2011680"/>
          </a:xfrm>
          <a:prstGeom prst="roundRect">
            <a:avLst>
              <a:gd name="adj" fmla="val 4091"/>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83794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fileText.png">    </p:cNvPr>
          <p:cNvPicPr>
            <a:picLocks noChangeAspect="1"/>
          </p:cNvPicPr>
          <p:nvPr/>
        </p:nvPicPr>
        <p:blipFill>
          <a:blip r:embed="rId2"/>
          <a:stretch>
            <a:fillRect/>
          </a:stretch>
        </p:blipFill>
        <p:spPr>
          <a:xfrm>
            <a:off x="6653632" y="1956816"/>
            <a:ext cx="219456" cy="219456"/>
          </a:xfrm>
          <a:prstGeom prst="rect">
            <a:avLst/>
          </a:prstGeom>
        </p:spPr>
      </p:pic>
      <p:sp>
        <p:nvSpPr>
          <p:cNvPr id="12" name="Text 8"/>
          <p:cNvSpPr/>
          <p:nvPr/>
        </p:nvSpPr>
        <p:spPr>
          <a:xfrm>
            <a:off x="7156552" y="178308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Escopo operacional</a:t>
            </a:r>
            <a:endParaRPr lang="en-US" sz="1450" dirty="0"/>
          </a:p>
        </p:txBody>
      </p:sp>
      <p:sp>
        <p:nvSpPr>
          <p:cNvPr id="13" name="Text 9"/>
          <p:cNvSpPr/>
          <p:nvPr/>
        </p:nvSpPr>
        <p:spPr>
          <a:xfrm>
            <a:off x="6534760" y="2423160"/>
            <a:ext cx="4852264" cy="102412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Este manual descreve exclusivamente o uso das telas e funcionalidades no dia a dia. Instalação, configuração de servidor e implantação ficam no manual técnico, à parte.</a:t>
            </a:r>
            <a:endParaRPr lang="en-US" sz="1150" dirty="0"/>
          </a:p>
        </p:txBody>
      </p:sp>
      <p:sp>
        <p:nvSpPr>
          <p:cNvPr id="14" name="Text 10"/>
          <p:cNvSpPr/>
          <p:nvPr/>
        </p:nvSpPr>
        <p:spPr>
          <a:xfrm>
            <a:off x="548640" y="3886200"/>
            <a:ext cx="7315200" cy="365760"/>
          </a:xfrm>
          <a:prstGeom prst="rect">
            <a:avLst/>
          </a:prstGeom>
          <a:noFill/>
          <a:ln/>
        </p:spPr>
        <p:txBody>
          <a:bodyPr wrap="square" lIns="0" tIns="0" rIns="0" bIns="0" rtlCol="0" anchor="ctr"/>
          <a:lstStyle/>
          <a:p>
            <a:pPr indent="0" marL="0">
              <a:buNone/>
            </a:pPr>
            <a:r>
              <a:rPr lang="en-US" sz="1600" b="1" dirty="0">
                <a:solidFill>
                  <a:srgbClr val="0D1B3E"/>
                </a:solidFill>
                <a:latin typeface="Calibri" pitchFamily="34" charset="0"/>
                <a:ea typeface="Calibri" pitchFamily="34" charset="-122"/>
                <a:cs typeface="Calibri" pitchFamily="34" charset="-120"/>
              </a:rPr>
              <a:t>Convenções usadas neste documento</a:t>
            </a:r>
            <a:endParaRPr lang="en-US" sz="1600" dirty="0"/>
          </a:p>
        </p:txBody>
      </p:sp>
      <p:sp>
        <p:nvSpPr>
          <p:cNvPr id="15" name="Shape 11"/>
          <p:cNvSpPr/>
          <p:nvPr/>
        </p:nvSpPr>
        <p:spPr>
          <a:xfrm>
            <a:off x="548640" y="4434840"/>
            <a:ext cx="384048" cy="384048"/>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book.png">    </p:cNvPr>
          <p:cNvPicPr>
            <a:picLocks noChangeAspect="1"/>
          </p:cNvPicPr>
          <p:nvPr/>
        </p:nvPicPr>
        <p:blipFill>
          <a:blip r:embed="rId3"/>
          <a:stretch>
            <a:fillRect/>
          </a:stretch>
        </p:blipFill>
        <p:spPr>
          <a:xfrm>
            <a:off x="640812" y="4527012"/>
            <a:ext cx="199705" cy="199705"/>
          </a:xfrm>
          <a:prstGeom prst="rect">
            <a:avLst/>
          </a:prstGeom>
        </p:spPr>
      </p:pic>
      <p:sp>
        <p:nvSpPr>
          <p:cNvPr id="17" name="Text 12"/>
          <p:cNvSpPr/>
          <p:nvPr/>
        </p:nvSpPr>
        <p:spPr>
          <a:xfrm>
            <a:off x="1078992"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Negrito</a:t>
            </a:r>
            <a:endParaRPr lang="en-US" sz="1250" dirty="0"/>
          </a:p>
        </p:txBody>
      </p:sp>
      <p:sp>
        <p:nvSpPr>
          <p:cNvPr id="18" name="Text 13"/>
          <p:cNvSpPr/>
          <p:nvPr/>
        </p:nvSpPr>
        <p:spPr>
          <a:xfrm>
            <a:off x="1078992"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Indica o nome exato de um botão, campo ou aba clicável na tela.</a:t>
            </a:r>
            <a:endParaRPr lang="en-US" sz="1000" dirty="0"/>
          </a:p>
        </p:txBody>
      </p:sp>
      <p:sp>
        <p:nvSpPr>
          <p:cNvPr id="19" name="Shape 14"/>
          <p:cNvSpPr/>
          <p:nvPr/>
        </p:nvSpPr>
        <p:spPr>
          <a:xfrm>
            <a:off x="4368698" y="4434840"/>
            <a:ext cx="384048" cy="384048"/>
          </a:xfrm>
          <a:prstGeom prst="ellipse">
            <a:avLst/>
          </a:prstGeom>
          <a:solidFill>
            <a:srgbClr val="0D1B3E"/>
          </a:solidFill>
          <a:ln/>
        </p:spPr>
        <p:txBody>
          <a:bodyPr/>
          <a:p/>
        </p:txBody>
      </p:sp>
      <p:pic>
        <p:nvPicPr>
          <p:cNvPr id="20" name="Image 3" descr="C:\Users\PC ANTONIO\AppData\Roaming\Claude\scratch-workspaces\f0f5d1bc-bf72-4611-a8ea-e50e459a0a45\08c0c592-3fff-44bf-a144-086c85aaeea0\scratch-2026-09-22-98642c\icons\alert.png">    </p:cNvPr>
          <p:cNvPicPr>
            <a:picLocks noChangeAspect="1"/>
          </p:cNvPicPr>
          <p:nvPr/>
        </p:nvPicPr>
        <p:blipFill>
          <a:blip r:embed="rId4"/>
          <a:stretch>
            <a:fillRect/>
          </a:stretch>
        </p:blipFill>
        <p:spPr>
          <a:xfrm>
            <a:off x="4460870" y="4527012"/>
            <a:ext cx="199705" cy="199705"/>
          </a:xfrm>
          <a:prstGeom prst="rect">
            <a:avLst/>
          </a:prstGeom>
        </p:spPr>
      </p:pic>
      <p:sp>
        <p:nvSpPr>
          <p:cNvPr id="21" name="Text 15"/>
          <p:cNvSpPr/>
          <p:nvPr/>
        </p:nvSpPr>
        <p:spPr>
          <a:xfrm>
            <a:off x="4899050"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Caixas sombreadas</a:t>
            </a:r>
            <a:endParaRPr lang="en-US" sz="1250" dirty="0"/>
          </a:p>
        </p:txBody>
      </p:sp>
      <p:sp>
        <p:nvSpPr>
          <p:cNvPr id="22" name="Text 16"/>
          <p:cNvSpPr/>
          <p:nvPr/>
        </p:nvSpPr>
        <p:spPr>
          <a:xfrm>
            <a:off x="4899050"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Trazem avisos, observações importantes ou alertas de atenção.</a:t>
            </a:r>
            <a:endParaRPr lang="en-US" sz="1000" dirty="0"/>
          </a:p>
        </p:txBody>
      </p:sp>
      <p:sp>
        <p:nvSpPr>
          <p:cNvPr id="23" name="Shape 17"/>
          <p:cNvSpPr/>
          <p:nvPr/>
        </p:nvSpPr>
        <p:spPr>
          <a:xfrm>
            <a:off x="8188757" y="4434840"/>
            <a:ext cx="384048" cy="384048"/>
          </a:xfrm>
          <a:prstGeom prst="ellipse">
            <a:avLst/>
          </a:prstGeom>
          <a:solidFill>
            <a:srgbClr val="0D1B3E"/>
          </a:solidFill>
          <a:ln/>
        </p:spPr>
        <p:txBody>
          <a:bodyPr/>
          <a:p/>
        </p:txBody>
      </p:sp>
      <p:pic>
        <p:nvPicPr>
          <p:cNvPr id="24" name="Image 4" descr="C:\Users\PC ANTONIO\AppData\Roaming\Claude\scratch-workspaces\f0f5d1bc-bf72-4611-a8ea-e50e459a0a45\08c0c592-3fff-44bf-a144-086c85aaeea0\scratch-2026-09-22-98642c\icons\fileText.png">    </p:cNvPr>
          <p:cNvPicPr>
            <a:picLocks noChangeAspect="1"/>
          </p:cNvPicPr>
          <p:nvPr/>
        </p:nvPicPr>
        <p:blipFill>
          <a:blip r:embed="rId5"/>
          <a:stretch>
            <a:fillRect/>
          </a:stretch>
        </p:blipFill>
        <p:spPr>
          <a:xfrm>
            <a:off x="8280928" y="4527012"/>
            <a:ext cx="199705" cy="199705"/>
          </a:xfrm>
          <a:prstGeom prst="rect">
            <a:avLst/>
          </a:prstGeom>
        </p:spPr>
      </p:pic>
      <p:sp>
        <p:nvSpPr>
          <p:cNvPr id="25" name="Text 18"/>
          <p:cNvSpPr/>
          <p:nvPr/>
        </p:nvSpPr>
        <p:spPr>
          <a:xfrm>
            <a:off x="8719109"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Aspas</a:t>
            </a:r>
            <a:endParaRPr lang="en-US" sz="1250" dirty="0"/>
          </a:p>
        </p:txBody>
      </p:sp>
      <p:sp>
        <p:nvSpPr>
          <p:cNvPr id="26" name="Text 19"/>
          <p:cNvSpPr/>
          <p:nvPr/>
        </p:nvSpPr>
        <p:spPr>
          <a:xfrm>
            <a:off x="8719109"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Reproduzem o texto exato que aparece na tela do sistema.</a:t>
            </a:r>
            <a:endParaRPr lang="en-US" sz="1000" dirty="0"/>
          </a:p>
        </p:txBody>
      </p:sp>
      <p:sp>
        <p:nvSpPr>
          <p:cNvPr id="27"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1"/>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02  </a:t>
            </a:r>
            <a:pPr indent="0" marL="0">
              <a:buNone/>
            </a:pPr>
            <a:r>
              <a:rPr lang="en-US" sz="1250" b="1" spc="200" kern="0" dirty="0">
                <a:solidFill>
                  <a:srgbClr val="00D68F"/>
                </a:solidFill>
                <a:latin typeface="Calibri" pitchFamily="34" charset="0"/>
                <a:ea typeface="Calibri" pitchFamily="34" charset="-122"/>
                <a:cs typeface="Calibri" pitchFamily="34" charset="-120"/>
              </a:rPr>
              <a:t>PRIMEIROS PASSOS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Acesso ao sistema</a:t>
            </a:r>
            <a:endParaRPr lang="en-US" sz="3000" dirty="0"/>
          </a:p>
        </p:txBody>
      </p:sp>
      <p:sp>
        <p:nvSpPr>
          <p:cNvPr id="4" name="Shape 2"/>
          <p:cNvSpPr/>
          <p:nvPr/>
        </p:nvSpPr>
        <p:spPr>
          <a:xfrm>
            <a:off x="548640" y="1600200"/>
            <a:ext cx="384048" cy="384048"/>
          </a:xfrm>
          <a:prstGeom prst="ellipse">
            <a:avLst/>
          </a:prstGeom>
          <a:solidFill>
            <a:srgbClr val="0D1B3E"/>
          </a:solidFill>
          <a:ln/>
        </p:spPr>
        <p:txBody>
          <a:bodyPr/>
          <a:p/>
        </p:txBody>
      </p:sp>
      <p:pic>
        <p:nvPicPr>
          <p:cNvPr id="5" name="Image 0" descr="C:\Users\PC ANTONIO\AppData\Roaming\Claude\scratch-workspaces\f0f5d1bc-bf72-4611-a8ea-e50e459a0a45\08c0c592-3fff-44bf-a144-086c85aaeea0\scratch-2026-09-22-98642c\icons\logIn.png">    </p:cNvPr>
          <p:cNvPicPr>
            <a:picLocks noChangeAspect="1"/>
          </p:cNvPicPr>
          <p:nvPr/>
        </p:nvPicPr>
        <p:blipFill>
          <a:blip r:embed="rId1"/>
          <a:stretch>
            <a:fillRect/>
          </a:stretch>
        </p:blipFill>
        <p:spPr>
          <a:xfrm>
            <a:off x="640812" y="1692372"/>
            <a:ext cx="199705" cy="199705"/>
          </a:xfrm>
          <a:prstGeom prst="rect">
            <a:avLst/>
          </a:prstGeom>
        </p:spPr>
      </p:pic>
      <p:sp>
        <p:nvSpPr>
          <p:cNvPr id="6" name="Text 3"/>
          <p:cNvSpPr/>
          <p:nvPr/>
        </p:nvSpPr>
        <p:spPr>
          <a:xfrm>
            <a:off x="1078992"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Criar uma conta</a:t>
            </a:r>
            <a:endParaRPr lang="en-US" sz="1250" dirty="0"/>
          </a:p>
        </p:txBody>
      </p:sp>
      <p:sp>
        <p:nvSpPr>
          <p:cNvPr id="7" name="Text 4"/>
          <p:cNvSpPr/>
          <p:nvPr/>
        </p:nvSpPr>
        <p:spPr>
          <a:xfrm>
            <a:off x="1078992" y="181965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Feito por um administrador, pelo item "Cadastrar Usuário" (cadastro aberto ao público só se ele liberar). Cada usuário só enxerga as próprias operações, posições, alertas e reservas.</a:t>
            </a:r>
            <a:endParaRPr lang="en-US" sz="1000" dirty="0"/>
          </a:p>
        </p:txBody>
      </p:sp>
      <p:sp>
        <p:nvSpPr>
          <p:cNvPr id="8" name="Shape 5"/>
          <p:cNvSpPr/>
          <p:nvPr/>
        </p:nvSpPr>
        <p:spPr>
          <a:xfrm>
            <a:off x="6278728" y="1600200"/>
            <a:ext cx="384048" cy="384048"/>
          </a:xfrm>
          <a:prstGeom prst="ellipse">
            <a:avLst/>
          </a:prstGeom>
          <a:solidFill>
            <a:srgbClr val="0D1B3E"/>
          </a:solidFill>
          <a:ln/>
        </p:spPr>
        <p:txBody>
          <a:bodyPr/>
          <a:p/>
        </p:txBody>
      </p:sp>
      <p:pic>
        <p:nvPicPr>
          <p:cNvPr id="9" name="Image 1" descr="C:\Users\PC ANTONIO\AppData\Roaming\Claude\scratch-workspaces\f0f5d1bc-bf72-4611-a8ea-e50e459a0a45\08c0c592-3fff-44bf-a144-086c85aaeea0\scratch-2026-09-22-98642c\icons\user.png">    </p:cNvPr>
          <p:cNvPicPr>
            <a:picLocks noChangeAspect="1"/>
          </p:cNvPicPr>
          <p:nvPr/>
        </p:nvPicPr>
        <p:blipFill>
          <a:blip r:embed="rId2"/>
          <a:stretch>
            <a:fillRect/>
          </a:stretch>
        </p:blipFill>
        <p:spPr>
          <a:xfrm>
            <a:off x="6370899" y="1692372"/>
            <a:ext cx="199705" cy="199705"/>
          </a:xfrm>
          <a:prstGeom prst="rect">
            <a:avLst/>
          </a:prstGeom>
        </p:spPr>
      </p:pic>
      <p:sp>
        <p:nvSpPr>
          <p:cNvPr id="10" name="Text 6"/>
          <p:cNvSpPr/>
          <p:nvPr/>
        </p:nvSpPr>
        <p:spPr>
          <a:xfrm>
            <a:off x="6809080"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Entrar (login)</a:t>
            </a:r>
            <a:endParaRPr lang="en-US" sz="1250" dirty="0"/>
          </a:p>
        </p:txBody>
      </p:sp>
      <p:sp>
        <p:nvSpPr>
          <p:cNvPr id="11" name="Text 7"/>
          <p:cNvSpPr/>
          <p:nvPr/>
        </p:nvSpPr>
        <p:spPr>
          <a:xfrm>
            <a:off x="6809080" y="181965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Informe usuário e senha; o sistema abre no Painel. Esqueceu? Link "Esqueci minha senha". 5 senhas erradas seguidas bloqueiam o login por 15 minutos.</a:t>
            </a:r>
            <a:endParaRPr lang="en-US" sz="1000" dirty="0"/>
          </a:p>
        </p:txBody>
      </p:sp>
      <p:sp>
        <p:nvSpPr>
          <p:cNvPr id="12" name="Shape 8"/>
          <p:cNvSpPr/>
          <p:nvPr/>
        </p:nvSpPr>
        <p:spPr>
          <a:xfrm>
            <a:off x="548640" y="2651760"/>
            <a:ext cx="384048" cy="384048"/>
          </a:xfrm>
          <a:prstGeom prst="ellipse">
            <a:avLst/>
          </a:prstGeom>
          <a:solidFill>
            <a:srgbClr val="0D1B3E"/>
          </a:solidFill>
          <a:ln/>
        </p:spPr>
        <p:txBody>
          <a:bodyPr/>
          <a:p/>
        </p:txBody>
      </p:sp>
      <p:pic>
        <p:nvPicPr>
          <p:cNvPr id="13" name="Image 2" descr="C:\Users\PC ANTONIO\AppData\Roaming\Claude\scratch-workspaces\f0f5d1bc-bf72-4611-a8ea-e50e459a0a45\08c0c592-3fff-44bf-a144-086c85aaeea0\scratch-2026-09-22-98642c\icons\gear.png">    </p:cNvPr>
          <p:cNvPicPr>
            <a:picLocks noChangeAspect="1"/>
          </p:cNvPicPr>
          <p:nvPr/>
        </p:nvPicPr>
        <p:blipFill>
          <a:blip r:embed="rId3"/>
          <a:stretch>
            <a:fillRect/>
          </a:stretch>
        </p:blipFill>
        <p:spPr>
          <a:xfrm>
            <a:off x="640812" y="2743932"/>
            <a:ext cx="199705" cy="199705"/>
          </a:xfrm>
          <a:prstGeom prst="rect">
            <a:avLst/>
          </a:prstGeom>
        </p:spPr>
      </p:pic>
      <p:sp>
        <p:nvSpPr>
          <p:cNvPr id="14" name="Text 9"/>
          <p:cNvSpPr/>
          <p:nvPr/>
        </p:nvSpPr>
        <p:spPr>
          <a:xfrm>
            <a:off x="1078992" y="261518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Minha Conta</a:t>
            </a:r>
            <a:endParaRPr lang="en-US" sz="1250" dirty="0"/>
          </a:p>
        </p:txBody>
      </p:sp>
      <p:sp>
        <p:nvSpPr>
          <p:cNvPr id="15" name="Text 10"/>
          <p:cNvSpPr/>
          <p:nvPr/>
        </p:nvSpPr>
        <p:spPr>
          <a:xfrm>
            <a:off x="1078992" y="287121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WhatsApp, bot do Telegram e dados da corretora (gravados criptografados), mais o botão 🔑 Alterar senha.</a:t>
            </a:r>
            <a:endParaRPr lang="en-US" sz="1000" dirty="0"/>
          </a:p>
        </p:txBody>
      </p:sp>
      <p:sp>
        <p:nvSpPr>
          <p:cNvPr id="16" name="Shape 11"/>
          <p:cNvSpPr/>
          <p:nvPr/>
        </p:nvSpPr>
        <p:spPr>
          <a:xfrm>
            <a:off x="6278728" y="2651760"/>
            <a:ext cx="384048" cy="384048"/>
          </a:xfrm>
          <a:prstGeom prst="ellipse">
            <a:avLst/>
          </a:prstGeom>
          <a:solidFill>
            <a:srgbClr val="0D1B3E"/>
          </a:solidFill>
          <a:ln/>
        </p:spPr>
        <p:txBody>
          <a:bodyPr/>
          <a:p/>
        </p:txBody>
      </p:sp>
      <p:pic>
        <p:nvPicPr>
          <p:cNvPr id="17" name="Image 3" descr="C:\Users\PC ANTONIO\AppData\Roaming\Claude\scratch-workspaces\f0f5d1bc-bf72-4611-a8ea-e50e459a0a45\08c0c592-3fff-44bf-a144-086c85aaeea0\scratch-2026-09-22-98642c\icons\lock.png">    </p:cNvPr>
          <p:cNvPicPr>
            <a:picLocks noChangeAspect="1"/>
          </p:cNvPicPr>
          <p:nvPr/>
        </p:nvPicPr>
        <p:blipFill>
          <a:blip r:embed="rId4"/>
          <a:stretch>
            <a:fillRect/>
          </a:stretch>
        </p:blipFill>
        <p:spPr>
          <a:xfrm>
            <a:off x="6370899" y="2743932"/>
            <a:ext cx="199705" cy="199705"/>
          </a:xfrm>
          <a:prstGeom prst="rect">
            <a:avLst/>
          </a:prstGeom>
        </p:spPr>
      </p:pic>
      <p:sp>
        <p:nvSpPr>
          <p:cNvPr id="18" name="Text 12"/>
          <p:cNvSpPr/>
          <p:nvPr/>
        </p:nvSpPr>
        <p:spPr>
          <a:xfrm>
            <a:off x="6809080" y="261518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Sair</a:t>
            </a:r>
            <a:endParaRPr lang="en-US" sz="1250" dirty="0"/>
          </a:p>
        </p:txBody>
      </p:sp>
      <p:sp>
        <p:nvSpPr>
          <p:cNvPr id="19" name="Text 13"/>
          <p:cNvSpPr/>
          <p:nvPr/>
        </p:nvSpPr>
        <p:spPr>
          <a:xfrm>
            <a:off x="6809080" y="287121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Botão no canto superior direito da barra de navegação, encerra a sessão a qualquer momento.</a:t>
            </a:r>
            <a:endParaRPr lang="en-US" sz="1000" dirty="0"/>
          </a:p>
        </p:txBody>
      </p:sp>
      <p:sp>
        <p:nvSpPr>
          <p:cNvPr id="20" name="Shape 14"/>
          <p:cNvSpPr/>
          <p:nvPr/>
        </p:nvSpPr>
        <p:spPr>
          <a:xfrm>
            <a:off x="548640" y="3977640"/>
            <a:ext cx="11094415"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1" name="Shape 15"/>
          <p:cNvSpPr/>
          <p:nvPr/>
        </p:nvSpPr>
        <p:spPr>
          <a:xfrm>
            <a:off x="804672" y="4215384"/>
            <a:ext cx="457200" cy="457200"/>
          </a:xfrm>
          <a:prstGeom prst="ellipse">
            <a:avLst/>
          </a:prstGeom>
          <a:solidFill>
            <a:srgbClr val="00D68F"/>
          </a:solidFill>
          <a:ln/>
        </p:spPr>
        <p:txBody>
          <a:bodyPr/>
          <a:p/>
        </p:txBody>
      </p:sp>
      <p:pic>
        <p:nvPicPr>
          <p:cNvPr id="22" name="Image 4" descr="C:\Users\PC ANTONIO\AppData\Roaming\Claude\scratch-workspaces\f0f5d1bc-bf72-4611-a8ea-e50e459a0a45\08c0c592-3fff-44bf-a144-086c85aaeea0\scratch-2026-09-22-98642c\icons\smartphone.png">    </p:cNvPr>
          <p:cNvPicPr>
            <a:picLocks noChangeAspect="1"/>
          </p:cNvPicPr>
          <p:nvPr/>
        </p:nvPicPr>
        <p:blipFill>
          <a:blip r:embed="rId5"/>
          <a:stretch>
            <a:fillRect/>
          </a:stretch>
        </p:blipFill>
        <p:spPr>
          <a:xfrm>
            <a:off x="923544" y="4334256"/>
            <a:ext cx="219456" cy="219456"/>
          </a:xfrm>
          <a:prstGeom prst="rect">
            <a:avLst/>
          </a:prstGeom>
        </p:spPr>
      </p:pic>
      <p:sp>
        <p:nvSpPr>
          <p:cNvPr id="23" name="Text 16"/>
          <p:cNvSpPr/>
          <p:nvPr/>
        </p:nvSpPr>
        <p:spPr>
          <a:xfrm>
            <a:off x="1426464" y="41605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Instalar como aplicativo (PWA)</a:t>
            </a:r>
            <a:endParaRPr lang="en-US" sz="1500" dirty="0"/>
          </a:p>
        </p:txBody>
      </p:sp>
      <p:sp>
        <p:nvSpPr>
          <p:cNvPr id="24" name="Text 17"/>
          <p:cNvSpPr/>
          <p:nvPr/>
        </p:nvSpPr>
        <p:spPr>
          <a:xfrm>
            <a:off x="804672" y="4800600"/>
            <a:ext cx="10582351" cy="42976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O BolsaTrader pode ser instalado como um app no computador ou celular, sem loja de aplicativos. Quando o navegador permite, aparece o botão "⬇ Instalar app" — clique e confirme para abrir o sistema como um app independente, com ícone próprio.</a:t>
            </a:r>
            <a:endParaRPr lang="en-US" sz="1150" dirty="0"/>
          </a:p>
        </p:txBody>
      </p:sp>
      <p:sp>
        <p:nvSpPr>
          <p:cNvPr id="25" name="Shape 18"/>
          <p:cNvSpPr/>
          <p:nvPr/>
        </p:nvSpPr>
        <p:spPr>
          <a:xfrm>
            <a:off x="548640" y="5623560"/>
            <a:ext cx="11094415" cy="685800"/>
          </a:xfrm>
          <a:prstGeom prst="roundRect">
            <a:avLst>
              <a:gd name="adj" fmla="val 10667"/>
            </a:avLst>
          </a:prstGeom>
          <a:solidFill>
            <a:srgbClr val="EAF0FB"/>
          </a:solidFill>
          <a:ln/>
        </p:spPr>
        <p:txBody>
          <a:bodyPr/>
          <a:p/>
        </p:txBody>
      </p:sp>
      <p:sp>
        <p:nvSpPr>
          <p:cNvPr id="26" name="Shape 19"/>
          <p:cNvSpPr/>
          <p:nvPr/>
        </p:nvSpPr>
        <p:spPr>
          <a:xfrm>
            <a:off x="731520" y="5801868"/>
            <a:ext cx="329184" cy="329184"/>
          </a:xfrm>
          <a:prstGeom prst="ellipse">
            <a:avLst/>
          </a:prstGeom>
          <a:solidFill>
            <a:srgbClr val="0D1B3E"/>
          </a:solidFill>
          <a:ln/>
        </p:spPr>
        <p:txBody>
          <a:bodyPr/>
          <a:p/>
        </p:txBody>
      </p:sp>
      <p:pic>
        <p:nvPicPr>
          <p:cNvPr id="27" name="Image 5" descr="C:\Users\PC ANTONIO\AppData\Roaming\Claude\scratch-workspaces\f0f5d1bc-bf72-4611-a8ea-e50e459a0a45\08c0c592-3fff-44bf-a144-086c85aaeea0\scratch-2026-09-22-98642c\icons\info.png">    </p:cNvPr>
          <p:cNvPicPr>
            <a:picLocks noChangeAspect="1"/>
          </p:cNvPicPr>
          <p:nvPr/>
        </p:nvPicPr>
        <p:blipFill>
          <a:blip r:embed="rId6"/>
          <a:stretch>
            <a:fillRect/>
          </a:stretch>
        </p:blipFill>
        <p:spPr>
          <a:xfrm>
            <a:off x="803940" y="5874288"/>
            <a:ext cx="184343" cy="184343"/>
          </a:xfrm>
          <a:prstGeom prst="rect">
            <a:avLst/>
          </a:prstGeom>
        </p:spPr>
      </p:pic>
      <p:sp>
        <p:nvSpPr>
          <p:cNvPr id="28" name="Text 20"/>
          <p:cNvSpPr/>
          <p:nvPr/>
        </p:nvSpPr>
        <p:spPr>
          <a:xfrm>
            <a:off x="1225296" y="571500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A instalação como app exige que o site esteja em HTTPS (conexão segura). Sem HTTPS configurado, o botão de instalação pode não aparecer — limitação do navegador, não do BolsaTrader.</a:t>
            </a:r>
            <a:endParaRPr lang="en-US" sz="1050" dirty="0"/>
          </a:p>
        </p:txBody>
      </p:sp>
      <p:sp>
        <p:nvSpPr>
          <p:cNvPr id="29"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0"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02.1  </a:t>
            </a:r>
            <a:pPr indent="0" marL="0">
              <a:buNone/>
            </a:pPr>
            <a:r>
              <a:rPr lang="en-US" sz="1250" b="1" spc="200" kern="0" dirty="0">
                <a:solidFill>
                  <a:srgbClr val="00D68F"/>
                </a:solidFill>
                <a:latin typeface="Calibri" pitchFamily="34" charset="0"/>
                <a:ea typeface="Calibri" pitchFamily="34" charset="-122"/>
                <a:cs typeface="Calibri" pitchFamily="34" charset="-120"/>
              </a:rPr>
              <a:t>SEGURANÇA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Senha, perfis de acesso e proteção dos dados</a:t>
            </a:r>
            <a:endParaRPr lang="en-US" sz="3000" dirty="0"/>
          </a:p>
        </p:txBody>
      </p:sp>
      <p:sp>
        <p:nvSpPr>
          <p:cNvPr id="4" name="Text 2"/>
          <p:cNvSpPr/>
          <p:nvPr/>
        </p:nvSpPr>
        <p:spPr>
          <a:xfrm>
            <a:off x="548640" y="1417320"/>
            <a:ext cx="11094415" cy="594360"/>
          </a:xfrm>
          <a:prstGeom prst="rect">
            <a:avLst/>
          </a:prstGeom>
          <a:noFill/>
          <a:ln/>
        </p:spPr>
        <p:txBody>
          <a:bodyPr wrap="square" lIns="0" tIns="0" rIns="0" bIns="0" rtlCol="0" anchor="ctr"/>
          <a:lstStyle/>
          <a:p>
            <a:pPr indent="0" marL="0">
              <a:lnSpc>
                <a:spcPct val="125000"/>
              </a:lnSpc>
              <a:buNone/>
            </a:pPr>
            <a:r>
              <a:rPr lang="en-US" sz="1200" dirty="0">
                <a:solidFill>
                  <a:srgbClr val="40496B"/>
                </a:solidFill>
                <a:latin typeface="Calibri" pitchFamily="34" charset="0"/>
                <a:ea typeface="Calibri" pitchFamily="34" charset="-122"/>
                <a:cs typeface="Calibri" pitchFamily="34" charset="-120"/>
              </a:rPr>
              <a:t>Esqueceu a senha? O link "Esqueci minha senha", na tela de login, envia por e-mail um link válido por 2 horas. Já logado, troque a senha em Minha Conta → 🔑 Alterar senha.</a:t>
            </a:r>
            <a:endParaRPr lang="en-US" sz="1200" dirty="0"/>
          </a:p>
        </p:txBody>
      </p:sp>
      <p:sp>
        <p:nvSpPr>
          <p:cNvPr id="5" name="Shape 3"/>
          <p:cNvSpPr/>
          <p:nvPr/>
        </p:nvSpPr>
        <p:spPr>
          <a:xfrm>
            <a:off x="548640" y="2194560"/>
            <a:ext cx="11094415"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432304"/>
            <a:ext cx="310896" cy="310896"/>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85505" y="2513137"/>
            <a:ext cx="149230" cy="149230"/>
          </a:xfrm>
          <a:prstGeom prst="rect">
            <a:avLst/>
          </a:prstGeom>
        </p:spPr>
      </p:pic>
      <p:sp>
        <p:nvSpPr>
          <p:cNvPr id="8" name="Text 5"/>
          <p:cNvSpPr/>
          <p:nvPr/>
        </p:nvSpPr>
        <p:spPr>
          <a:xfrm>
            <a:off x="1280160" y="237744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Login protegido e dados sensíveis criptografados</a:t>
            </a:r>
            <a:endParaRPr lang="en-US" sz="1400" dirty="0"/>
          </a:p>
        </p:txBody>
      </p:sp>
      <p:sp>
        <p:nvSpPr>
          <p:cNvPr id="9" name="Text 6"/>
          <p:cNvSpPr/>
          <p:nvPr/>
        </p:nvSpPr>
        <p:spPr>
          <a:xfrm>
            <a:off x="804672" y="2871216"/>
            <a:ext cx="10582351"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Depois de 5 senhas erradas seguidas, o login fica bloqueado por 15 minutos — mesmo com a senha certa. Login, senha e assinatura da corretora e o token do Telegram ficam gravados criptografados no banco.</a:t>
            </a:r>
            <a:endParaRPr lang="en-US" sz="1100" dirty="0"/>
          </a:p>
        </p:txBody>
      </p:sp>
      <p:sp>
        <p:nvSpPr>
          <p:cNvPr id="10" name="Text 7"/>
          <p:cNvSpPr/>
          <p:nvPr/>
        </p:nvSpPr>
        <p:spPr>
          <a:xfrm>
            <a:off x="548640" y="370332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Perfis de acesso</a:t>
            </a:r>
            <a:endParaRPr lang="en-US" sz="1400" dirty="0"/>
          </a:p>
        </p:txBody>
      </p:sp>
      <p:sp>
        <p:nvSpPr>
          <p:cNvPr id="11" name="Shape 8"/>
          <p:cNvSpPr/>
          <p:nvPr/>
        </p:nvSpPr>
        <p:spPr>
          <a:xfrm>
            <a:off x="548640" y="4114800"/>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617037" y="4183197"/>
            <a:ext cx="174102" cy="174102"/>
          </a:xfrm>
          <a:prstGeom prst="rect">
            <a:avLst/>
          </a:prstGeom>
        </p:spPr>
      </p:pic>
      <p:sp>
        <p:nvSpPr>
          <p:cNvPr id="13" name="Text 9"/>
          <p:cNvSpPr/>
          <p:nvPr/>
        </p:nvSpPr>
        <p:spPr>
          <a:xfrm>
            <a:off x="1005840"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Usuário — a própria carteira e todas as telas de uso</a:t>
            </a:r>
            <a:endParaRPr lang="en-US" sz="1150" dirty="0"/>
          </a:p>
        </p:txBody>
      </p:sp>
      <p:sp>
        <p:nvSpPr>
          <p:cNvPr id="14" name="Shape 10"/>
          <p:cNvSpPr/>
          <p:nvPr/>
        </p:nvSpPr>
        <p:spPr>
          <a:xfrm>
            <a:off x="6370168" y="4114800"/>
            <a:ext cx="310896" cy="310896"/>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check.png">    </p:cNvPr>
          <p:cNvPicPr>
            <a:picLocks noChangeAspect="1"/>
          </p:cNvPicPr>
          <p:nvPr/>
        </p:nvPicPr>
        <p:blipFill>
          <a:blip r:embed="rId3"/>
          <a:stretch>
            <a:fillRect/>
          </a:stretch>
        </p:blipFill>
        <p:spPr>
          <a:xfrm>
            <a:off x="6438565" y="4183197"/>
            <a:ext cx="174102" cy="174102"/>
          </a:xfrm>
          <a:prstGeom prst="rect">
            <a:avLst/>
          </a:prstGeom>
        </p:spPr>
      </p:pic>
      <p:sp>
        <p:nvSpPr>
          <p:cNvPr id="16" name="Text 11"/>
          <p:cNvSpPr/>
          <p:nvPr/>
        </p:nvSpPr>
        <p:spPr>
          <a:xfrm>
            <a:off x="6827368"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Administrador — também cadastra novos usuários</a:t>
            </a:r>
            <a:endParaRPr lang="en-US" sz="1150" dirty="0"/>
          </a:p>
        </p:txBody>
      </p:sp>
      <p:sp>
        <p:nvSpPr>
          <p:cNvPr id="17" name="Shape 12"/>
          <p:cNvSpPr/>
          <p:nvPr/>
        </p:nvSpPr>
        <p:spPr>
          <a:xfrm>
            <a:off x="548640" y="4800600"/>
            <a:ext cx="310896" cy="310896"/>
          </a:xfrm>
          <a:prstGeom prst="ellipse">
            <a:avLst/>
          </a:prstGeom>
          <a:solidFill>
            <a:srgbClr val="00D68F"/>
          </a:solidFill>
          <a:ln/>
        </p:spPr>
        <p:txBody>
          <a:bodyPr/>
          <a:p/>
        </p:txBody>
      </p:sp>
      <p:pic>
        <p:nvPicPr>
          <p:cNvPr id="18" name="Image 3" descr="C:\Users\PC ANTONIO\AppData\Roaming\Claude\scratch-workspaces\f0f5d1bc-bf72-4611-a8ea-e50e459a0a45\08c0c592-3fff-44bf-a144-086c85aaeea0\scratch-2026-09-22-98642c\icons\check.png">    </p:cNvPr>
          <p:cNvPicPr>
            <a:picLocks noChangeAspect="1"/>
          </p:cNvPicPr>
          <p:nvPr/>
        </p:nvPicPr>
        <p:blipFill>
          <a:blip r:embed="rId4"/>
          <a:stretch>
            <a:fillRect/>
          </a:stretch>
        </p:blipFill>
        <p:spPr>
          <a:xfrm>
            <a:off x="617037" y="4868997"/>
            <a:ext cx="174102" cy="174102"/>
          </a:xfrm>
          <a:prstGeom prst="rect">
            <a:avLst/>
          </a:prstGeom>
        </p:spPr>
      </p:pic>
      <p:sp>
        <p:nvSpPr>
          <p:cNvPr id="19" name="Text 13"/>
          <p:cNvSpPr/>
          <p:nvPr/>
        </p:nvSpPr>
        <p:spPr>
          <a:xfrm>
            <a:off x="1005840"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Administrador — gerencia as fontes de notícias e lê o WhatsApp</a:t>
            </a:r>
            <a:endParaRPr lang="en-US" sz="1150" dirty="0"/>
          </a:p>
        </p:txBody>
      </p:sp>
      <p:sp>
        <p:nvSpPr>
          <p:cNvPr id="20" name="Shape 14"/>
          <p:cNvSpPr/>
          <p:nvPr/>
        </p:nvSpPr>
        <p:spPr>
          <a:xfrm>
            <a:off x="6370168" y="4800600"/>
            <a:ext cx="310896" cy="310896"/>
          </a:xfrm>
          <a:prstGeom prst="ellipse">
            <a:avLst/>
          </a:prstGeom>
          <a:solidFill>
            <a:srgbClr val="00D68F"/>
          </a:solidFill>
          <a:ln/>
        </p:spPr>
        <p:txBody>
          <a:bodyPr/>
          <a:p/>
        </p:txBody>
      </p:sp>
      <p:pic>
        <p:nvPicPr>
          <p:cNvPr id="21" name="Image 4" descr="C:\Users\PC ANTONIO\AppData\Roaming\Claude\scratch-workspaces\f0f5d1bc-bf72-4611-a8ea-e50e459a0a45\08c0c592-3fff-44bf-a144-086c85aaeea0\scratch-2026-09-22-98642c\icons\check.png">    </p:cNvPr>
          <p:cNvPicPr>
            <a:picLocks noChangeAspect="1"/>
          </p:cNvPicPr>
          <p:nvPr/>
        </p:nvPicPr>
        <p:blipFill>
          <a:blip r:embed="rId5"/>
          <a:stretch>
            <a:fillRect/>
          </a:stretch>
        </p:blipFill>
        <p:spPr>
          <a:xfrm>
            <a:off x="6438565" y="4868997"/>
            <a:ext cx="174102" cy="174102"/>
          </a:xfrm>
          <a:prstGeom prst="rect">
            <a:avLst/>
          </a:prstGeom>
        </p:spPr>
      </p:pic>
      <p:sp>
        <p:nvSpPr>
          <p:cNvPr id="22" name="Text 15"/>
          <p:cNvSpPr/>
          <p:nvPr/>
        </p:nvSpPr>
        <p:spPr>
          <a:xfrm>
            <a:off x="6827368"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Superusuário — o único que vê "Limpar dados do sistema"</a:t>
            </a:r>
            <a:endParaRPr lang="en-US" sz="1150" dirty="0"/>
          </a:p>
        </p:txBody>
      </p:sp>
      <p:sp>
        <p:nvSpPr>
          <p:cNvPr id="23" name="Shape 16"/>
          <p:cNvSpPr/>
          <p:nvPr/>
        </p:nvSpPr>
        <p:spPr>
          <a:xfrm>
            <a:off x="548640" y="5577840"/>
            <a:ext cx="11094415" cy="685800"/>
          </a:xfrm>
          <a:prstGeom prst="roundRect">
            <a:avLst>
              <a:gd name="adj" fmla="val 10667"/>
            </a:avLst>
          </a:prstGeom>
          <a:solidFill>
            <a:srgbClr val="FDECEE"/>
          </a:solidFill>
          <a:ln/>
        </p:spPr>
        <p:txBody>
          <a:bodyPr/>
          <a:p/>
        </p:txBody>
      </p:sp>
      <p:sp>
        <p:nvSpPr>
          <p:cNvPr id="24" name="Shape 17"/>
          <p:cNvSpPr/>
          <p:nvPr/>
        </p:nvSpPr>
        <p:spPr>
          <a:xfrm>
            <a:off x="731520" y="5756148"/>
            <a:ext cx="329184" cy="329184"/>
          </a:xfrm>
          <a:prstGeom prst="ellipse">
            <a:avLst/>
          </a:prstGeom>
          <a:solidFill>
            <a:srgbClr val="E1495A"/>
          </a:solidFill>
          <a:ln/>
        </p:spPr>
        <p:txBody>
          <a:bodyPr/>
          <a:p/>
        </p:txBody>
      </p:sp>
      <p:pic>
        <p:nvPicPr>
          <p:cNvPr id="25"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828568"/>
            <a:ext cx="184343" cy="184343"/>
          </a:xfrm>
          <a:prstGeom prst="rect">
            <a:avLst/>
          </a:prstGeom>
        </p:spPr>
      </p:pic>
      <p:sp>
        <p:nvSpPr>
          <p:cNvPr id="26" name="Text 18"/>
          <p:cNvSpPr/>
          <p:nvPr/>
        </p:nvSpPr>
        <p:spPr>
          <a:xfrm>
            <a:off x="1225296" y="566928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"Limpar dados do sistema" apaga os dados de TODOS os usuários e não pode ser desfeito — só o superusuário vê o botão e confirma com a própria senha.</a:t>
            </a:r>
            <a:endParaRPr lang="en-US" sz="1050" dirty="0"/>
          </a:p>
        </p:txBody>
      </p:sp>
      <p:sp>
        <p:nvSpPr>
          <p:cNvPr id="27"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03  </a:t>
            </a:r>
            <a:pPr indent="0" marL="0">
              <a:buNone/>
            </a:pPr>
            <a:r>
              <a:rPr lang="en-US" sz="1250" b="1" spc="200" kern="0" dirty="0">
                <a:solidFill>
                  <a:srgbClr val="00D68F"/>
                </a:solidFill>
                <a:latin typeface="Calibri" pitchFamily="34" charset="0"/>
                <a:ea typeface="Calibri" pitchFamily="34" charset="-122"/>
                <a:cs typeface="Calibri" pitchFamily="34" charset="-120"/>
              </a:rPr>
              <a:t>NAVEGAÇÃO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Navegação geral e menu principal</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A barra superior dá acesso direto às principais telas. A tela "Menu" reúne todas as áreas do sistema em cartões com ícone e descrição:</a:t>
            </a:r>
            <a:endParaRPr lang="en-US" sz="1150" dirty="0"/>
          </a:p>
        </p:txBody>
      </p:sp>
      <p:sp>
        <p:nvSpPr>
          <p:cNvPr id="5" name="Shape 3"/>
          <p:cNvSpPr/>
          <p:nvPr/>
        </p:nvSpPr>
        <p:spPr>
          <a:xfrm>
            <a:off x="548640" y="1874520"/>
            <a:ext cx="2622728" cy="896112"/>
          </a:xfrm>
          <a:prstGeom prst="roundRect">
            <a:avLst>
              <a:gd name="adj" fmla="val 7143"/>
            </a:avLst>
          </a:prstGeom>
          <a:solidFill>
            <a:srgbClr val="F3F6FC"/>
          </a:solidFill>
          <a:ln/>
        </p:spPr>
        <p:txBody>
          <a:bodyPr/>
          <a:p/>
        </p:txBody>
      </p:sp>
      <p:sp>
        <p:nvSpPr>
          <p:cNvPr id="6" name="Shape 4"/>
          <p:cNvSpPr/>
          <p:nvPr/>
        </p:nvSpPr>
        <p:spPr>
          <a:xfrm>
            <a:off x="676656" y="2002536"/>
            <a:ext cx="310896" cy="310896"/>
          </a:xfrm>
          <a:prstGeom prst="ellipse">
            <a:avLst/>
          </a:prstGeom>
          <a:solidFill>
            <a:srgbClr val="00D68F"/>
          </a:solidFill>
          <a:ln/>
        </p:spPr>
        <p:txBody>
          <a:bodyPr/>
          <a:p/>
        </p:txBody>
      </p:sp>
      <p:pic>
        <p:nvPicPr>
          <p:cNvPr id="7" name="Image 0" descr="C:\Users\PC ANTONIO\AppData\Roaming\Claude\scratch-workspaces\f0f5d1bc-bf72-4611-a8ea-e50e459a0a45\08c0c592-3fff-44bf-a144-086c85aaeea0\scratch-2026-09-22-98642c\icons\chart.png">    </p:cNvPr>
          <p:cNvPicPr>
            <a:picLocks noChangeAspect="1"/>
          </p:cNvPicPr>
          <p:nvPr/>
        </p:nvPicPr>
        <p:blipFill>
          <a:blip r:embed="rId1"/>
          <a:stretch>
            <a:fillRect/>
          </a:stretch>
        </p:blipFill>
        <p:spPr>
          <a:xfrm>
            <a:off x="745053" y="2070933"/>
            <a:ext cx="174102" cy="174102"/>
          </a:xfrm>
          <a:prstGeom prst="rect">
            <a:avLst/>
          </a:prstGeom>
        </p:spPr>
      </p:pic>
      <p:sp>
        <p:nvSpPr>
          <p:cNvPr id="8" name="Text 5"/>
          <p:cNvSpPr/>
          <p:nvPr/>
        </p:nvSpPr>
        <p:spPr>
          <a:xfrm>
            <a:off x="676656"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Painel</a:t>
            </a:r>
            <a:endParaRPr lang="en-US" sz="1050" dirty="0"/>
          </a:p>
        </p:txBody>
      </p:sp>
      <p:sp>
        <p:nvSpPr>
          <p:cNvPr id="9" name="Text 6"/>
          <p:cNvSpPr/>
          <p:nvPr/>
        </p:nvSpPr>
        <p:spPr>
          <a:xfrm>
            <a:off x="676656"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Resumo geral, lucro/perda e alertas.</a:t>
            </a:r>
            <a:endParaRPr lang="en-US" sz="830" dirty="0"/>
          </a:p>
        </p:txBody>
      </p:sp>
      <p:sp>
        <p:nvSpPr>
          <p:cNvPr id="10" name="Shape 7"/>
          <p:cNvSpPr/>
          <p:nvPr/>
        </p:nvSpPr>
        <p:spPr>
          <a:xfrm>
            <a:off x="3372536" y="1874520"/>
            <a:ext cx="2622728" cy="896112"/>
          </a:xfrm>
          <a:prstGeom prst="roundRect">
            <a:avLst>
              <a:gd name="adj" fmla="val 7143"/>
            </a:avLst>
          </a:prstGeom>
          <a:solidFill>
            <a:srgbClr val="F3F6FC"/>
          </a:solidFill>
          <a:ln/>
        </p:spPr>
        <p:txBody>
          <a:bodyPr/>
          <a:p/>
        </p:txBody>
      </p:sp>
      <p:sp>
        <p:nvSpPr>
          <p:cNvPr id="11" name="Shape 8"/>
          <p:cNvSpPr/>
          <p:nvPr/>
        </p:nvSpPr>
        <p:spPr>
          <a:xfrm>
            <a:off x="3500552" y="2002536"/>
            <a:ext cx="310896" cy="310896"/>
          </a:xfrm>
          <a:prstGeom prst="ellipse">
            <a:avLst/>
          </a:prstGeom>
          <a:solidFill>
            <a:srgbClr val="0D1B3E"/>
          </a:solidFill>
          <a:ln/>
        </p:spPr>
        <p:txBody>
          <a:bodyPr/>
          <a:p/>
        </p:txBody>
      </p:sp>
      <p:pic>
        <p:nvPicPr>
          <p:cNvPr id="12" name="Image 1" descr="C:\Users\PC ANTONIO\AppData\Roaming\Claude\scratch-workspaces\f0f5d1bc-bf72-4611-a8ea-e50e459a0a45\08c0c592-3fff-44bf-a144-086c85aaeea0\scratch-2026-09-22-98642c\icons\wallet.png">    </p:cNvPr>
          <p:cNvPicPr>
            <a:picLocks noChangeAspect="1"/>
          </p:cNvPicPr>
          <p:nvPr/>
        </p:nvPicPr>
        <p:blipFill>
          <a:blip r:embed="rId2"/>
          <a:stretch>
            <a:fillRect/>
          </a:stretch>
        </p:blipFill>
        <p:spPr>
          <a:xfrm>
            <a:off x="3568949" y="2070933"/>
            <a:ext cx="174102" cy="174102"/>
          </a:xfrm>
          <a:prstGeom prst="rect">
            <a:avLst/>
          </a:prstGeom>
        </p:spPr>
      </p:pic>
      <p:sp>
        <p:nvSpPr>
          <p:cNvPr id="13" name="Text 9"/>
          <p:cNvSpPr/>
          <p:nvPr/>
        </p:nvSpPr>
        <p:spPr>
          <a:xfrm>
            <a:off x="3500552"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Compra/Venda</a:t>
            </a:r>
            <a:endParaRPr lang="en-US" sz="1050" dirty="0"/>
          </a:p>
        </p:txBody>
      </p:sp>
      <p:sp>
        <p:nvSpPr>
          <p:cNvPr id="14" name="Text 10"/>
          <p:cNvSpPr/>
          <p:nvPr/>
        </p:nvSpPr>
        <p:spPr>
          <a:xfrm>
            <a:off x="3500552"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Registrar nova operação.</a:t>
            </a:r>
            <a:endParaRPr lang="en-US" sz="830" dirty="0"/>
          </a:p>
        </p:txBody>
      </p:sp>
      <p:sp>
        <p:nvSpPr>
          <p:cNvPr id="15" name="Shape 11"/>
          <p:cNvSpPr/>
          <p:nvPr/>
        </p:nvSpPr>
        <p:spPr>
          <a:xfrm>
            <a:off x="6196432" y="1874520"/>
            <a:ext cx="2622728" cy="896112"/>
          </a:xfrm>
          <a:prstGeom prst="roundRect">
            <a:avLst>
              <a:gd name="adj" fmla="val 7143"/>
            </a:avLst>
          </a:prstGeom>
          <a:solidFill>
            <a:srgbClr val="F3F6FC"/>
          </a:solidFill>
          <a:ln/>
        </p:spPr>
        <p:txBody>
          <a:bodyPr/>
          <a:p/>
        </p:txBody>
      </p:sp>
      <p:sp>
        <p:nvSpPr>
          <p:cNvPr id="16" name="Shape 12"/>
          <p:cNvSpPr/>
          <p:nvPr/>
        </p:nvSpPr>
        <p:spPr>
          <a:xfrm>
            <a:off x="6324448" y="2002536"/>
            <a:ext cx="310896" cy="310896"/>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fileText.png">    </p:cNvPr>
          <p:cNvPicPr>
            <a:picLocks noChangeAspect="1"/>
          </p:cNvPicPr>
          <p:nvPr/>
        </p:nvPicPr>
        <p:blipFill>
          <a:blip r:embed="rId3"/>
          <a:stretch>
            <a:fillRect/>
          </a:stretch>
        </p:blipFill>
        <p:spPr>
          <a:xfrm>
            <a:off x="6392845" y="2070933"/>
            <a:ext cx="174102" cy="174102"/>
          </a:xfrm>
          <a:prstGeom prst="rect">
            <a:avLst/>
          </a:prstGeom>
        </p:spPr>
      </p:pic>
      <p:sp>
        <p:nvSpPr>
          <p:cNvPr id="18" name="Text 13"/>
          <p:cNvSpPr/>
          <p:nvPr/>
        </p:nvSpPr>
        <p:spPr>
          <a:xfrm>
            <a:off x="6324448"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Operações</a:t>
            </a:r>
            <a:endParaRPr lang="en-US" sz="1050" dirty="0"/>
          </a:p>
        </p:txBody>
      </p:sp>
      <p:sp>
        <p:nvSpPr>
          <p:cNvPr id="19" name="Text 14"/>
          <p:cNvSpPr/>
          <p:nvPr/>
        </p:nvSpPr>
        <p:spPr>
          <a:xfrm>
            <a:off x="6324448"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Histórico de compras e vendas.</a:t>
            </a:r>
            <a:endParaRPr lang="en-US" sz="830" dirty="0"/>
          </a:p>
        </p:txBody>
      </p:sp>
      <p:sp>
        <p:nvSpPr>
          <p:cNvPr id="20" name="Shape 15"/>
          <p:cNvSpPr/>
          <p:nvPr/>
        </p:nvSpPr>
        <p:spPr>
          <a:xfrm>
            <a:off x="9020327" y="1874520"/>
            <a:ext cx="2622728" cy="896112"/>
          </a:xfrm>
          <a:prstGeom prst="roundRect">
            <a:avLst>
              <a:gd name="adj" fmla="val 7143"/>
            </a:avLst>
          </a:prstGeom>
          <a:solidFill>
            <a:srgbClr val="F3F6FC"/>
          </a:solidFill>
          <a:ln/>
        </p:spPr>
        <p:txBody>
          <a:bodyPr/>
          <a:p/>
        </p:txBody>
      </p:sp>
      <p:sp>
        <p:nvSpPr>
          <p:cNvPr id="21" name="Shape 16"/>
          <p:cNvSpPr/>
          <p:nvPr/>
        </p:nvSpPr>
        <p:spPr>
          <a:xfrm>
            <a:off x="9148343" y="2002536"/>
            <a:ext cx="310896" cy="310896"/>
          </a:xfrm>
          <a:prstGeom prst="ellipse">
            <a:avLst/>
          </a:prstGeom>
          <a:solidFill>
            <a:srgbClr val="00D68F"/>
          </a:solidFill>
          <a:ln/>
        </p:spPr>
        <p:txBody>
          <a:bodyPr/>
          <a:p/>
        </p:txBody>
      </p:sp>
      <p:pic>
        <p:nvPicPr>
          <p:cNvPr id="22" name="Image 3" descr="C:\Users\PC ANTONIO\AppData\Roaming\Claude\scratch-workspaces\f0f5d1bc-bf72-4611-a8ea-e50e459a0a45\08c0c592-3fff-44bf-a144-086c85aaeea0\scratch-2026-09-22-98642c\icons\pieChart.png">    </p:cNvPr>
          <p:cNvPicPr>
            <a:picLocks noChangeAspect="1"/>
          </p:cNvPicPr>
          <p:nvPr/>
        </p:nvPicPr>
        <p:blipFill>
          <a:blip r:embed="rId4"/>
          <a:stretch>
            <a:fillRect/>
          </a:stretch>
        </p:blipFill>
        <p:spPr>
          <a:xfrm>
            <a:off x="9216741" y="2070933"/>
            <a:ext cx="174102" cy="174102"/>
          </a:xfrm>
          <a:prstGeom prst="rect">
            <a:avLst/>
          </a:prstGeom>
        </p:spPr>
      </p:pic>
      <p:sp>
        <p:nvSpPr>
          <p:cNvPr id="23" name="Text 17"/>
          <p:cNvSpPr/>
          <p:nvPr/>
        </p:nvSpPr>
        <p:spPr>
          <a:xfrm>
            <a:off x="9148343"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Posições</a:t>
            </a:r>
            <a:endParaRPr lang="en-US" sz="1050" dirty="0"/>
          </a:p>
        </p:txBody>
      </p:sp>
      <p:sp>
        <p:nvSpPr>
          <p:cNvPr id="24" name="Text 18"/>
          <p:cNvSpPr/>
          <p:nvPr/>
        </p:nvSpPr>
        <p:spPr>
          <a:xfrm>
            <a:off x="9148343"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Preço médio e lucro/perda.</a:t>
            </a:r>
            <a:endParaRPr lang="en-US" sz="830" dirty="0"/>
          </a:p>
        </p:txBody>
      </p:sp>
      <p:sp>
        <p:nvSpPr>
          <p:cNvPr id="25" name="Shape 19"/>
          <p:cNvSpPr/>
          <p:nvPr/>
        </p:nvSpPr>
        <p:spPr>
          <a:xfrm>
            <a:off x="548640" y="2898648"/>
            <a:ext cx="2622728" cy="896112"/>
          </a:xfrm>
          <a:prstGeom prst="roundRect">
            <a:avLst>
              <a:gd name="adj" fmla="val 7143"/>
            </a:avLst>
          </a:prstGeom>
          <a:solidFill>
            <a:srgbClr val="F3F6FC"/>
          </a:solidFill>
          <a:ln/>
        </p:spPr>
        <p:txBody>
          <a:bodyPr/>
          <a:p/>
        </p:txBody>
      </p:sp>
      <p:sp>
        <p:nvSpPr>
          <p:cNvPr id="26" name="Shape 20"/>
          <p:cNvSpPr/>
          <p:nvPr/>
        </p:nvSpPr>
        <p:spPr>
          <a:xfrm>
            <a:off x="676656" y="3026664"/>
            <a:ext cx="310896" cy="310896"/>
          </a:xfrm>
          <a:prstGeom prst="ellipse">
            <a:avLst/>
          </a:prstGeom>
          <a:solidFill>
            <a:srgbClr val="0D1B3E"/>
          </a:solidFill>
          <a:ln/>
        </p:spPr>
        <p:txBody>
          <a:bodyPr/>
          <a:p/>
        </p:txBody>
      </p:sp>
      <p:pic>
        <p:nvPicPr>
          <p:cNvPr id="27" name="Image 4" descr="C:\Users\PC ANTONIO\AppData\Roaming\Claude\scratch-workspaces\f0f5d1bc-bf72-4611-a8ea-e50e459a0a45\08c0c592-3fff-44bf-a144-086c85aaeea0\scratch-2026-09-22-98642c\icons\search.png">    </p:cNvPr>
          <p:cNvPicPr>
            <a:picLocks noChangeAspect="1"/>
          </p:cNvPicPr>
          <p:nvPr/>
        </p:nvPicPr>
        <p:blipFill>
          <a:blip r:embed="rId5"/>
          <a:stretch>
            <a:fillRect/>
          </a:stretch>
        </p:blipFill>
        <p:spPr>
          <a:xfrm>
            <a:off x="745053" y="3095061"/>
            <a:ext cx="174102" cy="174102"/>
          </a:xfrm>
          <a:prstGeom prst="rect">
            <a:avLst/>
          </a:prstGeom>
        </p:spPr>
      </p:pic>
      <p:sp>
        <p:nvSpPr>
          <p:cNvPr id="28" name="Text 21"/>
          <p:cNvSpPr/>
          <p:nvPr/>
        </p:nvSpPr>
        <p:spPr>
          <a:xfrm>
            <a:off x="676656"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Análise de Mercado</a:t>
            </a:r>
            <a:endParaRPr lang="en-US" sz="1050" dirty="0"/>
          </a:p>
        </p:txBody>
      </p:sp>
      <p:sp>
        <p:nvSpPr>
          <p:cNvPr id="29" name="Text 22"/>
          <p:cNvSpPr/>
          <p:nvPr/>
        </p:nvSpPr>
        <p:spPr>
          <a:xfrm>
            <a:off x="676656"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Sinais de alta ou baixa.</a:t>
            </a:r>
            <a:endParaRPr lang="en-US" sz="830" dirty="0"/>
          </a:p>
        </p:txBody>
      </p:sp>
      <p:sp>
        <p:nvSpPr>
          <p:cNvPr id="30" name="Shape 23"/>
          <p:cNvSpPr/>
          <p:nvPr/>
        </p:nvSpPr>
        <p:spPr>
          <a:xfrm>
            <a:off x="3372536" y="2898648"/>
            <a:ext cx="2622728" cy="896112"/>
          </a:xfrm>
          <a:prstGeom prst="roundRect">
            <a:avLst>
              <a:gd name="adj" fmla="val 7143"/>
            </a:avLst>
          </a:prstGeom>
          <a:solidFill>
            <a:srgbClr val="F3F6FC"/>
          </a:solidFill>
          <a:ln/>
        </p:spPr>
        <p:txBody>
          <a:bodyPr/>
          <a:p/>
        </p:txBody>
      </p:sp>
      <p:sp>
        <p:nvSpPr>
          <p:cNvPr id="31" name="Shape 24"/>
          <p:cNvSpPr/>
          <p:nvPr/>
        </p:nvSpPr>
        <p:spPr>
          <a:xfrm>
            <a:off x="3500552" y="3026664"/>
            <a:ext cx="310896" cy="310896"/>
          </a:xfrm>
          <a:prstGeom prst="ellipse">
            <a:avLst/>
          </a:prstGeom>
          <a:solidFill>
            <a:srgbClr val="0D1B3E"/>
          </a:solidFill>
          <a:ln/>
        </p:spPr>
        <p:txBody>
          <a:bodyPr/>
          <a:p/>
        </p:txBody>
      </p:sp>
      <p:pic>
        <p:nvPicPr>
          <p:cNvPr id="32" name="Image 5" descr="C:\Users\PC ANTONIO\AppData\Roaming\Claude\scratch-workspaces\f0f5d1bc-bf72-4611-a8ea-e50e459a0a45\08c0c592-3fff-44bf-a144-086c85aaeea0\scratch-2026-09-22-98642c\icons\target.png">    </p:cNvPr>
          <p:cNvPicPr>
            <a:picLocks noChangeAspect="1"/>
          </p:cNvPicPr>
          <p:nvPr/>
        </p:nvPicPr>
        <p:blipFill>
          <a:blip r:embed="rId6"/>
          <a:stretch>
            <a:fillRect/>
          </a:stretch>
        </p:blipFill>
        <p:spPr>
          <a:xfrm>
            <a:off x="3568949" y="3095061"/>
            <a:ext cx="174102" cy="174102"/>
          </a:xfrm>
          <a:prstGeom prst="rect">
            <a:avLst/>
          </a:prstGeom>
        </p:spPr>
      </p:pic>
      <p:sp>
        <p:nvSpPr>
          <p:cNvPr id="33" name="Text 25"/>
          <p:cNvSpPr/>
          <p:nvPr/>
        </p:nvSpPr>
        <p:spPr>
          <a:xfrm>
            <a:off x="3500552"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Backtesting</a:t>
            </a:r>
            <a:endParaRPr lang="en-US" sz="1050" dirty="0"/>
          </a:p>
        </p:txBody>
      </p:sp>
      <p:sp>
        <p:nvSpPr>
          <p:cNvPr id="34" name="Text 26"/>
          <p:cNvSpPr/>
          <p:nvPr/>
        </p:nvSpPr>
        <p:spPr>
          <a:xfrm>
            <a:off x="3500552"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Taxa de acerto do robô.</a:t>
            </a:r>
            <a:endParaRPr lang="en-US" sz="830" dirty="0"/>
          </a:p>
        </p:txBody>
      </p:sp>
      <p:sp>
        <p:nvSpPr>
          <p:cNvPr id="35" name="Shape 27"/>
          <p:cNvSpPr/>
          <p:nvPr/>
        </p:nvSpPr>
        <p:spPr>
          <a:xfrm>
            <a:off x="6196432" y="2898648"/>
            <a:ext cx="2622728" cy="896112"/>
          </a:xfrm>
          <a:prstGeom prst="roundRect">
            <a:avLst>
              <a:gd name="adj" fmla="val 7143"/>
            </a:avLst>
          </a:prstGeom>
          <a:solidFill>
            <a:srgbClr val="F3F6FC"/>
          </a:solidFill>
          <a:ln/>
        </p:spPr>
        <p:txBody>
          <a:bodyPr/>
          <a:p/>
        </p:txBody>
      </p:sp>
      <p:sp>
        <p:nvSpPr>
          <p:cNvPr id="36" name="Shape 28"/>
          <p:cNvSpPr/>
          <p:nvPr/>
        </p:nvSpPr>
        <p:spPr>
          <a:xfrm>
            <a:off x="6324448" y="3026664"/>
            <a:ext cx="310896" cy="310896"/>
          </a:xfrm>
          <a:prstGeom prst="ellipse">
            <a:avLst/>
          </a:prstGeom>
          <a:solidFill>
            <a:srgbClr val="00D68F"/>
          </a:solidFill>
          <a:ln/>
        </p:spPr>
        <p:txBody>
          <a:bodyPr/>
          <a:p/>
        </p:txBody>
      </p:sp>
      <p:pic>
        <p:nvPicPr>
          <p:cNvPr id="37" name="Image 6" descr="C:\Users\PC ANTONIO\AppData\Roaming\Claude\scratch-workspaces\f0f5d1bc-bf72-4611-a8ea-e50e459a0a45\08c0c592-3fff-44bf-a144-086c85aaeea0\scratch-2026-09-22-98642c\icons\trendUp.png">    </p:cNvPr>
          <p:cNvPicPr>
            <a:picLocks noChangeAspect="1"/>
          </p:cNvPicPr>
          <p:nvPr/>
        </p:nvPicPr>
        <p:blipFill>
          <a:blip r:embed="rId7"/>
          <a:stretch>
            <a:fillRect/>
          </a:stretch>
        </p:blipFill>
        <p:spPr>
          <a:xfrm>
            <a:off x="6392845" y="3095061"/>
            <a:ext cx="174102" cy="174102"/>
          </a:xfrm>
          <a:prstGeom prst="rect">
            <a:avLst/>
          </a:prstGeom>
        </p:spPr>
      </p:pic>
      <p:sp>
        <p:nvSpPr>
          <p:cNvPr id="38" name="Text 29"/>
          <p:cNvSpPr/>
          <p:nvPr/>
        </p:nvSpPr>
        <p:spPr>
          <a:xfrm>
            <a:off x="6324448"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Histórico e Gráfico</a:t>
            </a:r>
            <a:endParaRPr lang="en-US" sz="1050" dirty="0"/>
          </a:p>
        </p:txBody>
      </p:sp>
      <p:sp>
        <p:nvSpPr>
          <p:cNvPr id="39" name="Text 30"/>
          <p:cNvSpPr/>
          <p:nvPr/>
        </p:nvSpPr>
        <p:spPr>
          <a:xfrm>
            <a:off x="6324448"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Cotações e gráfico por ativo.</a:t>
            </a:r>
            <a:endParaRPr lang="en-US" sz="830" dirty="0"/>
          </a:p>
        </p:txBody>
      </p:sp>
      <p:sp>
        <p:nvSpPr>
          <p:cNvPr id="40" name="Shape 31"/>
          <p:cNvSpPr/>
          <p:nvPr/>
        </p:nvSpPr>
        <p:spPr>
          <a:xfrm>
            <a:off x="9020327" y="2898648"/>
            <a:ext cx="2622728" cy="896112"/>
          </a:xfrm>
          <a:prstGeom prst="roundRect">
            <a:avLst>
              <a:gd name="adj" fmla="val 7143"/>
            </a:avLst>
          </a:prstGeom>
          <a:solidFill>
            <a:srgbClr val="F3F6FC"/>
          </a:solidFill>
          <a:ln/>
        </p:spPr>
        <p:txBody>
          <a:bodyPr/>
          <a:p/>
        </p:txBody>
      </p:sp>
      <p:sp>
        <p:nvSpPr>
          <p:cNvPr id="41" name="Shape 32"/>
          <p:cNvSpPr/>
          <p:nvPr/>
        </p:nvSpPr>
        <p:spPr>
          <a:xfrm>
            <a:off x="9148343" y="3026664"/>
            <a:ext cx="310896" cy="310896"/>
          </a:xfrm>
          <a:prstGeom prst="ellipse">
            <a:avLst/>
          </a:prstGeom>
          <a:solidFill>
            <a:srgbClr val="0D1B3E"/>
          </a:solidFill>
          <a:ln/>
        </p:spPr>
        <p:txBody>
          <a:bodyPr/>
          <a:p/>
        </p:txBody>
      </p:sp>
      <p:pic>
        <p:nvPicPr>
          <p:cNvPr id="42" name="Image 7" descr="C:\Users\PC ANTONIO\AppData\Roaming\Claude\scratch-workspaces\f0f5d1bc-bf72-4611-a8ea-e50e459a0a45\08c0c592-3fff-44bf-a144-086c85aaeea0\scratch-2026-09-22-98642c\icons\bell.png">    </p:cNvPr>
          <p:cNvPicPr>
            <a:picLocks noChangeAspect="1"/>
          </p:cNvPicPr>
          <p:nvPr/>
        </p:nvPicPr>
        <p:blipFill>
          <a:blip r:embed="rId8"/>
          <a:stretch>
            <a:fillRect/>
          </a:stretch>
        </p:blipFill>
        <p:spPr>
          <a:xfrm>
            <a:off x="9216741" y="3095061"/>
            <a:ext cx="174102" cy="174102"/>
          </a:xfrm>
          <a:prstGeom prst="rect">
            <a:avLst/>
          </a:prstGeom>
        </p:spPr>
      </p:pic>
      <p:sp>
        <p:nvSpPr>
          <p:cNvPr id="43" name="Text 33"/>
          <p:cNvSpPr/>
          <p:nvPr/>
        </p:nvSpPr>
        <p:spPr>
          <a:xfrm>
            <a:off x="9148343"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Avisos e Lembretes</a:t>
            </a:r>
            <a:endParaRPr lang="en-US" sz="1050" dirty="0"/>
          </a:p>
        </p:txBody>
      </p:sp>
      <p:sp>
        <p:nvSpPr>
          <p:cNvPr id="44" name="Text 34"/>
          <p:cNvSpPr/>
          <p:nvPr/>
        </p:nvSpPr>
        <p:spPr>
          <a:xfrm>
            <a:off x="9148343"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Metas atingidas e tendências.</a:t>
            </a:r>
            <a:endParaRPr lang="en-US" sz="830" dirty="0"/>
          </a:p>
        </p:txBody>
      </p:sp>
      <p:sp>
        <p:nvSpPr>
          <p:cNvPr id="45" name="Shape 35"/>
          <p:cNvSpPr/>
          <p:nvPr/>
        </p:nvSpPr>
        <p:spPr>
          <a:xfrm>
            <a:off x="548640" y="3922776"/>
            <a:ext cx="2622728" cy="896112"/>
          </a:xfrm>
          <a:prstGeom prst="roundRect">
            <a:avLst>
              <a:gd name="adj" fmla="val 7143"/>
            </a:avLst>
          </a:prstGeom>
          <a:solidFill>
            <a:srgbClr val="F3F6FC"/>
          </a:solidFill>
          <a:ln/>
        </p:spPr>
        <p:txBody>
          <a:bodyPr/>
          <a:p/>
        </p:txBody>
      </p:sp>
      <p:sp>
        <p:nvSpPr>
          <p:cNvPr id="46" name="Shape 36"/>
          <p:cNvSpPr/>
          <p:nvPr/>
        </p:nvSpPr>
        <p:spPr>
          <a:xfrm>
            <a:off x="676656" y="4050792"/>
            <a:ext cx="310896" cy="310896"/>
          </a:xfrm>
          <a:prstGeom prst="ellipse">
            <a:avLst/>
          </a:prstGeom>
          <a:solidFill>
            <a:srgbClr val="0D1B3E"/>
          </a:solidFill>
          <a:ln/>
        </p:spPr>
        <p:txBody>
          <a:bodyPr/>
          <a:p/>
        </p:txBody>
      </p:sp>
      <p:pic>
        <p:nvPicPr>
          <p:cNvPr id="47" name="Image 8" descr="C:\Users\PC ANTONIO\AppData\Roaming\Claude\scratch-workspaces\f0f5d1bc-bf72-4611-a8ea-e50e459a0a45\08c0c592-3fff-44bf-a144-086c85aaeea0\scratch-2026-09-22-98642c\icons\whatsapp.png">    </p:cNvPr>
          <p:cNvPicPr>
            <a:picLocks noChangeAspect="1"/>
          </p:cNvPicPr>
          <p:nvPr/>
        </p:nvPicPr>
        <p:blipFill>
          <a:blip r:embed="rId9"/>
          <a:stretch>
            <a:fillRect/>
          </a:stretch>
        </p:blipFill>
        <p:spPr>
          <a:xfrm>
            <a:off x="745053" y="4119189"/>
            <a:ext cx="174102" cy="174102"/>
          </a:xfrm>
          <a:prstGeom prst="rect">
            <a:avLst/>
          </a:prstGeom>
        </p:spPr>
      </p:pic>
      <p:sp>
        <p:nvSpPr>
          <p:cNvPr id="48" name="Text 37"/>
          <p:cNvSpPr/>
          <p:nvPr/>
        </p:nvSpPr>
        <p:spPr>
          <a:xfrm>
            <a:off x="676656"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Mensagens WhatsApp</a:t>
            </a:r>
            <a:endParaRPr lang="en-US" sz="1050" dirty="0"/>
          </a:p>
        </p:txBody>
      </p:sp>
      <p:sp>
        <p:nvSpPr>
          <p:cNvPr id="49" name="Text 38"/>
          <p:cNvSpPr/>
          <p:nvPr/>
        </p:nvSpPr>
        <p:spPr>
          <a:xfrm>
            <a:off x="676656"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Recebidas pelo contato oficial.</a:t>
            </a:r>
            <a:endParaRPr lang="en-US" sz="830" dirty="0"/>
          </a:p>
        </p:txBody>
      </p:sp>
      <p:sp>
        <p:nvSpPr>
          <p:cNvPr id="50" name="Shape 39"/>
          <p:cNvSpPr/>
          <p:nvPr/>
        </p:nvSpPr>
        <p:spPr>
          <a:xfrm>
            <a:off x="3372536" y="3922776"/>
            <a:ext cx="2622728" cy="896112"/>
          </a:xfrm>
          <a:prstGeom prst="roundRect">
            <a:avLst>
              <a:gd name="adj" fmla="val 7143"/>
            </a:avLst>
          </a:prstGeom>
          <a:solidFill>
            <a:srgbClr val="F3F6FC"/>
          </a:solidFill>
          <a:ln/>
        </p:spPr>
        <p:txBody>
          <a:bodyPr/>
          <a:p/>
        </p:txBody>
      </p:sp>
      <p:sp>
        <p:nvSpPr>
          <p:cNvPr id="51" name="Shape 40"/>
          <p:cNvSpPr/>
          <p:nvPr/>
        </p:nvSpPr>
        <p:spPr>
          <a:xfrm>
            <a:off x="3500552" y="4050792"/>
            <a:ext cx="310896" cy="310896"/>
          </a:xfrm>
          <a:prstGeom prst="ellipse">
            <a:avLst/>
          </a:prstGeom>
          <a:solidFill>
            <a:srgbClr val="00D68F"/>
          </a:solidFill>
          <a:ln/>
        </p:spPr>
        <p:txBody>
          <a:bodyPr/>
          <a:p/>
        </p:txBody>
      </p:sp>
      <p:pic>
        <p:nvPicPr>
          <p:cNvPr id="52" name="Image 9" descr="C:\Users\PC ANTONIO\AppData\Roaming\Claude\scratch-workspaces\f0f5d1bc-bf72-4611-a8ea-e50e459a0a45\08c0c592-3fff-44bf-a144-086c85aaeea0\scratch-2026-09-22-98642c\icons\list.png">    </p:cNvPr>
          <p:cNvPicPr>
            <a:picLocks noChangeAspect="1"/>
          </p:cNvPicPr>
          <p:nvPr/>
        </p:nvPicPr>
        <p:blipFill>
          <a:blip r:embed="rId10"/>
          <a:stretch>
            <a:fillRect/>
          </a:stretch>
        </p:blipFill>
        <p:spPr>
          <a:xfrm>
            <a:off x="3568949" y="4119189"/>
            <a:ext cx="174102" cy="174102"/>
          </a:xfrm>
          <a:prstGeom prst="rect">
            <a:avLst/>
          </a:prstGeom>
        </p:spPr>
      </p:pic>
      <p:sp>
        <p:nvSpPr>
          <p:cNvPr id="53" name="Text 41"/>
          <p:cNvSpPr/>
          <p:nvPr/>
        </p:nvSpPr>
        <p:spPr>
          <a:xfrm>
            <a:off x="3500552"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Detalhes de Cotações</a:t>
            </a:r>
            <a:endParaRPr lang="en-US" sz="1050" dirty="0"/>
          </a:p>
        </p:txBody>
      </p:sp>
      <p:sp>
        <p:nvSpPr>
          <p:cNvPr id="54" name="Text 42"/>
          <p:cNvSpPr/>
          <p:nvPr/>
        </p:nvSpPr>
        <p:spPr>
          <a:xfrm>
            <a:off x="3500552"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Preço, volume e 52 semanas.</a:t>
            </a:r>
            <a:endParaRPr lang="en-US" sz="830" dirty="0"/>
          </a:p>
        </p:txBody>
      </p:sp>
      <p:sp>
        <p:nvSpPr>
          <p:cNvPr id="55" name="Shape 43"/>
          <p:cNvSpPr/>
          <p:nvPr/>
        </p:nvSpPr>
        <p:spPr>
          <a:xfrm>
            <a:off x="6196432" y="3922776"/>
            <a:ext cx="2622728" cy="896112"/>
          </a:xfrm>
          <a:prstGeom prst="roundRect">
            <a:avLst>
              <a:gd name="adj" fmla="val 7143"/>
            </a:avLst>
          </a:prstGeom>
          <a:solidFill>
            <a:srgbClr val="F3F6FC"/>
          </a:solidFill>
          <a:ln/>
        </p:spPr>
        <p:txBody>
          <a:bodyPr/>
          <a:p/>
        </p:txBody>
      </p:sp>
      <p:sp>
        <p:nvSpPr>
          <p:cNvPr id="56" name="Shape 44"/>
          <p:cNvSpPr/>
          <p:nvPr/>
        </p:nvSpPr>
        <p:spPr>
          <a:xfrm>
            <a:off x="6324448" y="4050792"/>
            <a:ext cx="310896" cy="310896"/>
          </a:xfrm>
          <a:prstGeom prst="ellipse">
            <a:avLst/>
          </a:prstGeom>
          <a:solidFill>
            <a:srgbClr val="0D1B3E"/>
          </a:solidFill>
          <a:ln/>
        </p:spPr>
        <p:txBody>
          <a:bodyPr/>
          <a:p/>
        </p:txBody>
      </p:sp>
      <p:pic>
        <p:nvPicPr>
          <p:cNvPr id="57" name="Image 10" descr="C:\Users\PC ANTONIO\AppData\Roaming\Claude\scratch-workspaces\f0f5d1bc-bf72-4611-a8ea-e50e459a0a45\08c0c592-3fff-44bf-a144-086c85aaeea0\scratch-2026-09-22-98642c\icons\building.png">    </p:cNvPr>
          <p:cNvPicPr>
            <a:picLocks noChangeAspect="1"/>
          </p:cNvPicPr>
          <p:nvPr/>
        </p:nvPicPr>
        <p:blipFill>
          <a:blip r:embed="rId11"/>
          <a:stretch>
            <a:fillRect/>
          </a:stretch>
        </p:blipFill>
        <p:spPr>
          <a:xfrm>
            <a:off x="6392845" y="4119189"/>
            <a:ext cx="174102" cy="174102"/>
          </a:xfrm>
          <a:prstGeom prst="rect">
            <a:avLst/>
          </a:prstGeom>
        </p:spPr>
      </p:pic>
      <p:sp>
        <p:nvSpPr>
          <p:cNvPr id="58" name="Text 45"/>
          <p:cNvSpPr/>
          <p:nvPr/>
        </p:nvSpPr>
        <p:spPr>
          <a:xfrm>
            <a:off x="6324448"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Ações da B3</a:t>
            </a:r>
            <a:endParaRPr lang="en-US" sz="1050" dirty="0"/>
          </a:p>
        </p:txBody>
      </p:sp>
      <p:sp>
        <p:nvSpPr>
          <p:cNvPr id="59" name="Text 46"/>
          <p:cNvSpPr/>
          <p:nvPr/>
        </p:nvSpPr>
        <p:spPr>
          <a:xfrm>
            <a:off x="6324448"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Catálogo completo de ações.</a:t>
            </a:r>
            <a:endParaRPr lang="en-US" sz="830" dirty="0"/>
          </a:p>
        </p:txBody>
      </p:sp>
      <p:sp>
        <p:nvSpPr>
          <p:cNvPr id="60" name="Shape 47"/>
          <p:cNvSpPr/>
          <p:nvPr/>
        </p:nvSpPr>
        <p:spPr>
          <a:xfrm>
            <a:off x="9020327" y="3922776"/>
            <a:ext cx="2622728" cy="896112"/>
          </a:xfrm>
          <a:prstGeom prst="roundRect">
            <a:avLst>
              <a:gd name="adj" fmla="val 7143"/>
            </a:avLst>
          </a:prstGeom>
          <a:solidFill>
            <a:srgbClr val="F3F6FC"/>
          </a:solidFill>
          <a:ln/>
        </p:spPr>
        <p:txBody>
          <a:bodyPr/>
          <a:p/>
        </p:txBody>
      </p:sp>
      <p:sp>
        <p:nvSpPr>
          <p:cNvPr id="61" name="Shape 48"/>
          <p:cNvSpPr/>
          <p:nvPr/>
        </p:nvSpPr>
        <p:spPr>
          <a:xfrm>
            <a:off x="9148343" y="4050792"/>
            <a:ext cx="310896" cy="310896"/>
          </a:xfrm>
          <a:prstGeom prst="ellipse">
            <a:avLst/>
          </a:prstGeom>
          <a:solidFill>
            <a:srgbClr val="0D1B3E"/>
          </a:solidFill>
          <a:ln/>
        </p:spPr>
        <p:txBody>
          <a:bodyPr/>
          <a:p/>
        </p:txBody>
      </p:sp>
      <p:pic>
        <p:nvPicPr>
          <p:cNvPr id="62" name="Image 11" descr="C:\Users\PC ANTONIO\AppData\Roaming\Claude\scratch-workspaces\f0f5d1bc-bf72-4611-a8ea-e50e459a0a45\08c0c592-3fff-44bf-a144-086c85aaeea0\scratch-2026-09-22-98642c\icons\news.png">    </p:cNvPr>
          <p:cNvPicPr>
            <a:picLocks noChangeAspect="1"/>
          </p:cNvPicPr>
          <p:nvPr/>
        </p:nvPicPr>
        <p:blipFill>
          <a:blip r:embed="rId12"/>
          <a:stretch>
            <a:fillRect/>
          </a:stretch>
        </p:blipFill>
        <p:spPr>
          <a:xfrm>
            <a:off x="9216741" y="4119189"/>
            <a:ext cx="174102" cy="174102"/>
          </a:xfrm>
          <a:prstGeom prst="rect">
            <a:avLst/>
          </a:prstGeom>
        </p:spPr>
      </p:pic>
      <p:sp>
        <p:nvSpPr>
          <p:cNvPr id="63" name="Text 49"/>
          <p:cNvSpPr/>
          <p:nvPr/>
        </p:nvSpPr>
        <p:spPr>
          <a:xfrm>
            <a:off x="9148343"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Notícias do Mercado</a:t>
            </a:r>
            <a:endParaRPr lang="en-US" sz="1050" dirty="0"/>
          </a:p>
        </p:txBody>
      </p:sp>
      <p:sp>
        <p:nvSpPr>
          <p:cNvPr id="64" name="Text 50"/>
          <p:cNvSpPr/>
          <p:nvPr/>
        </p:nvSpPr>
        <p:spPr>
          <a:xfrm>
            <a:off x="9148343"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Manchetes das fontes configuradas.</a:t>
            </a:r>
            <a:endParaRPr lang="en-US" sz="830" dirty="0"/>
          </a:p>
        </p:txBody>
      </p:sp>
      <p:sp>
        <p:nvSpPr>
          <p:cNvPr id="65" name="Shape 51"/>
          <p:cNvSpPr/>
          <p:nvPr/>
        </p:nvSpPr>
        <p:spPr>
          <a:xfrm>
            <a:off x="548640" y="4946904"/>
            <a:ext cx="2622728" cy="896112"/>
          </a:xfrm>
          <a:prstGeom prst="roundRect">
            <a:avLst>
              <a:gd name="adj" fmla="val 7143"/>
            </a:avLst>
          </a:prstGeom>
          <a:solidFill>
            <a:srgbClr val="F3F6FC"/>
          </a:solidFill>
          <a:ln/>
        </p:spPr>
        <p:txBody>
          <a:bodyPr/>
          <a:p/>
        </p:txBody>
      </p:sp>
      <p:sp>
        <p:nvSpPr>
          <p:cNvPr id="66" name="Shape 52"/>
          <p:cNvSpPr/>
          <p:nvPr/>
        </p:nvSpPr>
        <p:spPr>
          <a:xfrm>
            <a:off x="676656" y="5074920"/>
            <a:ext cx="310896" cy="310896"/>
          </a:xfrm>
          <a:prstGeom prst="ellipse">
            <a:avLst/>
          </a:prstGeom>
          <a:solidFill>
            <a:srgbClr val="00D68F"/>
          </a:solidFill>
          <a:ln/>
        </p:spPr>
        <p:txBody>
          <a:bodyPr/>
          <a:p/>
        </p:txBody>
      </p:sp>
      <p:pic>
        <p:nvPicPr>
          <p:cNvPr id="67" name="Image 12" descr="C:\Users\PC ANTONIO\AppData\Roaming\Claude\scratch-workspaces\f0f5d1bc-bf72-4611-a8ea-e50e459a0a45\08c0c592-3fff-44bf-a144-086c85aaeea0\scratch-2026-09-22-98642c\icons\tv.png">    </p:cNvPr>
          <p:cNvPicPr>
            <a:picLocks noChangeAspect="1"/>
          </p:cNvPicPr>
          <p:nvPr/>
        </p:nvPicPr>
        <p:blipFill>
          <a:blip r:embed="rId13"/>
          <a:stretch>
            <a:fillRect/>
          </a:stretch>
        </p:blipFill>
        <p:spPr>
          <a:xfrm>
            <a:off x="745053" y="5143317"/>
            <a:ext cx="174102" cy="174102"/>
          </a:xfrm>
          <a:prstGeom prst="rect">
            <a:avLst/>
          </a:prstGeom>
        </p:spPr>
      </p:pic>
      <p:sp>
        <p:nvSpPr>
          <p:cNvPr id="68" name="Text 53"/>
          <p:cNvSpPr/>
          <p:nvPr/>
        </p:nvSpPr>
        <p:spPr>
          <a:xfrm>
            <a:off x="676656"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TradingView</a:t>
            </a:r>
            <a:endParaRPr lang="en-US" sz="1050" dirty="0"/>
          </a:p>
        </p:txBody>
      </p:sp>
      <p:sp>
        <p:nvSpPr>
          <p:cNvPr id="69" name="Text 54"/>
          <p:cNvSpPr/>
          <p:nvPr/>
        </p:nvSpPr>
        <p:spPr>
          <a:xfrm>
            <a:off x="676656"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Gráfico avançado embutido.</a:t>
            </a:r>
            <a:endParaRPr lang="en-US" sz="830" dirty="0"/>
          </a:p>
        </p:txBody>
      </p:sp>
      <p:sp>
        <p:nvSpPr>
          <p:cNvPr id="70" name="Shape 55"/>
          <p:cNvSpPr/>
          <p:nvPr/>
        </p:nvSpPr>
        <p:spPr>
          <a:xfrm>
            <a:off x="3372536" y="4946904"/>
            <a:ext cx="2622728" cy="896112"/>
          </a:xfrm>
          <a:prstGeom prst="roundRect">
            <a:avLst>
              <a:gd name="adj" fmla="val 7143"/>
            </a:avLst>
          </a:prstGeom>
          <a:solidFill>
            <a:srgbClr val="F3F6FC"/>
          </a:solidFill>
          <a:ln/>
        </p:spPr>
        <p:txBody>
          <a:bodyPr/>
          <a:p/>
        </p:txBody>
      </p:sp>
      <p:sp>
        <p:nvSpPr>
          <p:cNvPr id="71" name="Shape 56"/>
          <p:cNvSpPr/>
          <p:nvPr/>
        </p:nvSpPr>
        <p:spPr>
          <a:xfrm>
            <a:off x="3500552" y="5074920"/>
            <a:ext cx="310896" cy="310896"/>
          </a:xfrm>
          <a:prstGeom prst="ellipse">
            <a:avLst/>
          </a:prstGeom>
          <a:solidFill>
            <a:srgbClr val="0D1B3E"/>
          </a:solidFill>
          <a:ln/>
        </p:spPr>
        <p:txBody>
          <a:bodyPr/>
          <a:p/>
        </p:txBody>
      </p:sp>
      <p:pic>
        <p:nvPicPr>
          <p:cNvPr id="72" name="Image 13" descr="C:\Users\PC ANTONIO\AppData\Roaming\Claude\scratch-workspaces\f0f5d1bc-bf72-4611-a8ea-e50e459a0a45\08c0c592-3fff-44bf-a144-086c85aaeea0\scratch-2026-09-22-98642c\icons\clock.png">    </p:cNvPr>
          <p:cNvPicPr>
            <a:picLocks noChangeAspect="1"/>
          </p:cNvPicPr>
          <p:nvPr/>
        </p:nvPicPr>
        <p:blipFill>
          <a:blip r:embed="rId14"/>
          <a:stretch>
            <a:fillRect/>
          </a:stretch>
        </p:blipFill>
        <p:spPr>
          <a:xfrm>
            <a:off x="3568949" y="5143317"/>
            <a:ext cx="174102" cy="174102"/>
          </a:xfrm>
          <a:prstGeom prst="rect">
            <a:avLst/>
          </a:prstGeom>
        </p:spPr>
      </p:pic>
      <p:sp>
        <p:nvSpPr>
          <p:cNvPr id="73" name="Text 57"/>
          <p:cNvSpPr/>
          <p:nvPr/>
        </p:nvSpPr>
        <p:spPr>
          <a:xfrm>
            <a:off x="3500552"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Histórico de Atualizações</a:t>
            </a:r>
            <a:endParaRPr lang="en-US" sz="1050" dirty="0"/>
          </a:p>
        </p:txBody>
      </p:sp>
      <p:sp>
        <p:nvSpPr>
          <p:cNvPr id="74" name="Text 58"/>
          <p:cNvSpPr/>
          <p:nvPr/>
        </p:nvSpPr>
        <p:spPr>
          <a:xfrm>
            <a:off x="3500552"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Registro de cada atualização.</a:t>
            </a:r>
            <a:endParaRPr lang="en-US" sz="830" dirty="0"/>
          </a:p>
        </p:txBody>
      </p:sp>
      <p:sp>
        <p:nvSpPr>
          <p:cNvPr id="75" name="Shape 59"/>
          <p:cNvSpPr/>
          <p:nvPr/>
        </p:nvSpPr>
        <p:spPr>
          <a:xfrm>
            <a:off x="6196432" y="4946904"/>
            <a:ext cx="2622728" cy="896112"/>
          </a:xfrm>
          <a:prstGeom prst="roundRect">
            <a:avLst>
              <a:gd name="adj" fmla="val 7143"/>
            </a:avLst>
          </a:prstGeom>
          <a:solidFill>
            <a:srgbClr val="F3F6FC"/>
          </a:solidFill>
          <a:ln/>
        </p:spPr>
        <p:txBody>
          <a:bodyPr/>
          <a:p/>
        </p:txBody>
      </p:sp>
      <p:sp>
        <p:nvSpPr>
          <p:cNvPr id="76" name="Shape 60"/>
          <p:cNvSpPr/>
          <p:nvPr/>
        </p:nvSpPr>
        <p:spPr>
          <a:xfrm>
            <a:off x="6324448" y="5074920"/>
            <a:ext cx="310896" cy="310896"/>
          </a:xfrm>
          <a:prstGeom prst="ellipse">
            <a:avLst/>
          </a:prstGeom>
          <a:solidFill>
            <a:srgbClr val="0D1B3E"/>
          </a:solidFill>
          <a:ln/>
        </p:spPr>
        <p:txBody>
          <a:bodyPr/>
          <a:p/>
        </p:txBody>
      </p:sp>
      <p:pic>
        <p:nvPicPr>
          <p:cNvPr id="77" name="Image 14" descr="C:\Users\PC ANTONIO\AppData\Roaming\Claude\scratch-workspaces\f0f5d1bc-bf72-4611-a8ea-e50e459a0a45\08c0c592-3fff-44bf-a144-086c85aaeea0\scratch-2026-09-22-98642c\icons\dollar.png">    </p:cNvPr>
          <p:cNvPicPr>
            <a:picLocks noChangeAspect="1"/>
          </p:cNvPicPr>
          <p:nvPr/>
        </p:nvPicPr>
        <p:blipFill>
          <a:blip r:embed="rId15"/>
          <a:stretch>
            <a:fillRect/>
          </a:stretch>
        </p:blipFill>
        <p:spPr>
          <a:xfrm>
            <a:off x="6392845" y="5143317"/>
            <a:ext cx="174102" cy="174102"/>
          </a:xfrm>
          <a:prstGeom prst="rect">
            <a:avLst/>
          </a:prstGeom>
        </p:spPr>
      </p:pic>
      <p:sp>
        <p:nvSpPr>
          <p:cNvPr id="78" name="Text 61"/>
          <p:cNvSpPr/>
          <p:nvPr/>
        </p:nvSpPr>
        <p:spPr>
          <a:xfrm>
            <a:off x="6324448"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Conta Corrente</a:t>
            </a:r>
            <a:endParaRPr lang="en-US" sz="1050" dirty="0"/>
          </a:p>
        </p:txBody>
      </p:sp>
      <p:sp>
        <p:nvSpPr>
          <p:cNvPr id="79" name="Text 62"/>
          <p:cNvSpPr/>
          <p:nvPr/>
        </p:nvSpPr>
        <p:spPr>
          <a:xfrm>
            <a:off x="6324448"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Saldo, débitos e créditos.</a:t>
            </a:r>
            <a:endParaRPr lang="en-US" sz="830" dirty="0"/>
          </a:p>
        </p:txBody>
      </p:sp>
      <p:sp>
        <p:nvSpPr>
          <p:cNvPr id="80" name="Shape 63"/>
          <p:cNvSpPr/>
          <p:nvPr/>
        </p:nvSpPr>
        <p:spPr>
          <a:xfrm>
            <a:off x="9020327" y="4946904"/>
            <a:ext cx="2622728" cy="896112"/>
          </a:xfrm>
          <a:prstGeom prst="roundRect">
            <a:avLst>
              <a:gd name="adj" fmla="val 7143"/>
            </a:avLst>
          </a:prstGeom>
          <a:solidFill>
            <a:srgbClr val="F3F6FC"/>
          </a:solidFill>
          <a:ln/>
        </p:spPr>
        <p:txBody>
          <a:bodyPr/>
          <a:p/>
        </p:txBody>
      </p:sp>
      <p:sp>
        <p:nvSpPr>
          <p:cNvPr id="81" name="Shape 64"/>
          <p:cNvSpPr/>
          <p:nvPr/>
        </p:nvSpPr>
        <p:spPr>
          <a:xfrm>
            <a:off x="9148343" y="5074920"/>
            <a:ext cx="310896" cy="310896"/>
          </a:xfrm>
          <a:prstGeom prst="ellipse">
            <a:avLst/>
          </a:prstGeom>
          <a:solidFill>
            <a:srgbClr val="00D68F"/>
          </a:solidFill>
          <a:ln/>
        </p:spPr>
        <p:txBody>
          <a:bodyPr/>
          <a:p/>
        </p:txBody>
      </p:sp>
      <p:pic>
        <p:nvPicPr>
          <p:cNvPr id="82" name="Image 15" descr="C:\Users\PC ANTONIO\AppData\Roaming\Claude\scratch-workspaces\f0f5d1bc-bf72-4611-a8ea-e50e459a0a45\08c0c592-3fff-44bf-a144-086c85aaeea0\scratch-2026-09-22-98642c\icons\activity.png">    </p:cNvPr>
          <p:cNvPicPr>
            <a:picLocks noChangeAspect="1"/>
          </p:cNvPicPr>
          <p:nvPr/>
        </p:nvPicPr>
        <p:blipFill>
          <a:blip r:embed="rId16"/>
          <a:stretch>
            <a:fillRect/>
          </a:stretch>
        </p:blipFill>
        <p:spPr>
          <a:xfrm>
            <a:off x="9216741" y="5143317"/>
            <a:ext cx="174102" cy="174102"/>
          </a:xfrm>
          <a:prstGeom prst="rect">
            <a:avLst/>
          </a:prstGeom>
        </p:spPr>
      </p:pic>
      <p:sp>
        <p:nvSpPr>
          <p:cNvPr id="83" name="Text 65"/>
          <p:cNvSpPr/>
          <p:nvPr/>
        </p:nvSpPr>
        <p:spPr>
          <a:xfrm>
            <a:off x="9148343"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Scanner Técnico</a:t>
            </a:r>
            <a:endParaRPr lang="en-US" sz="1050" dirty="0"/>
          </a:p>
        </p:txBody>
      </p:sp>
      <p:sp>
        <p:nvSpPr>
          <p:cNvPr id="84" name="Text 66"/>
          <p:cNvSpPr/>
          <p:nvPr/>
        </p:nvSpPr>
        <p:spPr>
          <a:xfrm>
            <a:off x="9148343"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Indicadores combinados por ativo.</a:t>
            </a:r>
            <a:endParaRPr lang="en-US" sz="830" dirty="0"/>
          </a:p>
        </p:txBody>
      </p:sp>
      <p:sp>
        <p:nvSpPr>
          <p:cNvPr id="85" name="Text 6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86" name="Text 6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03.1  COMANDO DE VOZ</a:t>
            </a:r>
            <a:pPr indent="0" marL="0">
              <a:buNone/>
            </a:pP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Comando de voz em português</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2"/>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Botão 🎤 no cabeçalho</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Clique no 🎤 (ou Ctrl+Espaço) e fale um comando. O botão pulsa em vermelho enquanto escuta e um balão mostra o que foi entendido.</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3"/>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Navegar falando</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"posições", "operações", "nova operação", "alertas", "notícias", "qualidade", "conta corrente", "cripto", "scanner", "menu", "voltar"...</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4"/>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Atualizar</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"atualizar cotações", "atualizar cripto" e "atualizar notícias" — o mesmo efeito dos botões.</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Consultar uma cotação</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"cotação de PETR4" ou "preço do BOVA 11" abrem Detalhes de Cotações já pesquisando o ticker.</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Dicas e requisitos</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6"/>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Diga "ajuda"</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O balão lista os comandos disponíveis. Se a frase não for reconhecida, o sistema avisa e nada é executado.</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7"/>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Chrome ou Edge, com microfone</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Permitir o microfone na 1ª vez; fora do computador local o site precisa estar em HTTPS. No Firefox o botão não aparece.</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04  </a:t>
            </a:r>
            <a:pPr indent="0" marL="0">
              <a:buNone/>
            </a:pPr>
            <a:r>
              <a:rPr lang="en-US" sz="1250" b="1" spc="200" kern="0" dirty="0">
                <a:solidFill>
                  <a:srgbClr val="00D68F"/>
                </a:solidFill>
                <a:latin typeface="Calibri" pitchFamily="34" charset="0"/>
                <a:ea typeface="Calibri" pitchFamily="34" charset="-122"/>
                <a:cs typeface="Calibri" pitchFamily="34" charset="-120"/>
              </a:rPr>
              <a:t>DASHBOARD</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Painel de controle</a:t>
            </a:r>
            <a:endParaRPr lang="en-US" sz="3000" dirty="0"/>
          </a:p>
        </p:txBody>
      </p:sp>
      <p:sp>
        <p:nvSpPr>
          <p:cNvPr id="4" name="Text 2"/>
          <p:cNvSpPr/>
          <p:nvPr/>
        </p:nvSpPr>
        <p:spPr>
          <a:xfrm>
            <a:off x="548640" y="1371600"/>
            <a:ext cx="8229600" cy="320040"/>
          </a:xfrm>
          <a:prstGeom prst="rect">
            <a:avLst/>
          </a:prstGeom>
          <a:noFill/>
          <a:ln/>
        </p:spPr>
        <p:txBody>
          <a:bodyPr wrap="square" lIns="0" tIns="0" rIns="0" bIns="0" rtlCol="0" anchor="ctr"/>
          <a:lstStyle/>
          <a:p>
            <a:pPr indent="0" marL="0">
              <a:buNone/>
            </a:pPr>
            <a:r>
              <a:rPr lang="en-US" sz="1200" dirty="0">
                <a:solidFill>
                  <a:srgbClr val="40496B"/>
                </a:solidFill>
                <a:latin typeface="Calibri" pitchFamily="34" charset="0"/>
                <a:ea typeface="Calibri" pitchFamily="34" charset="-122"/>
                <a:cs typeface="Calibri" pitchFamily="34" charset="-120"/>
              </a:rPr>
              <a:t>Tela inicial após o login — visão consolidada e rápida da carteira.</a:t>
            </a:r>
            <a:endParaRPr lang="en-US" sz="1200" dirty="0"/>
          </a:p>
        </p:txBody>
      </p:sp>
      <p:sp>
        <p:nvSpPr>
          <p:cNvPr id="5" name="Text 3"/>
          <p:cNvSpPr/>
          <p:nvPr/>
        </p:nvSpPr>
        <p:spPr>
          <a:xfrm>
            <a:off x="548640" y="1783080"/>
            <a:ext cx="54864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Cartões de resumo</a:t>
            </a:r>
            <a:endParaRPr lang="en-US" sz="1350" dirty="0"/>
          </a:p>
        </p:txBody>
      </p:sp>
      <p:sp>
        <p:nvSpPr>
          <p:cNvPr id="6" name="Shape 4"/>
          <p:cNvSpPr/>
          <p:nvPr/>
        </p:nvSpPr>
        <p:spPr>
          <a:xfrm>
            <a:off x="548640" y="2148840"/>
            <a:ext cx="2602154" cy="960120"/>
          </a:xfrm>
          <a:prstGeom prst="roundRect">
            <a:avLst>
              <a:gd name="adj" fmla="val 7619"/>
            </a:avLst>
          </a:prstGeom>
          <a:solidFill>
            <a:srgbClr val="F3F6FC"/>
          </a:solidFill>
          <a:ln/>
        </p:spPr>
        <p:txBody>
          <a:bodyPr/>
          <a:p/>
        </p:txBody>
      </p:sp>
      <p:sp>
        <p:nvSpPr>
          <p:cNvPr id="7" name="Text 5"/>
          <p:cNvSpPr/>
          <p:nvPr/>
        </p:nvSpPr>
        <p:spPr>
          <a:xfrm>
            <a:off x="694944"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Ativos em carteira</a:t>
            </a:r>
            <a:endParaRPr lang="en-US" sz="1450" dirty="0"/>
          </a:p>
        </p:txBody>
      </p:sp>
      <p:sp>
        <p:nvSpPr>
          <p:cNvPr id="8" name="Text 6"/>
          <p:cNvSpPr/>
          <p:nvPr/>
        </p:nvSpPr>
        <p:spPr>
          <a:xfrm>
            <a:off x="694944"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Nº de tickers comprados</a:t>
            </a:r>
            <a:endParaRPr lang="en-US" sz="950" dirty="0"/>
          </a:p>
        </p:txBody>
      </p:sp>
      <p:sp>
        <p:nvSpPr>
          <p:cNvPr id="9" name="Shape 7"/>
          <p:cNvSpPr/>
          <p:nvPr/>
        </p:nvSpPr>
        <p:spPr>
          <a:xfrm>
            <a:off x="3379394" y="2148840"/>
            <a:ext cx="2602154" cy="960120"/>
          </a:xfrm>
          <a:prstGeom prst="roundRect">
            <a:avLst>
              <a:gd name="adj" fmla="val 7619"/>
            </a:avLst>
          </a:prstGeom>
          <a:solidFill>
            <a:srgbClr val="F3F6FC"/>
          </a:solidFill>
          <a:ln/>
        </p:spPr>
        <p:txBody>
          <a:bodyPr/>
          <a:p/>
        </p:txBody>
      </p:sp>
      <p:sp>
        <p:nvSpPr>
          <p:cNvPr id="10" name="Text 8"/>
          <p:cNvSpPr/>
          <p:nvPr/>
        </p:nvSpPr>
        <p:spPr>
          <a:xfrm>
            <a:off x="3525698"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Valor investido</a:t>
            </a:r>
            <a:endParaRPr lang="en-US" sz="1450" dirty="0"/>
          </a:p>
        </p:txBody>
      </p:sp>
      <p:sp>
        <p:nvSpPr>
          <p:cNvPr id="11" name="Text 9"/>
          <p:cNvSpPr/>
          <p:nvPr/>
        </p:nvSpPr>
        <p:spPr>
          <a:xfrm>
            <a:off x="3525698"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Capital aplicado</a:t>
            </a:r>
            <a:endParaRPr lang="en-US" sz="950" dirty="0"/>
          </a:p>
        </p:txBody>
      </p:sp>
      <p:sp>
        <p:nvSpPr>
          <p:cNvPr id="12" name="Shape 10"/>
          <p:cNvSpPr/>
          <p:nvPr/>
        </p:nvSpPr>
        <p:spPr>
          <a:xfrm>
            <a:off x="6210148" y="2148840"/>
            <a:ext cx="2602154" cy="960120"/>
          </a:xfrm>
          <a:prstGeom prst="roundRect">
            <a:avLst>
              <a:gd name="adj" fmla="val 7619"/>
            </a:avLst>
          </a:prstGeom>
          <a:solidFill>
            <a:srgbClr val="F3F6FC"/>
          </a:solidFill>
          <a:ln/>
        </p:spPr>
        <p:txBody>
          <a:bodyPr/>
          <a:p/>
        </p:txBody>
      </p:sp>
      <p:sp>
        <p:nvSpPr>
          <p:cNvPr id="13" name="Text 11"/>
          <p:cNvSpPr/>
          <p:nvPr/>
        </p:nvSpPr>
        <p:spPr>
          <a:xfrm>
            <a:off x="6356452"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Valor atual</a:t>
            </a:r>
            <a:endParaRPr lang="en-US" sz="1450" dirty="0"/>
          </a:p>
        </p:txBody>
      </p:sp>
      <p:sp>
        <p:nvSpPr>
          <p:cNvPr id="14" name="Text 12"/>
          <p:cNvSpPr/>
          <p:nvPr/>
        </p:nvSpPr>
        <p:spPr>
          <a:xfrm>
            <a:off x="6356452"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Valor de mercado hoje</a:t>
            </a:r>
            <a:endParaRPr lang="en-US" sz="950" dirty="0"/>
          </a:p>
        </p:txBody>
      </p:sp>
      <p:sp>
        <p:nvSpPr>
          <p:cNvPr id="15" name="Shape 13"/>
          <p:cNvSpPr/>
          <p:nvPr/>
        </p:nvSpPr>
        <p:spPr>
          <a:xfrm>
            <a:off x="9040901" y="2148840"/>
            <a:ext cx="2602154" cy="960120"/>
          </a:xfrm>
          <a:prstGeom prst="roundRect">
            <a:avLst>
              <a:gd name="adj" fmla="val 7619"/>
            </a:avLst>
          </a:prstGeom>
          <a:solidFill>
            <a:srgbClr val="F3F6FC"/>
          </a:solidFill>
          <a:ln/>
        </p:spPr>
        <p:txBody>
          <a:bodyPr/>
          <a:p/>
        </p:txBody>
      </p:sp>
      <p:sp>
        <p:nvSpPr>
          <p:cNvPr id="16" name="Text 14"/>
          <p:cNvSpPr/>
          <p:nvPr/>
        </p:nvSpPr>
        <p:spPr>
          <a:xfrm>
            <a:off x="9187205"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0D68F"/>
                </a:solidFill>
                <a:latin typeface="Calibri" pitchFamily="34" charset="0"/>
                <a:ea typeface="Calibri" pitchFamily="34" charset="-122"/>
                <a:cs typeface="Calibri" pitchFamily="34" charset="-120"/>
              </a:rPr>
              <a:t>Lucro / Perda</a:t>
            </a:r>
            <a:endParaRPr lang="en-US" sz="1450" dirty="0"/>
          </a:p>
        </p:txBody>
      </p:sp>
      <p:sp>
        <p:nvSpPr>
          <p:cNvPr id="17" name="Text 15"/>
          <p:cNvSpPr/>
          <p:nvPr/>
        </p:nvSpPr>
        <p:spPr>
          <a:xfrm>
            <a:off x="9187205"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R$ e % consolidado</a:t>
            </a:r>
            <a:endParaRPr lang="en-US" sz="950" dirty="0"/>
          </a:p>
        </p:txBody>
      </p:sp>
      <p:sp>
        <p:nvSpPr>
          <p:cNvPr id="18" name="Shape 16"/>
          <p:cNvSpPr/>
          <p:nvPr/>
        </p:nvSpPr>
        <p:spPr>
          <a:xfrm>
            <a:off x="548640" y="3337560"/>
            <a:ext cx="5364328" cy="2651760"/>
          </a:xfrm>
          <a:prstGeom prst="roundRect">
            <a:avLst>
              <a:gd name="adj" fmla="val 310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9" name="Shape 17"/>
          <p:cNvSpPr/>
          <p:nvPr/>
        </p:nvSpPr>
        <p:spPr>
          <a:xfrm>
            <a:off x="804672" y="3575304"/>
            <a:ext cx="457200" cy="457200"/>
          </a:xfrm>
          <a:prstGeom prst="ellipse">
            <a:avLst/>
          </a:prstGeom>
          <a:solidFill>
            <a:srgbClr val="0D1B3E"/>
          </a:solidFill>
          <a:ln/>
        </p:spPr>
        <p:txBody>
          <a:bodyPr/>
          <a:p/>
        </p:txBody>
      </p:sp>
      <p:pic>
        <p:nvPicPr>
          <p:cNvPr id="20"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3694176"/>
            <a:ext cx="219456" cy="219456"/>
          </a:xfrm>
          <a:prstGeom prst="rect">
            <a:avLst/>
          </a:prstGeom>
        </p:spPr>
      </p:pic>
      <p:sp>
        <p:nvSpPr>
          <p:cNvPr id="21" name="Text 18"/>
          <p:cNvSpPr/>
          <p:nvPr/>
        </p:nvSpPr>
        <p:spPr>
          <a:xfrm>
            <a:off x="1426464" y="352044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Sua carteira x mercado</a:t>
            </a:r>
            <a:endParaRPr lang="en-US" sz="1450" dirty="0"/>
          </a:p>
        </p:txBody>
      </p:sp>
      <p:sp>
        <p:nvSpPr>
          <p:cNvPr id="22" name="Text 19"/>
          <p:cNvSpPr/>
          <p:nvPr/>
        </p:nvSpPr>
        <p:spPr>
          <a:xfrm>
            <a:off x="804672" y="4160520"/>
            <a:ext cx="4852264" cy="166420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Compara o retorno percentual da carteira comprada com o Ibovespa e o CDI, do início da posição mais antiga (limite de 90 dias) até hoje — responde se valeu a pena operar ativamente. Quando faltam dados, um botão de atualização busca o histórico mais recente das duas referências.</a:t>
            </a:r>
            <a:endParaRPr lang="en-US" sz="1100" dirty="0"/>
          </a:p>
        </p:txBody>
      </p:sp>
      <p:sp>
        <p:nvSpPr>
          <p:cNvPr id="23" name="Shape 20"/>
          <p:cNvSpPr/>
          <p:nvPr/>
        </p:nvSpPr>
        <p:spPr>
          <a:xfrm>
            <a:off x="6278728" y="3337560"/>
            <a:ext cx="5364328"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4" name="Shape 21"/>
          <p:cNvSpPr/>
          <p:nvPr/>
        </p:nvSpPr>
        <p:spPr>
          <a:xfrm>
            <a:off x="6534760" y="3575304"/>
            <a:ext cx="310896" cy="310896"/>
          </a:xfrm>
          <a:prstGeom prst="ellipse">
            <a:avLst/>
          </a:prstGeom>
          <a:solidFill>
            <a:srgbClr val="00D68F"/>
          </a:solidFill>
          <a:ln/>
        </p:spPr>
        <p:txBody>
          <a:bodyPr/>
          <a:p/>
        </p:txBody>
      </p:sp>
      <p:pic>
        <p:nvPicPr>
          <p:cNvPr id="25" name="Image 1" descr="C:\Users\PC ANTONIO\AppData\Roaming\Claude\scratch-workspaces\f0f5d1bc-bf72-4611-a8ea-e50e459a0a45\08c0c592-3fff-44bf-a144-086c85aaeea0\scratch-2026-09-22-98642c\icons\zap.png">    </p:cNvPr>
          <p:cNvPicPr>
            <a:picLocks noChangeAspect="1"/>
          </p:cNvPicPr>
          <p:nvPr/>
        </p:nvPicPr>
        <p:blipFill>
          <a:blip r:embed="rId2"/>
          <a:stretch>
            <a:fillRect/>
          </a:stretch>
        </p:blipFill>
        <p:spPr>
          <a:xfrm>
            <a:off x="6615593" y="3656137"/>
            <a:ext cx="149230" cy="149230"/>
          </a:xfrm>
          <a:prstGeom prst="rect">
            <a:avLst/>
          </a:prstGeom>
        </p:spPr>
      </p:pic>
      <p:sp>
        <p:nvSpPr>
          <p:cNvPr id="26" name="Text 22"/>
          <p:cNvSpPr/>
          <p:nvPr/>
        </p:nvSpPr>
        <p:spPr>
          <a:xfrm>
            <a:off x="7010248" y="3520440"/>
            <a:ext cx="4404208"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Ações rápidas</a:t>
            </a:r>
            <a:endParaRPr lang="en-US" sz="1450" dirty="0"/>
          </a:p>
        </p:txBody>
      </p:sp>
      <p:sp>
        <p:nvSpPr>
          <p:cNvPr id="27" name="Text 23"/>
          <p:cNvSpPr/>
          <p:nvPr/>
        </p:nvSpPr>
        <p:spPr>
          <a:xfrm>
            <a:off x="6534760" y="4014216"/>
            <a:ext cx="4852264" cy="39319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Atalhos: + Nova compra/venda, Ver posições, Atualizar cotações, Ver análise de mercado, Histórico e gráficos, Notícias.</a:t>
            </a:r>
            <a:endParaRPr lang="en-US" sz="1100" dirty="0"/>
          </a:p>
        </p:txBody>
      </p:sp>
      <p:sp>
        <p:nvSpPr>
          <p:cNvPr id="28" name="Shape 24"/>
          <p:cNvSpPr/>
          <p:nvPr/>
        </p:nvSpPr>
        <p:spPr>
          <a:xfrm>
            <a:off x="6278728" y="470916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9" name="Shape 25"/>
          <p:cNvSpPr/>
          <p:nvPr/>
        </p:nvSpPr>
        <p:spPr>
          <a:xfrm>
            <a:off x="6534760" y="4946904"/>
            <a:ext cx="310896" cy="310896"/>
          </a:xfrm>
          <a:prstGeom prst="ellipse">
            <a:avLst/>
          </a:prstGeom>
          <a:solidFill>
            <a:srgbClr val="0D1B3E"/>
          </a:solidFill>
          <a:ln/>
        </p:spPr>
        <p:txBody>
          <a:bodyPr/>
          <a:p/>
        </p:txBody>
      </p:sp>
      <p:pic>
        <p:nvPicPr>
          <p:cNvPr id="30" name="Image 2" descr="C:\Users\PC ANTONIO\AppData\Roaming\Claude\scratch-workspaces\f0f5d1bc-bf72-4611-a8ea-e50e459a0a45\08c0c592-3fff-44bf-a144-086c85aaeea0\scratch-2026-09-22-98642c\icons\list.png">    </p:cNvPr>
          <p:cNvPicPr>
            <a:picLocks noChangeAspect="1"/>
          </p:cNvPicPr>
          <p:nvPr/>
        </p:nvPicPr>
        <p:blipFill>
          <a:blip r:embed="rId3"/>
          <a:stretch>
            <a:fillRect/>
          </a:stretch>
        </p:blipFill>
        <p:spPr>
          <a:xfrm>
            <a:off x="6615593" y="5027737"/>
            <a:ext cx="149230" cy="149230"/>
          </a:xfrm>
          <a:prstGeom prst="rect">
            <a:avLst/>
          </a:prstGeom>
        </p:spPr>
      </p:pic>
      <p:sp>
        <p:nvSpPr>
          <p:cNvPr id="31" name="Text 26"/>
          <p:cNvSpPr/>
          <p:nvPr/>
        </p:nvSpPr>
        <p:spPr>
          <a:xfrm>
            <a:off x="7010248" y="4892040"/>
            <a:ext cx="4404208"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Posições em carteira (resumo)</a:t>
            </a:r>
            <a:endParaRPr lang="en-US" sz="1450" dirty="0"/>
          </a:p>
        </p:txBody>
      </p:sp>
      <p:sp>
        <p:nvSpPr>
          <p:cNvPr id="32" name="Text 27"/>
          <p:cNvSpPr/>
          <p:nvPr/>
        </p:nvSpPr>
        <p:spPr>
          <a:xfrm>
            <a:off x="6534760" y="5385816"/>
            <a:ext cx="4852264"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Tabela compacta com selos visuais: 🔖 Reservado, 🤖 Robô (posição automática) e 🎯 Meta atingida — vender.</a:t>
            </a:r>
            <a:endParaRPr lang="en-US" sz="1100" dirty="0"/>
          </a:p>
        </p:txBody>
      </p:sp>
      <p:sp>
        <p:nvSpPr>
          <p:cNvPr id="33" name="Text 2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  </a:t>
            </a:r>
            <a:pPr indent="0" marL="0">
              <a:buNone/>
            </a:pPr>
            <a:r>
              <a:rPr lang="en-US" sz="1250" b="1" spc="200" kern="0" dirty="0">
                <a:solidFill>
                  <a:srgbClr val="00D68F"/>
                </a:solidFill>
                <a:latin typeface="Calibri" pitchFamily="34" charset="0"/>
                <a:ea typeface="Calibri" pitchFamily="34" charset="-122"/>
                <a:cs typeface="Calibri" pitchFamily="34" charset="-120"/>
              </a:rPr>
              <a:t>MINHAS OPERAÇÕES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Registrar uma nova compra ou reserva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Tela central para registrar e consultar compras, vendas e reservas, organizadas em três abas: Em carteira, Reservadas e Vendidas. Clique em "+ Nova compra/reserva" e preencha:</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94415" cy="914400"/>
        </p:xfrm>
        <a:graphic>
          <a:graphicData uri="http://schemas.openxmlformats.org/drawingml/2006/table">
            <a:tbl>
              <a:tblPr/>
              <a:tblGrid>
                <a:gridCol w="2926080"/>
                <a:gridCol w="8168335"/>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Descrição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Tipo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Compra (já efetivada) ou Reservar (intenção futura).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Ticker do ativo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Código da ação na B3 (ex.: PETR4, VALE3, ITUB4).</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Quantidade</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Nº de ações. Em Reservar, fica limitada a 1.</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Preço unitário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Preço pago ou pretendido, em R$. Opcional: Taxas da compra (nota de corretagem).</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Meta de lucro / perda (%)</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Opcional. Dispara alerta de meta atingida.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4343400"/>
            <a:ext cx="11094415" cy="777240"/>
          </a:xfrm>
          <a:prstGeom prst="roundRect">
            <a:avLst>
              <a:gd name="adj" fmla="val 9412"/>
            </a:avLst>
          </a:prstGeom>
          <a:solidFill>
            <a:srgbClr val="FFF4E5"/>
          </a:solidFill>
          <a:ln/>
        </p:spPr>
        <p:txBody>
          <a:bodyPr/>
          <a:p/>
        </p:txBody>
      </p:sp>
      <p:sp>
        <p:nvSpPr>
          <p:cNvPr id="7" name="Shape 4"/>
          <p:cNvSpPr/>
          <p:nvPr/>
        </p:nvSpPr>
        <p:spPr>
          <a:xfrm>
            <a:off x="731520" y="4567428"/>
            <a:ext cx="329184" cy="329184"/>
          </a:xfrm>
          <a:prstGeom prst="ellipse">
            <a:avLst/>
          </a:prstGeom>
          <a:solidFill>
            <a:srgbClr val="F5A623"/>
          </a:solidFill>
          <a:ln/>
        </p:spPr>
        <p:txBody>
          <a:bodyPr/>
          <a:p/>
        </p:txBody>
      </p:sp>
      <p:pic>
        <p:nvPicPr>
          <p:cNvPr id="8" name="Image 0" descr="C:\Users\PC ANTONIO\AppData\Roaming\Claude\scratch-workspaces\f0f5d1bc-bf72-4611-a8ea-e50e459a0a45\08c0c592-3fff-44bf-a144-086c85aaeea0\scratch-2026-09-22-98642c\icons\alert.png">    </p:cNvPr>
          <p:cNvPicPr>
            <a:picLocks noChangeAspect="1"/>
          </p:cNvPicPr>
          <p:nvPr/>
        </p:nvPicPr>
        <p:blipFill>
          <a:blip r:embed="rId1"/>
          <a:stretch>
            <a:fillRect/>
          </a:stretch>
        </p:blipFill>
        <p:spPr>
          <a:xfrm>
            <a:off x="803940" y="4639848"/>
            <a:ext cx="184343" cy="184343"/>
          </a:xfrm>
          <a:prstGeom prst="rect">
            <a:avLst/>
          </a:prstGeom>
        </p:spPr>
      </p:pic>
      <p:sp>
        <p:nvSpPr>
          <p:cNvPr id="9" name="Text 5"/>
          <p:cNvSpPr/>
          <p:nvPr/>
        </p:nvSpPr>
        <p:spPr>
          <a:xfrm>
            <a:off x="1225296" y="4434840"/>
            <a:ext cx="10234879" cy="59436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sistema tem um limite configurável de ativos DIFERENTES comprados ao mesmo tempo (padrão: 10). O limite vale só para compra de verdade — registrar uma reserva não consome essa cota.</a:t>
            </a:r>
            <a:endParaRPr lang="en-US" sz="1050" dirty="0"/>
          </a:p>
        </p:txBody>
      </p:sp>
      <p:sp>
        <p:nvSpPr>
          <p:cNvPr id="10" name="Shape 6"/>
          <p:cNvSpPr/>
          <p:nvPr/>
        </p:nvSpPr>
        <p:spPr>
          <a:xfrm>
            <a:off x="548640" y="5257800"/>
            <a:ext cx="11094415" cy="1143000"/>
          </a:xfrm>
          <a:prstGeom prst="roundRect">
            <a:avLst>
              <a:gd name="adj" fmla="val 72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7"/>
          <p:cNvSpPr/>
          <p:nvPr/>
        </p:nvSpPr>
        <p:spPr>
          <a:xfrm>
            <a:off x="804672" y="5495544"/>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885505" y="5576377"/>
            <a:ext cx="149230" cy="149230"/>
          </a:xfrm>
          <a:prstGeom prst="rect">
            <a:avLst/>
          </a:prstGeom>
        </p:spPr>
      </p:pic>
      <p:sp>
        <p:nvSpPr>
          <p:cNvPr id="13" name="Text 8"/>
          <p:cNvSpPr/>
          <p:nvPr/>
        </p:nvSpPr>
        <p:spPr>
          <a:xfrm>
            <a:off x="1280160" y="544068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Efetivar uma reserva como compra</a:t>
            </a:r>
            <a:endParaRPr lang="en-US" sz="1350" dirty="0"/>
          </a:p>
        </p:txBody>
      </p:sp>
      <p:sp>
        <p:nvSpPr>
          <p:cNvPr id="14" name="Text 9"/>
          <p:cNvSpPr/>
          <p:nvPr/>
        </p:nvSpPr>
        <p:spPr>
          <a:xfrm>
            <a:off x="804672" y="5934456"/>
            <a:ext cx="10582351" cy="30175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Na aba Reservadas, o botão de efetivar permite ajustar quantidade, preço e data — eles podem diferir do planejado, pois o preço de mercado muda com o tempo. O mesmo limite de ativos diferentes se aplica aqui.</a:t>
            </a:r>
            <a:endParaRPr lang="en-US" sz="1050" dirty="0"/>
          </a:p>
        </p:txBody>
      </p:sp>
      <p:sp>
        <p:nvSpPr>
          <p:cNvPr id="15" name="Text 1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6" name="Text 11"/>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  </a:t>
            </a:r>
            <a:pPr indent="0" marL="0">
              <a:buNone/>
            </a:pPr>
            <a:r>
              <a:rPr lang="en-US" sz="1250" b="1" spc="200" kern="0" dirty="0">
                <a:solidFill>
                  <a:srgbClr val="00D68F"/>
                </a:solidFill>
                <a:latin typeface="Calibri" pitchFamily="34" charset="0"/>
                <a:ea typeface="Calibri" pitchFamily="34" charset="-122"/>
                <a:cs typeface="Calibri" pitchFamily="34" charset="-120"/>
              </a:rPr>
              <a:t>MINHAS OPERAÇÕES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Vender, editar e filtrar operações</a:t>
            </a:r>
            <a:endParaRPr lang="en-US" sz="3000" dirty="0"/>
          </a:p>
        </p:txBody>
      </p:sp>
      <p:sp>
        <p:nvSpPr>
          <p:cNvPr id="4" name="Shape 2"/>
          <p:cNvSpPr/>
          <p:nvPr/>
        </p:nvSpPr>
        <p:spPr>
          <a:xfrm>
            <a:off x="548640" y="1463040"/>
            <a:ext cx="5364328" cy="2148840"/>
          </a:xfrm>
          <a:prstGeom prst="roundRect">
            <a:avLst>
              <a:gd name="adj" fmla="val 383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dollar.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Vender um lote (total ou parcial)</a:t>
            </a:r>
            <a:endParaRPr lang="en-US" sz="1400" dirty="0"/>
          </a:p>
        </p:txBody>
      </p:sp>
      <p:sp>
        <p:nvSpPr>
          <p:cNvPr id="8" name="Text 5"/>
          <p:cNvSpPr/>
          <p:nvPr/>
        </p:nvSpPr>
        <p:spPr>
          <a:xfrm>
            <a:off x="804672" y="2286000"/>
            <a:ext cx="4852264" cy="11612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Na aba Em carteira, é possível vender só parte da quantidade e vender o mesmo lote várias vezes: cada venda fica registrada separadamente, com ✏️ corrigir e 🗑️ excluir. Antes de salvar, o simulador mostra o IR da venda (seção 23.4).</a:t>
            </a:r>
            <a:endParaRPr lang="en-US" sz="1050" dirty="0"/>
          </a:p>
        </p:txBody>
      </p:sp>
      <p:sp>
        <p:nvSpPr>
          <p:cNvPr id="9" name="Shape 6"/>
          <p:cNvSpPr/>
          <p:nvPr/>
        </p:nvSpPr>
        <p:spPr>
          <a:xfrm>
            <a:off x="6278728" y="1600200"/>
            <a:ext cx="384048" cy="384048"/>
          </a:xfrm>
          <a:prstGeom prst="ellipse">
            <a:avLst/>
          </a:prstGeom>
          <a:solidFill>
            <a:srgbClr val="00D68F"/>
          </a:solidFill>
          <a:ln/>
        </p:spPr>
        <p:txBody>
          <a:bodyPr/>
          <a:p/>
        </p:txBody>
      </p:sp>
      <p:pic>
        <p:nvPicPr>
          <p:cNvPr id="10" name="Image 1" descr="C:\Users\PC ANTONIO\AppData\Roaming\Claude\scratch-workspaces\f0f5d1bc-bf72-4611-a8ea-e50e459a0a45\08c0c592-3fff-44bf-a144-086c85aaeea0\scratch-2026-09-22-98642c\icons\edit.png">    </p:cNvPr>
          <p:cNvPicPr>
            <a:picLocks noChangeAspect="1"/>
          </p:cNvPicPr>
          <p:nvPr/>
        </p:nvPicPr>
        <p:blipFill>
          <a:blip r:embed="rId2"/>
          <a:stretch>
            <a:fillRect/>
          </a:stretch>
        </p:blipFill>
        <p:spPr>
          <a:xfrm>
            <a:off x="6370899" y="1692372"/>
            <a:ext cx="199705" cy="199705"/>
          </a:xfrm>
          <a:prstGeom prst="rect">
            <a:avLst/>
          </a:prstGeom>
        </p:spPr>
      </p:pic>
      <p:sp>
        <p:nvSpPr>
          <p:cNvPr id="11" name="Text 7"/>
          <p:cNvSpPr/>
          <p:nvPr/>
        </p:nvSpPr>
        <p:spPr>
          <a:xfrm>
            <a:off x="6809080"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Editar ou excluir</a:t>
            </a:r>
            <a:endParaRPr lang="en-US" sz="1250" dirty="0"/>
          </a:p>
        </p:txBody>
      </p:sp>
      <p:sp>
        <p:nvSpPr>
          <p:cNvPr id="12" name="Text 8"/>
          <p:cNvSpPr/>
          <p:nvPr/>
        </p:nvSpPr>
        <p:spPr>
          <a:xfrm>
            <a:off x="6809080" y="1819656"/>
            <a:ext cx="4833976" cy="77724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Compras e reservas podem ser editadas ou excluídas definitivamente. A exclusão pede confirmação e não pode ser desfeita.</a:t>
            </a:r>
            <a:endParaRPr lang="en-US" sz="1000" dirty="0"/>
          </a:p>
        </p:txBody>
      </p:sp>
      <p:sp>
        <p:nvSpPr>
          <p:cNvPr id="13" name="Shape 9"/>
          <p:cNvSpPr/>
          <p:nvPr/>
        </p:nvSpPr>
        <p:spPr>
          <a:xfrm>
            <a:off x="6278728" y="2697480"/>
            <a:ext cx="384048" cy="384048"/>
          </a:xfrm>
          <a:prstGeom prst="ellipse">
            <a:avLst/>
          </a:prstGeom>
          <a:solidFill>
            <a:srgbClr val="0D1B3E"/>
          </a:solidFill>
          <a:ln/>
        </p:spPr>
        <p:txBody>
          <a:bodyPr/>
          <a:p/>
        </p:txBody>
      </p:sp>
      <p:pic>
        <p:nvPicPr>
          <p:cNvPr id="14" name="Image 2" descr="C:\Users\PC ANTONIO\AppData\Roaming\Claude\scratch-workspaces\f0f5d1bc-bf72-4611-a8ea-e50e459a0a45\08c0c592-3fff-44bf-a144-086c85aaeea0\scratch-2026-09-22-98642c\icons\filter.png">    </p:cNvPr>
          <p:cNvPicPr>
            <a:picLocks noChangeAspect="1"/>
          </p:cNvPicPr>
          <p:nvPr/>
        </p:nvPicPr>
        <p:blipFill>
          <a:blip r:embed="rId3"/>
          <a:stretch>
            <a:fillRect/>
          </a:stretch>
        </p:blipFill>
        <p:spPr>
          <a:xfrm>
            <a:off x="6370899" y="2789652"/>
            <a:ext cx="199705" cy="199705"/>
          </a:xfrm>
          <a:prstGeom prst="rect">
            <a:avLst/>
          </a:prstGeom>
        </p:spPr>
      </p:pic>
      <p:sp>
        <p:nvSpPr>
          <p:cNvPr id="15" name="Text 10"/>
          <p:cNvSpPr/>
          <p:nvPr/>
        </p:nvSpPr>
        <p:spPr>
          <a:xfrm>
            <a:off x="6809080" y="266090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Filtros por período e ativo</a:t>
            </a:r>
            <a:endParaRPr lang="en-US" sz="1250" dirty="0"/>
          </a:p>
        </p:txBody>
      </p:sp>
      <p:sp>
        <p:nvSpPr>
          <p:cNvPr id="16" name="Text 11"/>
          <p:cNvSpPr/>
          <p:nvPr/>
        </p:nvSpPr>
        <p:spPr>
          <a:xfrm>
            <a:off x="6809080" y="2916936"/>
            <a:ext cx="4833976" cy="77724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Em carteira e Reservadas filtram pela data da operação; Vendidas filtra pela data da venda. Sem filtro, mostra o mês corrente.</a:t>
            </a:r>
            <a:endParaRPr lang="en-US" sz="1000" dirty="0"/>
          </a:p>
        </p:txBody>
      </p:sp>
      <p:sp>
        <p:nvSpPr>
          <p:cNvPr id="17" name="Text 12"/>
          <p:cNvSpPr/>
          <p:nvPr/>
        </p:nvSpPr>
        <p:spPr>
          <a:xfrm>
            <a:off x="548640" y="3794760"/>
            <a:ext cx="54864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Campos do formulário de venda</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11094415" cy="1920240"/>
        </p:xfrm>
        <a:graphic>
          <a:graphicData uri="http://schemas.openxmlformats.org/drawingml/2006/table">
            <a:tbl>
              <a:tblPr/>
              <a:tblGrid>
                <a:gridCol w="3291840"/>
                <a:gridCol w="7802575"/>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Descrição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Quantidade vendida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Não pode passar do saldo ainda não vendido do lote.</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Preço de venda (R$)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Preço pelo qual as ações foram vendidas.</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Percentual da corretora (%)</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Taxa cobrada pela corretora sobre a venda, se houver.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Outras taxas da venda (R$)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Opcional. Emolumentos, liquidação, corretagem fixa e ISS da nota — reduzem o lucro e o imposto.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9"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0" name="Text 14"/>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05.6  </a:t>
            </a:r>
            <a:pPr indent="0" marL="0">
              <a:buNone/>
            </a:pPr>
            <a:r>
              <a:rPr lang="en-US" sz="1250" b="1" spc="200" kern="0" dirty="0">
                <a:solidFill>
                  <a:srgbClr val="00D68F"/>
                </a:solidFill>
                <a:latin typeface="Calibri" pitchFamily="34" charset="0"/>
                <a:ea typeface="Calibri" pitchFamily="34" charset="-122"/>
                <a:cs typeface="Calibri" pitchFamily="34" charset="-120"/>
              </a:rPr>
              <a:t>RELATÓRIOS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Exportação de relatórios (Excel / PDF)</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Os botões "⬇ Exportar Excel" e "⬇ Exportar PDF" respeitam os filtros de data e ativo ativos no momento e geram um relatório com três seções, espelhando as abas da tela:</a:t>
            </a:r>
            <a:endParaRPr lang="en-US" sz="1150" dirty="0"/>
          </a:p>
        </p:txBody>
      </p:sp>
      <p:sp>
        <p:nvSpPr>
          <p:cNvPr id="5" name="Shape 3"/>
          <p:cNvSpPr/>
          <p:nvPr/>
        </p:nvSpPr>
        <p:spPr>
          <a:xfrm>
            <a:off x="548640"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9514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layers.png">    </p:cNvPr>
          <p:cNvPicPr>
            <a:picLocks noChangeAspect="1"/>
          </p:cNvPicPr>
          <p:nvPr/>
        </p:nvPicPr>
        <p:blipFill>
          <a:blip r:embed="rId1"/>
          <a:stretch>
            <a:fillRect/>
          </a:stretch>
        </p:blipFill>
        <p:spPr>
          <a:xfrm>
            <a:off x="923544" y="2414016"/>
            <a:ext cx="219456" cy="219456"/>
          </a:xfrm>
          <a:prstGeom prst="rect">
            <a:avLst/>
          </a:prstGeom>
        </p:spPr>
      </p:pic>
      <p:sp>
        <p:nvSpPr>
          <p:cNvPr id="8" name="Text 5"/>
          <p:cNvSpPr/>
          <p:nvPr/>
        </p:nvSpPr>
        <p:spPr>
          <a:xfrm>
            <a:off x="1426464"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Em carteira</a:t>
            </a:r>
            <a:endParaRPr lang="en-US" sz="1350" dirty="0"/>
          </a:p>
        </p:txBody>
      </p:sp>
      <p:sp>
        <p:nvSpPr>
          <p:cNvPr id="9" name="Text 6"/>
          <p:cNvSpPr/>
          <p:nvPr/>
        </p:nvSpPr>
        <p:spPr>
          <a:xfrm>
            <a:off x="804672"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dias, ativo, quantidade e valores comprados, saldo, lucro/perda realizado, meta.</a:t>
            </a:r>
            <a:endParaRPr lang="en-US" sz="1050" dirty="0"/>
          </a:p>
        </p:txBody>
      </p:sp>
      <p:sp>
        <p:nvSpPr>
          <p:cNvPr id="10" name="Shape 7"/>
          <p:cNvSpPr/>
          <p:nvPr/>
        </p:nvSpPr>
        <p:spPr>
          <a:xfrm>
            <a:off x="4338218"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4594250" y="229514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dollar.png">    </p:cNvPr>
          <p:cNvPicPr>
            <a:picLocks noChangeAspect="1"/>
          </p:cNvPicPr>
          <p:nvPr/>
        </p:nvPicPr>
        <p:blipFill>
          <a:blip r:embed="rId2"/>
          <a:stretch>
            <a:fillRect/>
          </a:stretch>
        </p:blipFill>
        <p:spPr>
          <a:xfrm>
            <a:off x="4713122" y="2414016"/>
            <a:ext cx="219456" cy="219456"/>
          </a:xfrm>
          <a:prstGeom prst="rect">
            <a:avLst/>
          </a:prstGeom>
        </p:spPr>
      </p:pic>
      <p:sp>
        <p:nvSpPr>
          <p:cNvPr id="13" name="Text 9"/>
          <p:cNvSpPr/>
          <p:nvPr/>
        </p:nvSpPr>
        <p:spPr>
          <a:xfrm>
            <a:off x="5216042"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Vendidas</a:t>
            </a:r>
            <a:endParaRPr lang="en-US" sz="1350" dirty="0"/>
          </a:p>
        </p:txBody>
      </p:sp>
      <p:sp>
        <p:nvSpPr>
          <p:cNvPr id="14" name="Text 10"/>
          <p:cNvSpPr/>
          <p:nvPr/>
        </p:nvSpPr>
        <p:spPr>
          <a:xfrm>
            <a:off x="4594250"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compra/venda, dias em carteira, preços, corretora, valor líquido, lucro/perda por dia.</a:t>
            </a:r>
            <a:endParaRPr lang="en-US" sz="1050" dirty="0"/>
          </a:p>
        </p:txBody>
      </p:sp>
      <p:sp>
        <p:nvSpPr>
          <p:cNvPr id="15" name="Shape 11"/>
          <p:cNvSpPr/>
          <p:nvPr/>
        </p:nvSpPr>
        <p:spPr>
          <a:xfrm>
            <a:off x="8127797"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383829" y="2295144"/>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target.png">    </p:cNvPr>
          <p:cNvPicPr>
            <a:picLocks noChangeAspect="1"/>
          </p:cNvPicPr>
          <p:nvPr/>
        </p:nvPicPr>
        <p:blipFill>
          <a:blip r:embed="rId3"/>
          <a:stretch>
            <a:fillRect/>
          </a:stretch>
        </p:blipFill>
        <p:spPr>
          <a:xfrm>
            <a:off x="8502701" y="2414016"/>
            <a:ext cx="219456" cy="219456"/>
          </a:xfrm>
          <a:prstGeom prst="rect">
            <a:avLst/>
          </a:prstGeom>
        </p:spPr>
      </p:pic>
      <p:sp>
        <p:nvSpPr>
          <p:cNvPr id="18" name="Text 13"/>
          <p:cNvSpPr/>
          <p:nvPr/>
        </p:nvSpPr>
        <p:spPr>
          <a:xfrm>
            <a:off x="9005621"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Reservadas</a:t>
            </a:r>
            <a:endParaRPr lang="en-US" sz="1350" dirty="0"/>
          </a:p>
        </p:txBody>
      </p:sp>
      <p:sp>
        <p:nvSpPr>
          <p:cNvPr id="19" name="Text 14"/>
          <p:cNvSpPr/>
          <p:nvPr/>
        </p:nvSpPr>
        <p:spPr>
          <a:xfrm>
            <a:off x="8383829"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dias, ativo, quantidade, preço pretendido, variação desde a reserva, meta.</a:t>
            </a:r>
            <a:endParaRPr lang="en-US" sz="1050" dirty="0"/>
          </a:p>
        </p:txBody>
      </p:sp>
      <p:sp>
        <p:nvSpPr>
          <p:cNvPr id="20" name="Shape 15"/>
          <p:cNvSpPr/>
          <p:nvPr/>
        </p:nvSpPr>
        <p:spPr>
          <a:xfrm>
            <a:off x="548640" y="4709160"/>
            <a:ext cx="11094415" cy="685800"/>
          </a:xfrm>
          <a:prstGeom prst="roundRect">
            <a:avLst>
              <a:gd name="adj" fmla="val 10667"/>
            </a:avLst>
          </a:prstGeom>
          <a:solidFill>
            <a:srgbClr val="EAF0FB"/>
          </a:solidFill>
          <a:ln/>
        </p:spPr>
        <p:txBody>
          <a:bodyPr/>
          <a:p/>
        </p:txBody>
      </p:sp>
      <p:sp>
        <p:nvSpPr>
          <p:cNvPr id="21" name="Shape 16"/>
          <p:cNvSpPr/>
          <p:nvPr/>
        </p:nvSpPr>
        <p:spPr>
          <a:xfrm>
            <a:off x="731520" y="4887468"/>
            <a:ext cx="329184" cy="329184"/>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info.png">    </p:cNvPr>
          <p:cNvPicPr>
            <a:picLocks noChangeAspect="1"/>
          </p:cNvPicPr>
          <p:nvPr/>
        </p:nvPicPr>
        <p:blipFill>
          <a:blip r:embed="rId4"/>
          <a:stretch>
            <a:fillRect/>
          </a:stretch>
        </p:blipFill>
        <p:spPr>
          <a:xfrm>
            <a:off x="803940" y="4959888"/>
            <a:ext cx="184343" cy="184343"/>
          </a:xfrm>
          <a:prstGeom prst="rect">
            <a:avLst/>
          </a:prstGeom>
        </p:spPr>
      </p:pic>
      <p:sp>
        <p:nvSpPr>
          <p:cNvPr id="23" name="Text 17"/>
          <p:cNvSpPr/>
          <p:nvPr/>
        </p:nvSpPr>
        <p:spPr>
          <a:xfrm>
            <a:off x="1225296" y="480060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Cada seção traz o período usado no filtro no topo e uma linha de TOTAL ao final, somando as colunas em R$ (percentuais e preços unitários não são somados).</a:t>
            </a:r>
            <a:endParaRPr lang="en-US" sz="10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5" name="Text 1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  </a:t>
            </a:r>
            <a:pPr indent="0" marL="0">
              <a:buNone/>
            </a:pPr>
            <a:r>
              <a:rPr lang="en-US" sz="1250" b="1" spc="200" kern="0" dirty="0">
                <a:solidFill>
                  <a:srgbClr val="00D68F"/>
                </a:solidFill>
                <a:latin typeface="Calibri" pitchFamily="34" charset="0"/>
                <a:ea typeface="Calibri" pitchFamily="34" charset="-122"/>
                <a:cs typeface="Calibri" pitchFamily="34" charset="-120"/>
              </a:rPr>
              <a:t>POSIÇÕES EM CARTEIRA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Visão consolidada da carteira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Consolida as operações de compra por ativo (preço médio, quantidade total), em vez de lote por lote. Organizada em três abas: Compradas, Reservadas e Reservadas pelo Robô.</a:t>
            </a:r>
            <a:endParaRPr lang="en-US" sz="1150" dirty="0"/>
          </a:p>
        </p:txBody>
      </p:sp>
      <p:sp>
        <p:nvSpPr>
          <p:cNvPr id="5" name="Shape 3"/>
          <p:cNvSpPr/>
          <p:nvPr/>
        </p:nvSpPr>
        <p:spPr>
          <a:xfrm>
            <a:off x="548640" y="201168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4942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list.png">    </p:cNvPr>
          <p:cNvPicPr>
            <a:picLocks noChangeAspect="1"/>
          </p:cNvPicPr>
          <p:nvPr/>
        </p:nvPicPr>
        <p:blipFill>
          <a:blip r:embed="rId1"/>
          <a:stretch>
            <a:fillRect/>
          </a:stretch>
        </p:blipFill>
        <p:spPr>
          <a:xfrm>
            <a:off x="923544" y="2368296"/>
            <a:ext cx="219456" cy="219456"/>
          </a:xfrm>
          <a:prstGeom prst="rect">
            <a:avLst/>
          </a:prstGeom>
        </p:spPr>
      </p:pic>
      <p:sp>
        <p:nvSpPr>
          <p:cNvPr id="8" name="Text 5"/>
          <p:cNvSpPr/>
          <p:nvPr/>
        </p:nvSpPr>
        <p:spPr>
          <a:xfrm>
            <a:off x="1426464" y="219456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Aba Compradas</a:t>
            </a:r>
            <a:endParaRPr lang="en-US" sz="1400" dirty="0"/>
          </a:p>
        </p:txBody>
      </p:sp>
      <p:sp>
        <p:nvSpPr>
          <p:cNvPr id="9" name="Text 6"/>
          <p:cNvSpPr/>
          <p:nvPr/>
        </p:nvSpPr>
        <p:spPr>
          <a:xfrm>
            <a:off x="804672" y="283464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Uma linha por ativo: dias em carteira, lucro/perda, quantidade, preço médio, valor investido/atual, metas e tendência. Selos 🎯 Meta atingida e 🤖 Robô destacam linhas especiais. A coluna Ação permite vender, alterar ou excluir sem sair da tela.</a:t>
            </a:r>
            <a:endParaRPr lang="en-US" sz="1050" dirty="0"/>
          </a:p>
        </p:txBody>
      </p:sp>
      <p:sp>
        <p:nvSpPr>
          <p:cNvPr id="10" name="Shape 7"/>
          <p:cNvSpPr/>
          <p:nvPr/>
        </p:nvSpPr>
        <p:spPr>
          <a:xfrm>
            <a:off x="6278728" y="201168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6534760" y="224942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target.png">    </p:cNvPr>
          <p:cNvPicPr>
            <a:picLocks noChangeAspect="1"/>
          </p:cNvPicPr>
          <p:nvPr/>
        </p:nvPicPr>
        <p:blipFill>
          <a:blip r:embed="rId2"/>
          <a:stretch>
            <a:fillRect/>
          </a:stretch>
        </p:blipFill>
        <p:spPr>
          <a:xfrm>
            <a:off x="6653632" y="2368296"/>
            <a:ext cx="219456" cy="219456"/>
          </a:xfrm>
          <a:prstGeom prst="rect">
            <a:avLst/>
          </a:prstGeom>
        </p:spPr>
      </p:pic>
      <p:sp>
        <p:nvSpPr>
          <p:cNvPr id="13" name="Text 9"/>
          <p:cNvSpPr/>
          <p:nvPr/>
        </p:nvSpPr>
        <p:spPr>
          <a:xfrm>
            <a:off x="7156552" y="219456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Reservadas e Reservadas pelo Robô</a:t>
            </a:r>
            <a:endParaRPr lang="en-US" sz="1400" dirty="0"/>
          </a:p>
        </p:txBody>
      </p:sp>
      <p:sp>
        <p:nvSpPr>
          <p:cNvPr id="14" name="Text 10"/>
          <p:cNvSpPr/>
          <p:nvPr/>
        </p:nvSpPr>
        <p:spPr>
          <a:xfrm>
            <a:off x="6534760" y="283464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Mostram ativo, preço pretendido, cotação atual, variação desde a reserva e tendência. A aba do robô reúne reservas automáticas; quando o preço cai o suficiente, aparece o selo 📉 Baixa atingida — comprar.</a:t>
            </a:r>
            <a:endParaRPr lang="en-US" sz="1050" dirty="0"/>
          </a:p>
        </p:txBody>
      </p:sp>
      <p:sp>
        <p:nvSpPr>
          <p:cNvPr id="15" name="Shape 11"/>
          <p:cNvSpPr/>
          <p:nvPr/>
        </p:nvSpPr>
        <p:spPr>
          <a:xfrm>
            <a:off x="548640" y="379476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04672" y="4032504"/>
            <a:ext cx="310896" cy="310896"/>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trendUp.png">    </p:cNvPr>
          <p:cNvPicPr>
            <a:picLocks noChangeAspect="1"/>
          </p:cNvPicPr>
          <p:nvPr/>
        </p:nvPicPr>
        <p:blipFill>
          <a:blip r:embed="rId3"/>
          <a:stretch>
            <a:fillRect/>
          </a:stretch>
        </p:blipFill>
        <p:spPr>
          <a:xfrm>
            <a:off x="885505" y="4113337"/>
            <a:ext cx="149230" cy="149230"/>
          </a:xfrm>
          <a:prstGeom prst="rect">
            <a:avLst/>
          </a:prstGeom>
        </p:spPr>
      </p:pic>
      <p:sp>
        <p:nvSpPr>
          <p:cNvPr id="18" name="Text 13"/>
          <p:cNvSpPr/>
          <p:nvPr/>
        </p:nvSpPr>
        <p:spPr>
          <a:xfrm>
            <a:off x="1280160" y="397764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Valor de compra x valor atual (histórico) e carteira x mercado</a:t>
            </a:r>
            <a:endParaRPr lang="en-US" sz="1350" dirty="0"/>
          </a:p>
        </p:txBody>
      </p:sp>
      <p:sp>
        <p:nvSpPr>
          <p:cNvPr id="19" name="Text 14"/>
          <p:cNvSpPr/>
          <p:nvPr/>
        </p:nvSpPr>
        <p:spPr>
          <a:xfrm>
            <a:off x="804672" y="447141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Gráfico por ativo comparando valor pago x valor atual ao longo do tempo, além do mesmo comparativo de retorno da carteira frente ao Ibovespa e ao CDI disponível no Painel.</a:t>
            </a:r>
            <a:endParaRPr lang="en-US" sz="1050" dirty="0"/>
          </a:p>
        </p:txBody>
      </p:sp>
      <p:sp>
        <p:nvSpPr>
          <p:cNvPr id="20" name="Shape 15"/>
          <p:cNvSpPr/>
          <p:nvPr/>
        </p:nvSpPr>
        <p:spPr>
          <a:xfrm>
            <a:off x="548640" y="5166360"/>
            <a:ext cx="11094415" cy="594360"/>
          </a:xfrm>
          <a:prstGeom prst="roundRect">
            <a:avLst>
              <a:gd name="adj" fmla="val 12308"/>
            </a:avLst>
          </a:prstGeom>
          <a:solidFill>
            <a:srgbClr val="EAF0FB"/>
          </a:solidFill>
          <a:ln/>
        </p:spPr>
        <p:txBody>
          <a:bodyPr/>
          <a:p/>
        </p:txBody>
      </p:sp>
      <p:sp>
        <p:nvSpPr>
          <p:cNvPr id="21" name="Shape 16"/>
          <p:cNvSpPr/>
          <p:nvPr/>
        </p:nvSpPr>
        <p:spPr>
          <a:xfrm>
            <a:off x="731520" y="5298948"/>
            <a:ext cx="329184" cy="329184"/>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info.png">    </p:cNvPr>
          <p:cNvPicPr>
            <a:picLocks noChangeAspect="1"/>
          </p:cNvPicPr>
          <p:nvPr/>
        </p:nvPicPr>
        <p:blipFill>
          <a:blip r:embed="rId4"/>
          <a:stretch>
            <a:fillRect/>
          </a:stretch>
        </p:blipFill>
        <p:spPr>
          <a:xfrm>
            <a:off x="803940" y="5371368"/>
            <a:ext cx="184343" cy="184343"/>
          </a:xfrm>
          <a:prstGeom prst="rect">
            <a:avLst/>
          </a:prstGeom>
        </p:spPr>
      </p:pic>
      <p:sp>
        <p:nvSpPr>
          <p:cNvPr id="23" name="Text 17"/>
          <p:cNvSpPr/>
          <p:nvPr/>
        </p:nvSpPr>
        <p:spPr>
          <a:xfrm>
            <a:off x="1225296" y="52578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botão "🔎 Scanner Técnico", no topo desta tela, leva à análise técnica combinada de cada ativo comprado.</a:t>
            </a:r>
            <a:endParaRPr lang="en-US" sz="10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5" name="Text 1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06.4  </a:t>
            </a:r>
            <a:pPr indent="0" marL="0">
              <a:buNone/>
            </a:pPr>
            <a:r>
              <a:rPr lang="en-US" sz="1250" b="1" spc="200" kern="0" dirty="0">
                <a:solidFill>
                  <a:srgbClr val="00D68F"/>
                </a:solidFill>
                <a:latin typeface="Calibri" pitchFamily="34" charset="0"/>
                <a:ea typeface="Calibri" pitchFamily="34" charset="-122"/>
                <a:cs typeface="Calibri" pitchFamily="34" charset="-120"/>
              </a:rPr>
              <a:t>GESTÃO DE RISCO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Concentração por setor e indicadores de risco</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Concentração por setor</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Agrupa o valor atual das posições compradas por setor da empresa e mostra o percentual de cada setor sobre o total da carteira, com barra visual. Setores acima de 40% aparecem com o selo ⚠ concentrado — útil porque o limite de ativos diferentes não enxerga diversificação dentro do mesmo setor.</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Indicadores de risco por posição e por carteira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Volatilidade anualizada</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Calculada nos últimos 30 pregões, por ativo comprado.</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Maior drawdown</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Queda do topo ao fundo nos últimos 30 pregões.</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 da carteira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Peso de cada posição sobre o total — também em gráfico de rosca.</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Índice de Herfindahl</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Concentração da carteira inteira — quanto mais perto de 1, mais concentrada em uma posição.</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sistema destaca em vermelho quando um único ativo já responde por 40% ou mais da carteira.</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06.6  </a:t>
            </a:r>
            <a:pPr indent="0" marL="0">
              <a:buNone/>
            </a:pPr>
            <a:r>
              <a:rPr lang="en-US" sz="1250" b="1" spc="200" kern="0" dirty="0">
                <a:solidFill>
                  <a:srgbClr val="00D68F"/>
                </a:solidFill>
                <a:latin typeface="Calibri" pitchFamily="34" charset="0"/>
                <a:ea typeface="Calibri" pitchFamily="34" charset="-122"/>
                <a:cs typeface="Calibri" pitchFamily="34" charset="-120"/>
              </a:rPr>
              <a:t>RISCO DA CARTEIRA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Correlação e teste de estresse</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Diversificar não é ter muitos tickers</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Oito ações que sobem e caem juntas protegem tanto quanto uma. Na aba Indicadores de risco, o sistema olha a carteira inteira — tudo calculado com as cotações já salvas, sem consultar a API.</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a aba mostra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Gráfico de rosca</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Peso de cada ativo: as 5 maiores posições e o resto somado em "Outros".</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Correlação entre os ativos</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Mapa de calor de 120 pregões: 1 = andam juntos, -1 = opostos. Avisa os pares ≥ 0,7.</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Beta e cenários de queda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Quanto a carteira cairia se o Ibovespa cair 10%, 20% ou 30%, em % e em R$.</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Piores períodos</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Pior dia, semana e mês que a carteira atual, com as mesmas quantidades, teria tido no último ano.</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São estimativas pelo passado: numa crise as quedas costumam ser maiores. Sem histórico do Ibovespa, clique em Atualizar benchmarks.</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07  </a:t>
            </a:r>
            <a:pPr indent="0" marL="0">
              <a:buNone/>
            </a:pPr>
            <a:r>
              <a:rPr lang="en-US" sz="1250" b="1" spc="200" kern="0" dirty="0">
                <a:solidFill>
                  <a:srgbClr val="00D68F"/>
                </a:solidFill>
                <a:latin typeface="Calibri" pitchFamily="34" charset="0"/>
                <a:ea typeface="Calibri" pitchFamily="34" charset="-122"/>
                <a:cs typeface="Calibri" pitchFamily="34" charset="-120"/>
              </a:rPr>
              <a:t>ROBÔ CONSULTOR</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Como o robô consultor decide</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Mecanismo automático de análise técnica que roda a cada atualização de cotações. Não executa nenhuma ordem real — apenas gera alertas e, em caso de sinal de compra, registra uma reserva automática.</a:t>
            </a:r>
            <a:endParaRPr lang="en-US" sz="1150" dirty="0"/>
          </a:p>
        </p:txBody>
      </p:sp>
      <p:sp>
        <p:nvSpPr>
          <p:cNvPr id="5" name="Shape 3"/>
          <p:cNvSpPr/>
          <p:nvPr/>
        </p:nvSpPr>
        <p:spPr>
          <a:xfrm>
            <a:off x="548640"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4942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2368296"/>
            <a:ext cx="219456" cy="219456"/>
          </a:xfrm>
          <a:prstGeom prst="rect">
            <a:avLst/>
          </a:prstGeom>
        </p:spPr>
      </p:pic>
      <p:sp>
        <p:nvSpPr>
          <p:cNvPr id="8" name="Text 5"/>
          <p:cNvSpPr/>
          <p:nvPr/>
        </p:nvSpPr>
        <p:spPr>
          <a:xfrm>
            <a:off x="1426464"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Tendência</a:t>
            </a:r>
            <a:endParaRPr lang="en-US" sz="1350" dirty="0"/>
          </a:p>
        </p:txBody>
      </p:sp>
      <p:sp>
        <p:nvSpPr>
          <p:cNvPr id="9" name="Text 6"/>
          <p:cNvSpPr/>
          <p:nvPr/>
        </p:nvSpPr>
        <p:spPr>
          <a:xfrm>
            <a:off x="804672"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Compara a média móvel de curto prazo com a de longo prazo.</a:t>
            </a:r>
            <a:endParaRPr lang="en-US" sz="1050" dirty="0"/>
          </a:p>
        </p:txBody>
      </p:sp>
      <p:sp>
        <p:nvSpPr>
          <p:cNvPr id="10" name="Shape 7"/>
          <p:cNvSpPr/>
          <p:nvPr/>
        </p:nvSpPr>
        <p:spPr>
          <a:xfrm>
            <a:off x="4338218"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4594250" y="2249424"/>
            <a:ext cx="457200" cy="457200"/>
          </a:xfrm>
          <a:prstGeom prst="ellipse">
            <a:avLst/>
          </a:prstGeom>
          <a:solidFill>
            <a:srgbClr val="0D1B3E"/>
          </a:solidFill>
          <a:ln/>
        </p:spPr>
        <p:txBody>
          <a:bodyPr/>
          <a:p/>
        </p:txBody>
      </p:sp>
      <p:pic>
        <p:nvPicPr>
          <p:cNvPr id="12"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4713122" y="2368296"/>
            <a:ext cx="219456" cy="219456"/>
          </a:xfrm>
          <a:prstGeom prst="rect">
            <a:avLst/>
          </a:prstGeom>
        </p:spPr>
      </p:pic>
      <p:sp>
        <p:nvSpPr>
          <p:cNvPr id="13" name="Text 9"/>
          <p:cNvSpPr/>
          <p:nvPr/>
        </p:nvSpPr>
        <p:spPr>
          <a:xfrm>
            <a:off x="5216042"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RSI (IFR)</a:t>
            </a:r>
            <a:endParaRPr lang="en-US" sz="1350" dirty="0"/>
          </a:p>
        </p:txBody>
      </p:sp>
      <p:sp>
        <p:nvSpPr>
          <p:cNvPr id="14" name="Text 10"/>
          <p:cNvSpPr/>
          <p:nvPr/>
        </p:nvSpPr>
        <p:spPr>
          <a:xfrm>
            <a:off x="4594250"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Mede se o ativo está sobrecomprado ou sobrevendido.</a:t>
            </a:r>
            <a:endParaRPr lang="en-US" sz="1050" dirty="0"/>
          </a:p>
        </p:txBody>
      </p:sp>
      <p:sp>
        <p:nvSpPr>
          <p:cNvPr id="15" name="Shape 11"/>
          <p:cNvSpPr/>
          <p:nvPr/>
        </p:nvSpPr>
        <p:spPr>
          <a:xfrm>
            <a:off x="8127797"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383829" y="2249424"/>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zap.png">    </p:cNvPr>
          <p:cNvPicPr>
            <a:picLocks noChangeAspect="1"/>
          </p:cNvPicPr>
          <p:nvPr/>
        </p:nvPicPr>
        <p:blipFill>
          <a:blip r:embed="rId3"/>
          <a:stretch>
            <a:fillRect/>
          </a:stretch>
        </p:blipFill>
        <p:spPr>
          <a:xfrm>
            <a:off x="8502701" y="2368296"/>
            <a:ext cx="219456" cy="219456"/>
          </a:xfrm>
          <a:prstGeom prst="rect">
            <a:avLst/>
          </a:prstGeom>
        </p:spPr>
      </p:pic>
      <p:sp>
        <p:nvSpPr>
          <p:cNvPr id="18" name="Text 13"/>
          <p:cNvSpPr/>
          <p:nvPr/>
        </p:nvSpPr>
        <p:spPr>
          <a:xfrm>
            <a:off x="9005621"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MACD</a:t>
            </a:r>
            <a:endParaRPr lang="en-US" sz="1350" dirty="0"/>
          </a:p>
        </p:txBody>
      </p:sp>
      <p:sp>
        <p:nvSpPr>
          <p:cNvPr id="19" name="Text 14"/>
          <p:cNvSpPr/>
          <p:nvPr/>
        </p:nvSpPr>
        <p:spPr>
          <a:xfrm>
            <a:off x="8383829"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Mede a força e a direção do movimento recente do preço.</a:t>
            </a:r>
            <a:endParaRPr lang="en-US" sz="1050" dirty="0"/>
          </a:p>
        </p:txBody>
      </p:sp>
      <p:sp>
        <p:nvSpPr>
          <p:cNvPr id="20" name="Text 15"/>
          <p:cNvSpPr/>
          <p:nvPr/>
        </p:nvSpPr>
        <p:spPr>
          <a:xfrm>
            <a:off x="548640" y="3566160"/>
            <a:ext cx="11094415" cy="320040"/>
          </a:xfrm>
          <a:prstGeom prst="rect">
            <a:avLst/>
          </a:prstGeom>
          <a:noFill/>
          <a:ln/>
        </p:spPr>
        <p:txBody>
          <a:bodyPr wrap="square" lIns="0" tIns="0" rIns="0" bIns="0" rtlCol="0" anchor="ctr"/>
          <a:lstStyle/>
          <a:p>
            <a:pPr indent="0" marL="0">
              <a:buNone/>
            </a:pPr>
            <a:r>
              <a:rPr lang="en-US" sz="1050" i="1" dirty="0">
                <a:solidFill>
                  <a:srgbClr val="7C89A8"/>
                </a:solidFill>
                <a:latin typeface="Calibri" pitchFamily="34" charset="0"/>
                <a:ea typeface="Calibri" pitchFamily="34" charset="-122"/>
                <a:cs typeface="Calibri" pitchFamily="34" charset="-120"/>
              </a:rPr>
              <a:t>O "sinal geral" soma votos de compra x votos de venda entre os três indicadores, visível na tela Análise de Mercado.</a:t>
            </a:r>
            <a:endParaRPr lang="en-US" sz="1050" dirty="0"/>
          </a:p>
        </p:txBody>
      </p:sp>
      <p:sp>
        <p:nvSpPr>
          <p:cNvPr id="21" name="Shape 16"/>
          <p:cNvSpPr/>
          <p:nvPr/>
        </p:nvSpPr>
        <p:spPr>
          <a:xfrm>
            <a:off x="548640" y="4023360"/>
            <a:ext cx="5364328" cy="1691640"/>
          </a:xfrm>
          <a:prstGeom prst="roundRect">
            <a:avLst>
              <a:gd name="adj" fmla="val 4865"/>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7"/>
          <p:cNvSpPr/>
          <p:nvPr/>
        </p:nvSpPr>
        <p:spPr>
          <a:xfrm>
            <a:off x="804672" y="4261104"/>
            <a:ext cx="457200" cy="457200"/>
          </a:xfrm>
          <a:prstGeom prst="ellipse">
            <a:avLst/>
          </a:prstGeom>
          <a:solidFill>
            <a:srgbClr val="00D68F"/>
          </a:solidFill>
          <a:ln/>
        </p:spPr>
        <p:txBody>
          <a:bodyPr/>
          <a:p/>
        </p:txBody>
      </p:sp>
      <p:pic>
        <p:nvPicPr>
          <p:cNvPr id="23" name="Image 3" descr="C:\Users\PC ANTONIO\AppData\Roaming\Claude\scratch-workspaces\f0f5d1bc-bf72-4611-a8ea-e50e459a0a45\08c0c592-3fff-44bf-a144-086c85aaeea0\scratch-2026-09-22-98642c\icons\shield.png">    </p:cNvPr>
          <p:cNvPicPr>
            <a:picLocks noChangeAspect="1"/>
          </p:cNvPicPr>
          <p:nvPr/>
        </p:nvPicPr>
        <p:blipFill>
          <a:blip r:embed="rId4"/>
          <a:stretch>
            <a:fillRect/>
          </a:stretch>
        </p:blipFill>
        <p:spPr>
          <a:xfrm>
            <a:off x="923544" y="4379976"/>
            <a:ext cx="219456" cy="219456"/>
          </a:xfrm>
          <a:prstGeom prst="rect">
            <a:avLst/>
          </a:prstGeom>
        </p:spPr>
      </p:pic>
      <p:sp>
        <p:nvSpPr>
          <p:cNvPr id="24" name="Text 18"/>
          <p:cNvSpPr/>
          <p:nvPr/>
        </p:nvSpPr>
        <p:spPr>
          <a:xfrm>
            <a:off x="1426464" y="420624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Regra do "já comprado"</a:t>
            </a:r>
            <a:endParaRPr lang="en-US" sz="1350" dirty="0"/>
          </a:p>
        </p:txBody>
      </p:sp>
      <p:sp>
        <p:nvSpPr>
          <p:cNvPr id="25" name="Text 19"/>
          <p:cNvSpPr/>
          <p:nvPr/>
        </p:nvSpPr>
        <p:spPr>
          <a:xfrm>
            <a:off x="804672" y="4846320"/>
            <a:ext cx="4852264" cy="7040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Se o robô identificar sinal de compra para um ativo que o usuário já possui (saldo &gt; 0), não gera novo alerta nem reserva para ele — evita sugerir comprar mais do que já se tem. Sinais de venda continuam avaliados normalmente.</a:t>
            </a:r>
            <a:endParaRPr lang="en-US" sz="1050" dirty="0"/>
          </a:p>
        </p:txBody>
      </p:sp>
      <p:sp>
        <p:nvSpPr>
          <p:cNvPr id="26" name="Shape 20"/>
          <p:cNvSpPr/>
          <p:nvPr/>
        </p:nvSpPr>
        <p:spPr>
          <a:xfrm>
            <a:off x="6278728" y="4023360"/>
            <a:ext cx="5364328" cy="1691640"/>
          </a:xfrm>
          <a:prstGeom prst="roundRect">
            <a:avLst>
              <a:gd name="adj" fmla="val 4865"/>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7" name="Shape 21"/>
          <p:cNvSpPr/>
          <p:nvPr/>
        </p:nvSpPr>
        <p:spPr>
          <a:xfrm>
            <a:off x="6534760" y="4261104"/>
            <a:ext cx="457200" cy="457200"/>
          </a:xfrm>
          <a:prstGeom prst="ellipse">
            <a:avLst/>
          </a:prstGeom>
          <a:solidFill>
            <a:srgbClr val="0D1B3E"/>
          </a:solidFill>
          <a:ln/>
        </p:spPr>
        <p:txBody>
          <a:bodyPr/>
          <a:p/>
        </p:txBody>
      </p:sp>
      <p:pic>
        <p:nvPicPr>
          <p:cNvPr id="28" name="Image 4" descr="C:\Users\PC ANTONIO\AppData\Roaming\Claude\scratch-workspaces\f0f5d1bc-bf72-4611-a8ea-e50e459a0a45\08c0c592-3fff-44bf-a144-086c85aaeea0\scratch-2026-09-22-98642c\icons\robot.png">    </p:cNvPr>
          <p:cNvPicPr>
            <a:picLocks noChangeAspect="1"/>
          </p:cNvPicPr>
          <p:nvPr/>
        </p:nvPicPr>
        <p:blipFill>
          <a:blip r:embed="rId5"/>
          <a:stretch>
            <a:fillRect/>
          </a:stretch>
        </p:blipFill>
        <p:spPr>
          <a:xfrm>
            <a:off x="6653632" y="4379976"/>
            <a:ext cx="219456" cy="219456"/>
          </a:xfrm>
          <a:prstGeom prst="rect">
            <a:avLst/>
          </a:prstGeom>
        </p:spPr>
      </p:pic>
      <p:sp>
        <p:nvSpPr>
          <p:cNvPr id="29" name="Text 22"/>
          <p:cNvSpPr/>
          <p:nvPr/>
        </p:nvSpPr>
        <p:spPr>
          <a:xfrm>
            <a:off x="7156552" y="420624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Reserva automática</a:t>
            </a:r>
            <a:endParaRPr lang="en-US" sz="1350" dirty="0"/>
          </a:p>
        </p:txBody>
      </p:sp>
      <p:sp>
        <p:nvSpPr>
          <p:cNvPr id="30" name="Text 23"/>
          <p:cNvSpPr/>
          <p:nvPr/>
        </p:nvSpPr>
        <p:spPr>
          <a:xfrm>
            <a:off x="6534760" y="4846320"/>
            <a:ext cx="4852264" cy="7040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Quando o sinal de compra é válido, o robô registra uma reserva no preço da cotação do momento, com observação identificando a origem. Aparece com o selo 🤖 Robô nas telas do sistema. Se já existir reserva para o ativo, não duplica.</a:t>
            </a:r>
            <a:endParaRPr lang="en-US" sz="1050" dirty="0"/>
          </a:p>
        </p:txBody>
      </p:sp>
      <p:sp>
        <p:nvSpPr>
          <p:cNvPr id="31" name="Text 2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2" name="Text 25"/>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07.4  </a:t>
            </a:r>
            <a:pPr indent="0" marL="0">
              <a:buNone/>
            </a:pPr>
            <a:r>
              <a:rPr lang="en-US" sz="1250" b="1" spc="200" kern="0" dirty="0">
                <a:solidFill>
                  <a:srgbClr val="00D68F"/>
                </a:solidFill>
                <a:latin typeface="Calibri" pitchFamily="34" charset="0"/>
                <a:ea typeface="Calibri" pitchFamily="34" charset="-122"/>
                <a:cs typeface="Calibri" pitchFamily="34" charset="-120"/>
              </a:rPr>
              <a:t>VALIDAÇÃO HISTÓRICA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Backtesting do robô consultor</a:t>
            </a:r>
            <a:endParaRPr lang="en-US" sz="3000" dirty="0"/>
          </a:p>
        </p:txBody>
      </p:sp>
      <p:sp>
        <p:nvSpPr>
          <p:cNvPr id="4" name="Text 2"/>
          <p:cNvSpPr/>
          <p:nvPr/>
        </p:nvSpPr>
        <p:spPr>
          <a:xfrm>
            <a:off x="548640" y="1417320"/>
            <a:ext cx="11094415" cy="594360"/>
          </a:xfrm>
          <a:prstGeom prst="rect">
            <a:avLst/>
          </a:prstGeom>
          <a:noFill/>
          <a:ln/>
        </p:spPr>
        <p:txBody>
          <a:bodyPr wrap="square" lIns="0" tIns="0" rIns="0" bIns="0" rtlCol="0" anchor="ctr"/>
          <a:lstStyle/>
          <a:p>
            <a:pPr indent="0" marL="0">
              <a:lnSpc>
                <a:spcPct val="125000"/>
              </a:lnSpc>
              <a:buNone/>
            </a:pPr>
            <a:r>
              <a:rPr lang="en-US" sz="1200" dirty="0">
                <a:solidFill>
                  <a:srgbClr val="40496B"/>
                </a:solidFill>
                <a:latin typeface="Calibri" pitchFamily="34" charset="0"/>
                <a:ea typeface="Calibri" pitchFamily="34" charset="-122"/>
                <a:cs typeface="Calibri" pitchFamily="34" charset="-120"/>
              </a:rPr>
              <a:t>Simula os sinais que o robô teria dado no passado e os compara com a referência: comprar em qualquer pregão do mesmo período, sem sinal nenhum. Os retornos já descontam o custo de compra + venda (padrão 0,1%).</a:t>
            </a:r>
            <a:endParaRPr lang="en-US" sz="1200" dirty="0"/>
          </a:p>
        </p:txBody>
      </p:sp>
      <p:sp>
        <p:nvSpPr>
          <p:cNvPr id="5" name="Shape 3"/>
          <p:cNvSpPr/>
          <p:nvPr/>
        </p:nvSpPr>
        <p:spPr>
          <a:xfrm>
            <a:off x="548640" y="2194560"/>
            <a:ext cx="11094415"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432304"/>
            <a:ext cx="310896" cy="310896"/>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85505" y="2513137"/>
            <a:ext cx="149230" cy="149230"/>
          </a:xfrm>
          <a:prstGeom prst="rect">
            <a:avLst/>
          </a:prstGeom>
        </p:spPr>
      </p:pic>
      <p:sp>
        <p:nvSpPr>
          <p:cNvPr id="8" name="Text 5"/>
          <p:cNvSpPr/>
          <p:nvPr/>
        </p:nvSpPr>
        <p:spPr>
          <a:xfrm>
            <a:off x="1280160" y="237744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Por que comparar com a referência</a:t>
            </a:r>
            <a:endParaRPr lang="en-US" sz="1400" dirty="0"/>
          </a:p>
        </p:txBody>
      </p:sp>
      <p:sp>
        <p:nvSpPr>
          <p:cNvPr id="9" name="Text 6"/>
          <p:cNvSpPr/>
          <p:nvPr/>
        </p:nvSpPr>
        <p:spPr>
          <a:xfrm>
            <a:off x="804672" y="2871216"/>
            <a:ext cx="10582351"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Em mercado de alta quase toda compra "acerta". O robô só tem valor se acertar mais — e ganhar mais por operação — que a referência. O cartão "Resultado geral", que junta todos os ativos, é o número mais confiável. Pregões de conferência: de 1 a 60 (padrão 5).</a:t>
            </a:r>
            <a:endParaRPr lang="en-US" sz="1100" dirty="0"/>
          </a:p>
        </p:txBody>
      </p:sp>
      <p:sp>
        <p:nvSpPr>
          <p:cNvPr id="10" name="Text 7"/>
          <p:cNvSpPr/>
          <p:nvPr/>
        </p:nvSpPr>
        <p:spPr>
          <a:xfrm>
            <a:off x="548640" y="370332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Veredito, por ativo e no resultado geral</a:t>
            </a:r>
            <a:endParaRPr lang="en-US" sz="1400" dirty="0"/>
          </a:p>
        </p:txBody>
      </p:sp>
      <p:sp>
        <p:nvSpPr>
          <p:cNvPr id="11" name="Shape 8"/>
          <p:cNvSpPr/>
          <p:nvPr/>
        </p:nvSpPr>
        <p:spPr>
          <a:xfrm>
            <a:off x="548640" y="4114800"/>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617037" y="4183197"/>
            <a:ext cx="174102" cy="174102"/>
          </a:xfrm>
          <a:prstGeom prst="rect">
            <a:avLst/>
          </a:prstGeom>
        </p:spPr>
      </p:pic>
      <p:sp>
        <p:nvSpPr>
          <p:cNvPr id="13" name="Text 9"/>
          <p:cNvSpPr/>
          <p:nvPr/>
        </p:nvSpPr>
        <p:spPr>
          <a:xfrm>
            <a:off x="1005840"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Supera: +5 pontos de acerto e retorno ≥ referência</a:t>
            </a:r>
            <a:endParaRPr lang="en-US" sz="1150" dirty="0"/>
          </a:p>
        </p:txBody>
      </p:sp>
      <p:sp>
        <p:nvSpPr>
          <p:cNvPr id="14" name="Shape 10"/>
          <p:cNvSpPr/>
          <p:nvPr/>
        </p:nvSpPr>
        <p:spPr>
          <a:xfrm>
            <a:off x="6370168" y="4114800"/>
            <a:ext cx="310896" cy="310896"/>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check.png">    </p:cNvPr>
          <p:cNvPicPr>
            <a:picLocks noChangeAspect="1"/>
          </p:cNvPicPr>
          <p:nvPr/>
        </p:nvPicPr>
        <p:blipFill>
          <a:blip r:embed="rId3"/>
          <a:stretch>
            <a:fillRect/>
          </a:stretch>
        </p:blipFill>
        <p:spPr>
          <a:xfrm>
            <a:off x="6438565" y="4183197"/>
            <a:ext cx="174102" cy="174102"/>
          </a:xfrm>
          <a:prstGeom prst="rect">
            <a:avLst/>
          </a:prstGeom>
        </p:spPr>
      </p:pic>
      <p:sp>
        <p:nvSpPr>
          <p:cNvPr id="16" name="Text 11"/>
          <p:cNvSpPr/>
          <p:nvPr/>
        </p:nvSpPr>
        <p:spPr>
          <a:xfrm>
            <a:off x="6827368"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Igual: diferença pequena demais, pode ser acaso</a:t>
            </a:r>
            <a:endParaRPr lang="en-US" sz="1150" dirty="0"/>
          </a:p>
        </p:txBody>
      </p:sp>
      <p:sp>
        <p:nvSpPr>
          <p:cNvPr id="17" name="Shape 12"/>
          <p:cNvSpPr/>
          <p:nvPr/>
        </p:nvSpPr>
        <p:spPr>
          <a:xfrm>
            <a:off x="548640" y="4800600"/>
            <a:ext cx="310896" cy="310896"/>
          </a:xfrm>
          <a:prstGeom prst="ellipse">
            <a:avLst/>
          </a:prstGeom>
          <a:solidFill>
            <a:srgbClr val="00D68F"/>
          </a:solidFill>
          <a:ln/>
        </p:spPr>
        <p:txBody>
          <a:bodyPr/>
          <a:p/>
        </p:txBody>
      </p:sp>
      <p:pic>
        <p:nvPicPr>
          <p:cNvPr id="18" name="Image 3" descr="C:\Users\PC ANTONIO\AppData\Roaming\Claude\scratch-workspaces\f0f5d1bc-bf72-4611-a8ea-e50e459a0a45\08c0c592-3fff-44bf-a144-086c85aaeea0\scratch-2026-09-22-98642c\icons\check.png">    </p:cNvPr>
          <p:cNvPicPr>
            <a:picLocks noChangeAspect="1"/>
          </p:cNvPicPr>
          <p:nvPr/>
        </p:nvPicPr>
        <p:blipFill>
          <a:blip r:embed="rId4"/>
          <a:stretch>
            <a:fillRect/>
          </a:stretch>
        </p:blipFill>
        <p:spPr>
          <a:xfrm>
            <a:off x="617037" y="4868997"/>
            <a:ext cx="174102" cy="174102"/>
          </a:xfrm>
          <a:prstGeom prst="rect">
            <a:avLst/>
          </a:prstGeom>
        </p:spPr>
      </p:pic>
      <p:sp>
        <p:nvSpPr>
          <p:cNvPr id="19" name="Text 13"/>
          <p:cNvSpPr/>
          <p:nvPr/>
        </p:nvSpPr>
        <p:spPr>
          <a:xfrm>
            <a:off x="1005840"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Pior: −5 pontos de acerto ou −0,5 ponto de retorno</a:t>
            </a:r>
            <a:endParaRPr lang="en-US" sz="1150" dirty="0"/>
          </a:p>
        </p:txBody>
      </p:sp>
      <p:sp>
        <p:nvSpPr>
          <p:cNvPr id="20" name="Shape 14"/>
          <p:cNvSpPr/>
          <p:nvPr/>
        </p:nvSpPr>
        <p:spPr>
          <a:xfrm>
            <a:off x="6370168" y="4800600"/>
            <a:ext cx="310896" cy="310896"/>
          </a:xfrm>
          <a:prstGeom prst="ellipse">
            <a:avLst/>
          </a:prstGeom>
          <a:solidFill>
            <a:srgbClr val="00D68F"/>
          </a:solidFill>
          <a:ln/>
        </p:spPr>
        <p:txBody>
          <a:bodyPr/>
          <a:p/>
        </p:txBody>
      </p:sp>
      <p:pic>
        <p:nvPicPr>
          <p:cNvPr id="21" name="Image 4" descr="C:\Users\PC ANTONIO\AppData\Roaming\Claude\scratch-workspaces\f0f5d1bc-bf72-4611-a8ea-e50e459a0a45\08c0c592-3fff-44bf-a144-086c85aaeea0\scratch-2026-09-22-98642c\icons\check.png">    </p:cNvPr>
          <p:cNvPicPr>
            <a:picLocks noChangeAspect="1"/>
          </p:cNvPicPr>
          <p:nvPr/>
        </p:nvPicPr>
        <p:blipFill>
          <a:blip r:embed="rId5"/>
          <a:stretch>
            <a:fillRect/>
          </a:stretch>
        </p:blipFill>
        <p:spPr>
          <a:xfrm>
            <a:off x="6438565" y="4868997"/>
            <a:ext cx="174102" cy="174102"/>
          </a:xfrm>
          <a:prstGeom prst="rect">
            <a:avLst/>
          </a:prstGeom>
        </p:spPr>
      </p:pic>
      <p:sp>
        <p:nvSpPr>
          <p:cNvPr id="22" name="Text 15"/>
          <p:cNvSpPr/>
          <p:nvPr/>
        </p:nvSpPr>
        <p:spPr>
          <a:xfrm>
            <a:off x="6827368"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Poucos sinais: menos de 20 compras para avaliar</a:t>
            </a:r>
            <a:endParaRPr lang="en-US" sz="1150" dirty="0"/>
          </a:p>
        </p:txBody>
      </p:sp>
      <p:sp>
        <p:nvSpPr>
          <p:cNvPr id="23" name="Shape 16"/>
          <p:cNvSpPr/>
          <p:nvPr/>
        </p:nvSpPr>
        <p:spPr>
          <a:xfrm>
            <a:off x="548640" y="5577840"/>
            <a:ext cx="11094415" cy="685800"/>
          </a:xfrm>
          <a:prstGeom prst="roundRect">
            <a:avLst>
              <a:gd name="adj" fmla="val 10667"/>
            </a:avLst>
          </a:prstGeom>
          <a:solidFill>
            <a:srgbClr val="FDECEE"/>
          </a:solidFill>
          <a:ln/>
        </p:spPr>
        <p:txBody>
          <a:bodyPr/>
          <a:p/>
        </p:txBody>
      </p:sp>
      <p:sp>
        <p:nvSpPr>
          <p:cNvPr id="24" name="Shape 17"/>
          <p:cNvSpPr/>
          <p:nvPr/>
        </p:nvSpPr>
        <p:spPr>
          <a:xfrm>
            <a:off x="731520" y="5756148"/>
            <a:ext cx="329184" cy="329184"/>
          </a:xfrm>
          <a:prstGeom prst="ellipse">
            <a:avLst/>
          </a:prstGeom>
          <a:solidFill>
            <a:srgbClr val="E1495A"/>
          </a:solidFill>
          <a:ln/>
        </p:spPr>
        <p:txBody>
          <a:bodyPr/>
          <a:p/>
        </p:txBody>
      </p:sp>
      <p:pic>
        <p:nvPicPr>
          <p:cNvPr id="25"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828568"/>
            <a:ext cx="184343" cy="184343"/>
          </a:xfrm>
          <a:prstGeom prst="rect">
            <a:avLst/>
          </a:prstGeom>
        </p:spPr>
      </p:pic>
      <p:sp>
        <p:nvSpPr>
          <p:cNvPr id="26" name="Text 18"/>
          <p:cNvSpPr/>
          <p:nvPr/>
        </p:nvSpPr>
        <p:spPr>
          <a:xfrm>
            <a:off x="1225296" y="566928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Estatística sobre o passado — não garante desempenho futuro nem é recomendação. Mais histórico (até 1 ano no plano Startup da API de cotações) deixa o resultado mais confiável.</a:t>
            </a:r>
            <a:endParaRPr lang="en-US" sz="1050" dirty="0"/>
          </a:p>
        </p:txBody>
      </p:sp>
      <p:sp>
        <p:nvSpPr>
          <p:cNvPr id="27"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08 · 09  </a:t>
            </a:r>
            <a:pPr indent="0" marL="0">
              <a:buNone/>
            </a:pPr>
            <a:r>
              <a:rPr lang="en-US" sz="1250" b="1" spc="200" kern="0" dirty="0">
                <a:solidFill>
                  <a:srgbClr val="00D68F"/>
                </a:solidFill>
                <a:latin typeface="Calibri" pitchFamily="34" charset="0"/>
                <a:ea typeface="Calibri" pitchFamily="34" charset="-122"/>
                <a:cs typeface="Calibri" pitchFamily="34" charset="-120"/>
              </a:rPr>
              <a:t>MERCADO &amp; SINCRONIZAÇÃO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Análise de mercado e atualizações manuais</a:t>
            </a:r>
            <a:endParaRPr lang="en-US" sz="3000" dirty="0"/>
          </a:p>
        </p:txBody>
      </p:sp>
      <p:sp>
        <p:nvSpPr>
          <p:cNvPr id="4" name="Shape 2"/>
          <p:cNvSpPr/>
          <p:nvPr/>
        </p:nvSpPr>
        <p:spPr>
          <a:xfrm>
            <a:off x="548640" y="1463040"/>
            <a:ext cx="5364328" cy="1828800"/>
          </a:xfrm>
          <a:prstGeom prst="roundRect">
            <a:avLst>
              <a:gd name="adj" fmla="val 45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Maiores altas e baixas do dia</a:t>
            </a:r>
            <a:endParaRPr lang="en-US" sz="1450" dirty="0"/>
          </a:p>
        </p:txBody>
      </p:sp>
      <p:sp>
        <p:nvSpPr>
          <p:cNvPr id="8" name="Text 5"/>
          <p:cNvSpPr/>
          <p:nvPr/>
        </p:nvSpPr>
        <p:spPr>
          <a:xfrm>
            <a:off x="804672" y="2286000"/>
            <a:ext cx="4852264" cy="8412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Lista as 10 maiores altas e as 10 maiores baixas do dia entre todas as ações da B3, via API de cotações.</a:t>
            </a:r>
            <a:endParaRPr lang="en-US" sz="1100" dirty="0"/>
          </a:p>
        </p:txBody>
      </p:sp>
      <p:sp>
        <p:nvSpPr>
          <p:cNvPr id="9" name="Shape 6"/>
          <p:cNvSpPr/>
          <p:nvPr/>
        </p:nvSpPr>
        <p:spPr>
          <a:xfrm>
            <a:off x="6278728" y="1463040"/>
            <a:ext cx="5364328" cy="1828800"/>
          </a:xfrm>
          <a:prstGeom prst="roundRect">
            <a:avLst>
              <a:gd name="adj" fmla="val 45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search.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Indicadores técnicos acompanhados</a:t>
            </a:r>
            <a:endParaRPr lang="en-US" sz="1450" dirty="0"/>
          </a:p>
        </p:txBody>
      </p:sp>
      <p:sp>
        <p:nvSpPr>
          <p:cNvPr id="13" name="Text 9"/>
          <p:cNvSpPr/>
          <p:nvPr/>
        </p:nvSpPr>
        <p:spPr>
          <a:xfrm>
            <a:off x="6534760" y="2286000"/>
            <a:ext cx="4852264" cy="8412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Tabela com tendência, RSI, MACD e sinal geral (votos de compra/venda) de cada ativo do usuário — mesma lógica do robô consultor, para consulta manual. Exportável em Excel/PDF.</a:t>
            </a:r>
            <a:endParaRPr lang="en-US" sz="1100" dirty="0"/>
          </a:p>
        </p:txBody>
      </p:sp>
      <p:sp>
        <p:nvSpPr>
          <p:cNvPr id="14" name="Text 10"/>
          <p:cNvSpPr/>
          <p:nvPr/>
        </p:nvSpPr>
        <p:spPr>
          <a:xfrm>
            <a:off x="548640" y="3566160"/>
            <a:ext cx="82296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Botões de atualização manual disponíveis pelo sistema</a:t>
            </a:r>
            <a:endParaRPr lang="en-US" sz="1350" dirty="0"/>
          </a:p>
        </p:txBody>
      </p:sp>
      <p:sp>
        <p:nvSpPr>
          <p:cNvPr id="15" name="Shape 11"/>
          <p:cNvSpPr/>
          <p:nvPr/>
        </p:nvSpPr>
        <p:spPr>
          <a:xfrm>
            <a:off x="548640" y="3931920"/>
            <a:ext cx="2602154" cy="1691640"/>
          </a:xfrm>
          <a:prstGeom prst="roundRect">
            <a:avLst>
              <a:gd name="adj" fmla="val 4324"/>
            </a:avLst>
          </a:prstGeom>
          <a:solidFill>
            <a:srgbClr val="F3F6FC"/>
          </a:solidFill>
          <a:ln/>
        </p:spPr>
        <p:txBody>
          <a:bodyPr/>
          <a:p/>
        </p:txBody>
      </p:sp>
      <p:sp>
        <p:nvSpPr>
          <p:cNvPr id="16" name="Shape 12"/>
          <p:cNvSpPr/>
          <p:nvPr/>
        </p:nvSpPr>
        <p:spPr>
          <a:xfrm>
            <a:off x="1666837" y="4096512"/>
            <a:ext cx="365760" cy="36576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refresh.png">    </p:cNvPr>
          <p:cNvPicPr>
            <a:picLocks noChangeAspect="1"/>
          </p:cNvPicPr>
          <p:nvPr/>
        </p:nvPicPr>
        <p:blipFill>
          <a:blip r:embed="rId3"/>
          <a:stretch>
            <a:fillRect/>
          </a:stretch>
        </p:blipFill>
        <p:spPr>
          <a:xfrm>
            <a:off x="1747304" y="4176979"/>
            <a:ext cx="204826" cy="204826"/>
          </a:xfrm>
          <a:prstGeom prst="rect">
            <a:avLst/>
          </a:prstGeom>
        </p:spPr>
      </p:pic>
      <p:sp>
        <p:nvSpPr>
          <p:cNvPr id="18" name="Text 13"/>
          <p:cNvSpPr/>
          <p:nvPr/>
        </p:nvSpPr>
        <p:spPr>
          <a:xfrm>
            <a:off x="640080"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Cotações agora</a:t>
            </a:r>
            <a:endParaRPr lang="en-US" sz="1050" dirty="0"/>
          </a:p>
        </p:txBody>
      </p:sp>
      <p:sp>
        <p:nvSpPr>
          <p:cNvPr id="19" name="Text 14"/>
          <p:cNvSpPr/>
          <p:nvPr/>
        </p:nvSpPr>
        <p:spPr>
          <a:xfrm>
            <a:off x="658368"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Busca a cotação mais recente e dispara metas + robô. Só ativo em horário de pregão.</a:t>
            </a:r>
            <a:endParaRPr lang="en-US" sz="860" dirty="0"/>
          </a:p>
        </p:txBody>
      </p:sp>
      <p:sp>
        <p:nvSpPr>
          <p:cNvPr id="20" name="Shape 15"/>
          <p:cNvSpPr/>
          <p:nvPr/>
        </p:nvSpPr>
        <p:spPr>
          <a:xfrm>
            <a:off x="3379394" y="3931920"/>
            <a:ext cx="2602154" cy="1691640"/>
          </a:xfrm>
          <a:prstGeom prst="roundRect">
            <a:avLst>
              <a:gd name="adj" fmla="val 4324"/>
            </a:avLst>
          </a:prstGeom>
          <a:solidFill>
            <a:srgbClr val="F3F6FC"/>
          </a:solidFill>
          <a:ln/>
        </p:spPr>
        <p:txBody>
          <a:bodyPr/>
          <a:p/>
        </p:txBody>
      </p:sp>
      <p:sp>
        <p:nvSpPr>
          <p:cNvPr id="21" name="Shape 16"/>
          <p:cNvSpPr/>
          <p:nvPr/>
        </p:nvSpPr>
        <p:spPr>
          <a:xfrm>
            <a:off x="4497591" y="4096512"/>
            <a:ext cx="365760" cy="365760"/>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pieChart.png">    </p:cNvPr>
          <p:cNvPicPr>
            <a:picLocks noChangeAspect="1"/>
          </p:cNvPicPr>
          <p:nvPr/>
        </p:nvPicPr>
        <p:blipFill>
          <a:blip r:embed="rId4"/>
          <a:stretch>
            <a:fillRect/>
          </a:stretch>
        </p:blipFill>
        <p:spPr>
          <a:xfrm>
            <a:off x="4578058" y="4176979"/>
            <a:ext cx="204826" cy="204826"/>
          </a:xfrm>
          <a:prstGeom prst="rect">
            <a:avLst/>
          </a:prstGeom>
        </p:spPr>
      </p:pic>
      <p:sp>
        <p:nvSpPr>
          <p:cNvPr id="23" name="Text 17"/>
          <p:cNvSpPr/>
          <p:nvPr/>
        </p:nvSpPr>
        <p:spPr>
          <a:xfrm>
            <a:off x="3470834"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Benchmarks</a:t>
            </a:r>
            <a:endParaRPr lang="en-US" sz="1050" dirty="0"/>
          </a:p>
        </p:txBody>
      </p:sp>
      <p:sp>
        <p:nvSpPr>
          <p:cNvPr id="24" name="Text 18"/>
          <p:cNvSpPr/>
          <p:nvPr/>
        </p:nvSpPr>
        <p:spPr>
          <a:xfrm>
            <a:off x="3489122"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Ibovespa / CDI — busca até 3 meses de histórico de uma vez.</a:t>
            </a:r>
            <a:endParaRPr lang="en-US" sz="860" dirty="0"/>
          </a:p>
        </p:txBody>
      </p:sp>
      <p:sp>
        <p:nvSpPr>
          <p:cNvPr id="25" name="Shape 19"/>
          <p:cNvSpPr/>
          <p:nvPr/>
        </p:nvSpPr>
        <p:spPr>
          <a:xfrm>
            <a:off x="6210148" y="3931920"/>
            <a:ext cx="2602154" cy="1691640"/>
          </a:xfrm>
          <a:prstGeom prst="roundRect">
            <a:avLst>
              <a:gd name="adj" fmla="val 4324"/>
            </a:avLst>
          </a:prstGeom>
          <a:solidFill>
            <a:srgbClr val="F3F6FC"/>
          </a:solidFill>
          <a:ln/>
        </p:spPr>
        <p:txBody>
          <a:bodyPr/>
          <a:p/>
        </p:txBody>
      </p:sp>
      <p:sp>
        <p:nvSpPr>
          <p:cNvPr id="26" name="Shape 20"/>
          <p:cNvSpPr/>
          <p:nvPr/>
        </p:nvSpPr>
        <p:spPr>
          <a:xfrm>
            <a:off x="7328345" y="4096512"/>
            <a:ext cx="365760" cy="365760"/>
          </a:xfrm>
          <a:prstGeom prst="ellipse">
            <a:avLst/>
          </a:prstGeom>
          <a:solidFill>
            <a:srgbClr val="0D1B3E"/>
          </a:solidFill>
          <a:ln/>
        </p:spPr>
        <p:txBody>
          <a:bodyPr/>
          <a:p/>
        </p:txBody>
      </p:sp>
      <p:pic>
        <p:nvPicPr>
          <p:cNvPr id="27" name="Image 4" descr="C:\Users\PC ANTONIO\AppData\Roaming\Claude\scratch-workspaces\f0f5d1bc-bf72-4611-a8ea-e50e459a0a45\08c0c592-3fff-44bf-a144-086c85aaeea0\scratch-2026-09-22-98642c\icons\news.png">    </p:cNvPr>
          <p:cNvPicPr>
            <a:picLocks noChangeAspect="1"/>
          </p:cNvPicPr>
          <p:nvPr/>
        </p:nvPicPr>
        <p:blipFill>
          <a:blip r:embed="rId5"/>
          <a:stretch>
            <a:fillRect/>
          </a:stretch>
        </p:blipFill>
        <p:spPr>
          <a:xfrm>
            <a:off x="7408812" y="4176979"/>
            <a:ext cx="204826" cy="204826"/>
          </a:xfrm>
          <a:prstGeom prst="rect">
            <a:avLst/>
          </a:prstGeom>
        </p:spPr>
      </p:pic>
      <p:sp>
        <p:nvSpPr>
          <p:cNvPr id="28" name="Text 21"/>
          <p:cNvSpPr/>
          <p:nvPr/>
        </p:nvSpPr>
        <p:spPr>
          <a:xfrm>
            <a:off x="6301588"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Notícias agora</a:t>
            </a:r>
            <a:endParaRPr lang="en-US" sz="1050" dirty="0"/>
          </a:p>
        </p:txBody>
      </p:sp>
      <p:sp>
        <p:nvSpPr>
          <p:cNvPr id="29" name="Text 22"/>
          <p:cNvSpPr/>
          <p:nvPr/>
        </p:nvSpPr>
        <p:spPr>
          <a:xfrm>
            <a:off x="6319876"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Verifica as fontes ativas e destaca em amarelo as manchetes do ativo informado.</a:t>
            </a:r>
            <a:endParaRPr lang="en-US" sz="860" dirty="0"/>
          </a:p>
        </p:txBody>
      </p:sp>
      <p:sp>
        <p:nvSpPr>
          <p:cNvPr id="30" name="Shape 23"/>
          <p:cNvSpPr/>
          <p:nvPr/>
        </p:nvSpPr>
        <p:spPr>
          <a:xfrm>
            <a:off x="9040901" y="3931920"/>
            <a:ext cx="2602154" cy="1691640"/>
          </a:xfrm>
          <a:prstGeom prst="roundRect">
            <a:avLst>
              <a:gd name="adj" fmla="val 4324"/>
            </a:avLst>
          </a:prstGeom>
          <a:solidFill>
            <a:srgbClr val="F3F6FC"/>
          </a:solidFill>
          <a:ln/>
        </p:spPr>
        <p:txBody>
          <a:bodyPr/>
          <a:p/>
        </p:txBody>
      </p:sp>
      <p:sp>
        <p:nvSpPr>
          <p:cNvPr id="31" name="Shape 24"/>
          <p:cNvSpPr/>
          <p:nvPr/>
        </p:nvSpPr>
        <p:spPr>
          <a:xfrm>
            <a:off x="10159098" y="4096512"/>
            <a:ext cx="365760" cy="365760"/>
          </a:xfrm>
          <a:prstGeom prst="ellipse">
            <a:avLst/>
          </a:prstGeom>
          <a:solidFill>
            <a:srgbClr val="0D1B3E"/>
          </a:solidFill>
          <a:ln/>
        </p:spPr>
        <p:txBody>
          <a:bodyPr/>
          <a:p/>
        </p:txBody>
      </p:sp>
      <p:pic>
        <p:nvPicPr>
          <p:cNvPr id="32" name="Image 5" descr="C:\Users\PC ANTONIO\AppData\Roaming\Claude\scratch-workspaces\f0f5d1bc-bf72-4611-a8ea-e50e459a0a45\08c0c592-3fff-44bf-a144-086c85aaeea0\scratch-2026-09-22-98642c\icons\building.png">    </p:cNvPr>
          <p:cNvPicPr>
            <a:picLocks noChangeAspect="1"/>
          </p:cNvPicPr>
          <p:nvPr/>
        </p:nvPicPr>
        <p:blipFill>
          <a:blip r:embed="rId6"/>
          <a:stretch>
            <a:fillRect/>
          </a:stretch>
        </p:blipFill>
        <p:spPr>
          <a:xfrm>
            <a:off x="10239566" y="4176979"/>
            <a:ext cx="204826" cy="204826"/>
          </a:xfrm>
          <a:prstGeom prst="rect">
            <a:avLst/>
          </a:prstGeom>
        </p:spPr>
      </p:pic>
      <p:sp>
        <p:nvSpPr>
          <p:cNvPr id="33" name="Text 25"/>
          <p:cNvSpPr/>
          <p:nvPr/>
        </p:nvSpPr>
        <p:spPr>
          <a:xfrm>
            <a:off x="9132341"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Lista de Ações B3</a:t>
            </a:r>
            <a:endParaRPr lang="en-US" sz="1050" dirty="0"/>
          </a:p>
        </p:txBody>
      </p:sp>
      <p:sp>
        <p:nvSpPr>
          <p:cNvPr id="34" name="Text 26"/>
          <p:cNvSpPr/>
          <p:nvPr/>
        </p:nvSpPr>
        <p:spPr>
          <a:xfrm>
            <a:off x="9150629"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Reconstrói o catálogo completo a partir da API.</a:t>
            </a:r>
            <a:endParaRPr lang="en-US" sz="860" dirty="0"/>
          </a:p>
        </p:txBody>
      </p:sp>
      <p:sp>
        <p:nvSpPr>
          <p:cNvPr id="35" name="Text 2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6" name="Text 2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18  </a:t>
            </a:r>
            <a:pPr indent="0" marL="0">
              <a:buNone/>
            </a:pPr>
            <a:r>
              <a:rPr lang="en-US" sz="1250" b="1" spc="200" kern="0" dirty="0">
                <a:solidFill>
                  <a:srgbClr val="00D68F"/>
                </a:solidFill>
                <a:latin typeface="Calibri" pitchFamily="34" charset="0"/>
                <a:ea typeface="Calibri" pitchFamily="34" charset="-122"/>
                <a:cs typeface="Calibri" pitchFamily="34" charset="-120"/>
              </a:rPr>
              <a:t>SCANNER TÉCNICO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Scanner técnico — leitura combinada</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Combina, num só painel por ativo, seis indicadores técnicos de cada ação realmente comprada. Acessível pelo Menu ou por um botão na tela Posições em Carteira.</a:t>
            </a:r>
            <a:endParaRPr lang="en-US" sz="1150" dirty="0"/>
          </a:p>
        </p:txBody>
      </p:sp>
      <p:sp>
        <p:nvSpPr>
          <p:cNvPr id="5" name="Shape 3"/>
          <p:cNvSpPr/>
          <p:nvPr/>
        </p:nvSpPr>
        <p:spPr>
          <a:xfrm>
            <a:off x="548640" y="1874520"/>
            <a:ext cx="1734769" cy="960120"/>
          </a:xfrm>
          <a:prstGeom prst="roundRect">
            <a:avLst>
              <a:gd name="adj" fmla="val 6667"/>
            </a:avLst>
          </a:prstGeom>
          <a:solidFill>
            <a:srgbClr val="0D1B3E"/>
          </a:solidFill>
          <a:ln/>
        </p:spPr>
        <p:txBody>
          <a:bodyPr/>
          <a:p/>
        </p:txBody>
      </p:sp>
      <p:sp>
        <p:nvSpPr>
          <p:cNvPr id="6" name="Text 4"/>
          <p:cNvSpPr/>
          <p:nvPr/>
        </p:nvSpPr>
        <p:spPr>
          <a:xfrm>
            <a:off x="621792"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IFR (RSI)</a:t>
            </a:r>
            <a:endParaRPr lang="en-US" sz="1000" dirty="0"/>
          </a:p>
        </p:txBody>
      </p:sp>
      <p:sp>
        <p:nvSpPr>
          <p:cNvPr id="7" name="Shape 5"/>
          <p:cNvSpPr/>
          <p:nvPr/>
        </p:nvSpPr>
        <p:spPr>
          <a:xfrm>
            <a:off x="2420569" y="1874520"/>
            <a:ext cx="1734769" cy="960120"/>
          </a:xfrm>
          <a:prstGeom prst="roundRect">
            <a:avLst>
              <a:gd name="adj" fmla="val 6667"/>
            </a:avLst>
          </a:prstGeom>
          <a:solidFill>
            <a:srgbClr val="16264D"/>
          </a:solidFill>
          <a:ln/>
        </p:spPr>
        <p:txBody>
          <a:bodyPr/>
          <a:p/>
        </p:txBody>
      </p:sp>
      <p:sp>
        <p:nvSpPr>
          <p:cNvPr id="8" name="Text 6"/>
          <p:cNvSpPr/>
          <p:nvPr/>
        </p:nvSpPr>
        <p:spPr>
          <a:xfrm>
            <a:off x="2493721"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Médias móveis</a:t>
            </a:r>
            <a:endParaRPr lang="en-US" sz="1000" dirty="0"/>
          </a:p>
        </p:txBody>
      </p:sp>
      <p:sp>
        <p:nvSpPr>
          <p:cNvPr id="9" name="Shape 7"/>
          <p:cNvSpPr/>
          <p:nvPr/>
        </p:nvSpPr>
        <p:spPr>
          <a:xfrm>
            <a:off x="4292498" y="1874520"/>
            <a:ext cx="1734769" cy="960120"/>
          </a:xfrm>
          <a:prstGeom prst="roundRect">
            <a:avLst>
              <a:gd name="adj" fmla="val 6667"/>
            </a:avLst>
          </a:prstGeom>
          <a:solidFill>
            <a:srgbClr val="0D1B3E"/>
          </a:solidFill>
          <a:ln/>
        </p:spPr>
        <p:txBody>
          <a:bodyPr/>
          <a:p/>
        </p:txBody>
      </p:sp>
      <p:sp>
        <p:nvSpPr>
          <p:cNvPr id="10" name="Text 8"/>
          <p:cNvSpPr/>
          <p:nvPr/>
        </p:nvSpPr>
        <p:spPr>
          <a:xfrm>
            <a:off x="4365650"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MACD</a:t>
            </a:r>
            <a:endParaRPr lang="en-US" sz="1000" dirty="0"/>
          </a:p>
        </p:txBody>
      </p:sp>
      <p:sp>
        <p:nvSpPr>
          <p:cNvPr id="11" name="Shape 9"/>
          <p:cNvSpPr/>
          <p:nvPr/>
        </p:nvSpPr>
        <p:spPr>
          <a:xfrm>
            <a:off x="6164428" y="1874520"/>
            <a:ext cx="1734769" cy="960120"/>
          </a:xfrm>
          <a:prstGeom prst="roundRect">
            <a:avLst>
              <a:gd name="adj" fmla="val 6667"/>
            </a:avLst>
          </a:prstGeom>
          <a:solidFill>
            <a:srgbClr val="16264D"/>
          </a:solidFill>
          <a:ln/>
        </p:spPr>
        <p:txBody>
          <a:bodyPr/>
          <a:p/>
        </p:txBody>
      </p:sp>
      <p:sp>
        <p:nvSpPr>
          <p:cNvPr id="12" name="Text 10"/>
          <p:cNvSpPr/>
          <p:nvPr/>
        </p:nvSpPr>
        <p:spPr>
          <a:xfrm>
            <a:off x="6237580"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Volume</a:t>
            </a:r>
            <a:endParaRPr lang="en-US" sz="1000" dirty="0"/>
          </a:p>
        </p:txBody>
      </p:sp>
      <p:sp>
        <p:nvSpPr>
          <p:cNvPr id="13" name="Shape 11"/>
          <p:cNvSpPr/>
          <p:nvPr/>
        </p:nvSpPr>
        <p:spPr>
          <a:xfrm>
            <a:off x="8036357" y="1874520"/>
            <a:ext cx="1734769" cy="960120"/>
          </a:xfrm>
          <a:prstGeom prst="roundRect">
            <a:avLst>
              <a:gd name="adj" fmla="val 6667"/>
            </a:avLst>
          </a:prstGeom>
          <a:solidFill>
            <a:srgbClr val="0D1B3E"/>
          </a:solidFill>
          <a:ln/>
        </p:spPr>
        <p:txBody>
          <a:bodyPr/>
          <a:p/>
        </p:txBody>
      </p:sp>
      <p:sp>
        <p:nvSpPr>
          <p:cNvPr id="14" name="Text 12"/>
          <p:cNvSpPr/>
          <p:nvPr/>
        </p:nvSpPr>
        <p:spPr>
          <a:xfrm>
            <a:off x="8109509"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Volatilidade</a:t>
            </a:r>
            <a:endParaRPr lang="en-US" sz="1000" dirty="0"/>
          </a:p>
        </p:txBody>
      </p:sp>
      <p:sp>
        <p:nvSpPr>
          <p:cNvPr id="15" name="Shape 13"/>
          <p:cNvSpPr/>
          <p:nvPr/>
        </p:nvSpPr>
        <p:spPr>
          <a:xfrm>
            <a:off x="9908286" y="1874520"/>
            <a:ext cx="1734769" cy="960120"/>
          </a:xfrm>
          <a:prstGeom prst="roundRect">
            <a:avLst>
              <a:gd name="adj" fmla="val 6667"/>
            </a:avLst>
          </a:prstGeom>
          <a:solidFill>
            <a:srgbClr val="16264D"/>
          </a:solidFill>
          <a:ln/>
        </p:spPr>
        <p:txBody>
          <a:bodyPr/>
          <a:p/>
        </p:txBody>
      </p:sp>
      <p:sp>
        <p:nvSpPr>
          <p:cNvPr id="16" name="Text 14"/>
          <p:cNvSpPr/>
          <p:nvPr/>
        </p:nvSpPr>
        <p:spPr>
          <a:xfrm>
            <a:off x="9981438"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Tendência</a:t>
            </a:r>
            <a:endParaRPr lang="en-US" sz="1000" dirty="0"/>
          </a:p>
        </p:txBody>
      </p:sp>
      <p:sp>
        <p:nvSpPr>
          <p:cNvPr id="17" name="Text 15"/>
          <p:cNvSpPr/>
          <p:nvPr/>
        </p:nvSpPr>
        <p:spPr>
          <a:xfrm>
            <a:off x="548640" y="3063240"/>
            <a:ext cx="54864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Como ler o veredito</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429000"/>
          <a:ext cx="11094415" cy="914400"/>
        </p:xfrm>
        <a:graphic>
          <a:graphicData uri="http://schemas.openxmlformats.org/drawingml/2006/table">
            <a:tbl>
              <a:tblPr/>
              <a:tblGrid>
                <a:gridCol w="3108960"/>
                <a:gridCol w="7985455"/>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Veredito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Significado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Predomínio de alta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Todos os indicadores que apontaram direção concordam em alta.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Predomínio de baixa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Todos os indicadores que apontaram direção concordam em baixa.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Indicadores conflitantes</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Pelo menos um aponta alta e outro aponta baixa ao mesmo tempo.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Neutro / aguardando histórico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Nenhuma direção clara, ou cotações insuficientes ainda.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9" name="Shape 16"/>
          <p:cNvSpPr/>
          <p:nvPr/>
        </p:nvSpPr>
        <p:spPr>
          <a:xfrm>
            <a:off x="548640" y="5623560"/>
            <a:ext cx="11094415" cy="640080"/>
          </a:xfrm>
          <a:prstGeom prst="roundRect">
            <a:avLst>
              <a:gd name="adj" fmla="val 11429"/>
            </a:avLst>
          </a:prstGeom>
          <a:solidFill>
            <a:srgbClr val="EAF0FB"/>
          </a:solidFill>
          <a:ln/>
        </p:spPr>
        <p:txBody>
          <a:bodyPr/>
          <a:p/>
        </p:txBody>
      </p:sp>
      <p:sp>
        <p:nvSpPr>
          <p:cNvPr id="20" name="Shape 17"/>
          <p:cNvSpPr/>
          <p:nvPr/>
        </p:nvSpPr>
        <p:spPr>
          <a:xfrm>
            <a:off x="731520" y="5779008"/>
            <a:ext cx="329184" cy="329184"/>
          </a:xfrm>
          <a:prstGeom prst="ellipse">
            <a:avLst/>
          </a:prstGeom>
          <a:solidFill>
            <a:srgbClr val="0D1B3E"/>
          </a:solidFill>
          <a:ln/>
        </p:spPr>
        <p:txBody>
          <a:bodyPr/>
          <a:p/>
        </p:txBody>
      </p:sp>
      <p:pic>
        <p:nvPicPr>
          <p:cNvPr id="21" name="Image 0" descr="C:\Users\PC ANTONIO\AppData\Roaming\Claude\scratch-workspaces\f0f5d1bc-bf72-4611-a8ea-e50e459a0a45\08c0c592-3fff-44bf-a144-086c85aaeea0\scratch-2026-09-22-98642c\icons\info.png">    </p:cNvPr>
          <p:cNvPicPr>
            <a:picLocks noChangeAspect="1"/>
          </p:cNvPicPr>
          <p:nvPr/>
        </p:nvPicPr>
        <p:blipFill>
          <a:blip r:embed="rId1"/>
          <a:stretch>
            <a:fillRect/>
          </a:stretch>
        </p:blipFill>
        <p:spPr>
          <a:xfrm>
            <a:off x="803940" y="5851428"/>
            <a:ext cx="184343" cy="184343"/>
          </a:xfrm>
          <a:prstGeom prst="rect">
            <a:avLst/>
          </a:prstGeom>
        </p:spPr>
      </p:pic>
      <p:sp>
        <p:nvSpPr>
          <p:cNvPr id="22" name="Text 18"/>
          <p:cNvSpPr/>
          <p:nvPr/>
        </p:nvSpPr>
        <p:spPr>
          <a:xfrm>
            <a:off x="1225296" y="5715000"/>
            <a:ext cx="10234879" cy="45720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Diferente do robô consultor (que sempre escolhe um lado por votação), o Scanner mostra explicitamente quando o mercado está indeciso, em vez de forçar uma previsão.</a:t>
            </a:r>
            <a:endParaRPr lang="en-US" sz="1050" dirty="0"/>
          </a:p>
        </p:txBody>
      </p:sp>
      <p:sp>
        <p:nvSpPr>
          <p:cNvPr id="23"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4"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10 · 11  </a:t>
            </a:r>
            <a:pPr indent="0" marL="0">
              <a:buNone/>
            </a:pPr>
            <a:r>
              <a:rPr lang="en-US" sz="1250" b="1" spc="200" kern="0" dirty="0">
                <a:solidFill>
                  <a:srgbClr val="00D68F"/>
                </a:solidFill>
                <a:latin typeface="Calibri" pitchFamily="34" charset="0"/>
                <a:ea typeface="Calibri" pitchFamily="34" charset="-122"/>
                <a:cs typeface="Calibri" pitchFamily="34" charset="-120"/>
              </a:rPr>
              <a:t>HISTÓRICO &amp; COTAÇÕES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Histórico, gráficos e detalhes de cotações</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Histórico e gráficos</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Gráfico de linha com a evolução do preço de fechamento de cada ativo comprado, mais tabela com data, fechamento e variação do dia. Ativos reservados aparecem à parte, com gráfico desde a data da reserva.</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Detalhes de cotações</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Um cartão por ativo com preço atual, variação do dia, máxima/mínima, abertura, fechamento anterior, volume, valor de mercado e faixa de 52 semanas.</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3"/>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Cotação avulsa e preço alvo</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Permite consultar qualquer ticker, mesmo fora da carteira, direto da API. O campo "Preço alvo" calcula na hora o lucro/perda se o ativo fosse vendido naquele preço.</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O que é o IFR (RSI)?</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Cartão explicativo com fórmula, régua visual de 0 a 100, significado de cada faixa e explicação sobre divergências entre preço e IFR.</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Checklist de confirmação de sinais</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5"/>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Sinais de alta</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IFR &lt; 35, preço acima da média de 21 dias, volume acima da média, MACD positivo, tendência de curto prazo positiva.</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6"/>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Sinais de baixa</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IFR &gt; 65, preço abaixo da média de 21 dias, volume aumentando na queda, MACD negativo, tendência de curto prazo negativa.</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11.6 · 11.7  </a:t>
            </a:r>
            <a:pPr indent="0" marL="0">
              <a:buNone/>
            </a:pPr>
            <a:r>
              <a:rPr lang="en-US" sz="1250" b="1" spc="200" kern="0" dirty="0">
                <a:solidFill>
                  <a:srgbClr val="00D68F"/>
                </a:solidFill>
                <a:latin typeface="Calibri" pitchFamily="34" charset="0"/>
                <a:ea typeface="Calibri" pitchFamily="34" charset="-122"/>
                <a:cs typeface="Calibri" pitchFamily="34" charset="-120"/>
              </a:rPr>
              <a:t>REGISTROS DE COTAÇÕES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Registros de cotações e gráfico compra x alvo</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Registro a cada atualização</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Ativo, data, hora e valor de cada ativo em carteira, gravados pela rotina automática (Automática) e pelo botão ou consulta avulsa (Manual).</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Grid em Detalhes de Cotações</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Botão "Registros de cotações", ao lado de "Pesquisar cotação": registros do ticker digitado ou de todos os ativos, do mais recente ao mais antigo.</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3"/>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Gráfico compra x alvo em popup</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Botão de gráfico ao lado do ticker: linha das cotações registradas com o preço de compra (azul) e o alvo (laranja) como referências.</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Exclusão após a venda</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Depois de vender, o sistema pergunta se exclui os registros do ativo: Sim apaga todos, Não mantém.</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Onde fica o botão de gráfico</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5"/>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Posições em Carteira e Painel</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lado do ticker na tabela de compradas; compra = preço médio da posição, alvo = meta de lucro.</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6"/>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Minhas Operações › Em carteira</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lado do ticker de cada lote com saldo; usa o preço de compra e o alvo (meta de lucro) daquele lote, e não o preço médio da posição.</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13 · 14 · 15 · 16  </a:t>
            </a:r>
            <a:pPr indent="0" marL="0">
              <a:buNone/>
            </a:pPr>
            <a:r>
              <a:rPr lang="en-US" sz="1250" b="1" spc="200" kern="0" dirty="0">
                <a:solidFill>
                  <a:srgbClr val="00D68F"/>
                </a:solidFill>
                <a:latin typeface="Calibri" pitchFamily="34" charset="0"/>
                <a:ea typeface="Calibri" pitchFamily="34" charset="-122"/>
                <a:cs typeface="Calibri" pitchFamily="34" charset="-120"/>
              </a:rPr>
              <a:t>CONTEÚDO &amp; NOTIFICAÇÕES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2700" b="1" dirty="0">
                <a:solidFill>
                  <a:srgbClr val="0D1B3E"/>
                </a:solidFill>
                <a:latin typeface="Calibri" pitchFamily="34" charset="0"/>
                <a:ea typeface="Calibri" pitchFamily="34" charset="-122"/>
                <a:cs typeface="Calibri" pitchFamily="34" charset="-120"/>
              </a:rPr>
              <a:t>Notícias, TradingView, alertas e WhatsApp</a:t>
            </a:r>
            <a:endParaRPr lang="en-US" sz="2700" dirty="0"/>
          </a:p>
        </p:txBody>
      </p:sp>
      <p:sp>
        <p:nvSpPr>
          <p:cNvPr id="4" name="Shape 2"/>
          <p:cNvSpPr/>
          <p:nvPr/>
        </p:nvSpPr>
        <p:spPr>
          <a:xfrm>
            <a:off x="548640" y="1417320"/>
            <a:ext cx="536432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65506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news.png">    </p:cNvPr>
          <p:cNvPicPr>
            <a:picLocks noChangeAspect="1"/>
          </p:cNvPicPr>
          <p:nvPr/>
        </p:nvPicPr>
        <p:blipFill>
          <a:blip r:embed="rId1"/>
          <a:stretch>
            <a:fillRect/>
          </a:stretch>
        </p:blipFill>
        <p:spPr>
          <a:xfrm>
            <a:off x="923544" y="1773936"/>
            <a:ext cx="219456" cy="219456"/>
          </a:xfrm>
          <a:prstGeom prst="rect">
            <a:avLst/>
          </a:prstGeom>
        </p:spPr>
      </p:pic>
      <p:sp>
        <p:nvSpPr>
          <p:cNvPr id="7" name="Text 4"/>
          <p:cNvSpPr/>
          <p:nvPr/>
        </p:nvSpPr>
        <p:spPr>
          <a:xfrm>
            <a:off x="1426464" y="16002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Notícias do mercado</a:t>
            </a:r>
            <a:endParaRPr lang="en-US" sz="1350" dirty="0"/>
          </a:p>
        </p:txBody>
      </p:sp>
      <p:sp>
        <p:nvSpPr>
          <p:cNvPr id="8" name="Text 5"/>
          <p:cNvSpPr/>
          <p:nvPr/>
        </p:nvSpPr>
        <p:spPr>
          <a:xfrm>
            <a:off x="804672" y="2240280"/>
            <a:ext cx="4852264" cy="429768"/>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Fontes gerenciadas pelos administradores e compartilhadas como um mural comum. Manchetes novas ganham o selo "Nova" e as que citam o ativo informado ficam em amarelo. Administradores podem limpar todas as manchetes com um clique.</a:t>
            </a:r>
            <a:endParaRPr lang="en-US" sz="1000" dirty="0"/>
          </a:p>
        </p:txBody>
      </p:sp>
      <p:sp>
        <p:nvSpPr>
          <p:cNvPr id="9" name="Shape 6"/>
          <p:cNvSpPr/>
          <p:nvPr/>
        </p:nvSpPr>
        <p:spPr>
          <a:xfrm>
            <a:off x="6278728" y="1417320"/>
            <a:ext cx="536432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65506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tv.png">    </p:cNvPr>
          <p:cNvPicPr>
            <a:picLocks noChangeAspect="1"/>
          </p:cNvPicPr>
          <p:nvPr/>
        </p:nvPicPr>
        <p:blipFill>
          <a:blip r:embed="rId2"/>
          <a:stretch>
            <a:fillRect/>
          </a:stretch>
        </p:blipFill>
        <p:spPr>
          <a:xfrm>
            <a:off x="6653632" y="1773936"/>
            <a:ext cx="219456" cy="219456"/>
          </a:xfrm>
          <a:prstGeom prst="rect">
            <a:avLst/>
          </a:prstGeom>
        </p:spPr>
      </p:pic>
      <p:sp>
        <p:nvSpPr>
          <p:cNvPr id="12" name="Text 8"/>
          <p:cNvSpPr/>
          <p:nvPr/>
        </p:nvSpPr>
        <p:spPr>
          <a:xfrm>
            <a:off x="7156552" y="16002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TradingView embutido</a:t>
            </a:r>
            <a:endParaRPr lang="en-US" sz="1350" dirty="0"/>
          </a:p>
        </p:txBody>
      </p:sp>
      <p:sp>
        <p:nvSpPr>
          <p:cNvPr id="13" name="Text 9"/>
          <p:cNvSpPr/>
          <p:nvPr/>
        </p:nvSpPr>
        <p:spPr>
          <a:xfrm>
            <a:off x="6534760" y="2240280"/>
            <a:ext cx="4852264" cy="429768"/>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Gráfico avançado oficial, com busca de qualquer ativo, indicadores e ferramentas de desenho. Um campo permite abrir qualquer URL do site em nova aba (bloqueio de segurança do próprio TradingView).</a:t>
            </a:r>
            <a:endParaRPr lang="en-US" sz="1000" dirty="0"/>
          </a:p>
        </p:txBody>
      </p:sp>
      <p:sp>
        <p:nvSpPr>
          <p:cNvPr id="14" name="Text 10"/>
          <p:cNvSpPr/>
          <p:nvPr/>
        </p:nvSpPr>
        <p:spPr>
          <a:xfrm>
            <a:off x="548640" y="3017520"/>
            <a:ext cx="54864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Tipos de alerta</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4415" cy="914400"/>
        </p:xfrm>
        <a:graphic>
          <a:graphicData uri="http://schemas.openxmlformats.org/drawingml/2006/table">
            <a:tbl>
              <a:tblPr/>
              <a:tblGrid>
                <a:gridCol w="2743200"/>
                <a:gridCol w="8351215"/>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Tipo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Quando é gerado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Lucro / Perda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Uma posição comprada atinge a meta (%) configurada.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Tendência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Mudança relevante na tendência (média móvel) de um ativo.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Sinal de compra / venda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O robô consultor identifica um sinal técnico (RSI + MACD + tendência).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6" name="Shape 11"/>
          <p:cNvSpPr/>
          <p:nvPr/>
        </p:nvSpPr>
        <p:spPr>
          <a:xfrm>
            <a:off x="548640" y="4663440"/>
            <a:ext cx="11094415" cy="1143000"/>
          </a:xfrm>
          <a:prstGeom prst="roundRect">
            <a:avLst>
              <a:gd name="adj" fmla="val 72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2"/>
          <p:cNvSpPr/>
          <p:nvPr/>
        </p:nvSpPr>
        <p:spPr>
          <a:xfrm>
            <a:off x="804672" y="4901184"/>
            <a:ext cx="310896" cy="310896"/>
          </a:xfrm>
          <a:prstGeom prst="ellipse">
            <a:avLst/>
          </a:prstGeom>
          <a:solidFill>
            <a:srgbClr val="00D68F"/>
          </a:solidFill>
          <a:ln/>
        </p:spPr>
        <p:txBody>
          <a:bodyPr/>
          <a:p/>
        </p:txBody>
      </p:sp>
      <p:pic>
        <p:nvPicPr>
          <p:cNvPr id="18" name="Image 2" descr="C:\Users\PC ANTONIO\AppData\Roaming\Claude\scratch-workspaces\f0f5d1bc-bf72-4611-a8ea-e50e459a0a45\08c0c592-3fff-44bf-a144-086c85aaeea0\scratch-2026-09-22-98642c\icons\whatsapp.png">    </p:cNvPr>
          <p:cNvPicPr>
            <a:picLocks noChangeAspect="1"/>
          </p:cNvPicPr>
          <p:nvPr/>
        </p:nvPicPr>
        <p:blipFill>
          <a:blip r:embed="rId3"/>
          <a:stretch>
            <a:fillRect/>
          </a:stretch>
        </p:blipFill>
        <p:spPr>
          <a:xfrm>
            <a:off x="885505" y="4982017"/>
            <a:ext cx="149230" cy="149230"/>
          </a:xfrm>
          <a:prstGeom prst="rect">
            <a:avLst/>
          </a:prstGeom>
        </p:spPr>
      </p:pic>
      <p:sp>
        <p:nvSpPr>
          <p:cNvPr id="19" name="Text 13"/>
          <p:cNvSpPr/>
          <p:nvPr/>
        </p:nvSpPr>
        <p:spPr>
          <a:xfrm>
            <a:off x="1280160" y="484632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WhatsApp</a:t>
            </a:r>
            <a:endParaRPr lang="en-US" sz="1350" dirty="0"/>
          </a:p>
        </p:txBody>
      </p:sp>
      <p:sp>
        <p:nvSpPr>
          <p:cNvPr id="20" name="Text 14"/>
          <p:cNvSpPr/>
          <p:nvPr/>
        </p:nvSpPr>
        <p:spPr>
          <a:xfrm>
            <a:off x="804672" y="5340096"/>
            <a:ext cx="10582351" cy="30175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Ícone flutuante leva direto à conversa com o contato oficial; a tela de mensagens recebidas é só para administradores. Quando configurado no servidor, o sistema também envia por WhatsApp os avisos de meta e os sinais do robô.</a:t>
            </a:r>
            <a:endParaRPr lang="en-US" sz="1050" dirty="0"/>
          </a:p>
        </p:txBody>
      </p:sp>
      <p:sp>
        <p:nvSpPr>
          <p:cNvPr id="21" name="Text 1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2" name="Text 1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15.5  </a:t>
            </a:r>
            <a:pPr indent="0" marL="0">
              <a:buNone/>
            </a:pPr>
            <a:r>
              <a:rPr lang="en-US" sz="1250" b="1" spc="200" kern="0" dirty="0">
                <a:solidFill>
                  <a:srgbClr val="00D68F"/>
                </a:solidFill>
                <a:latin typeface="Calibri" pitchFamily="34" charset="0"/>
                <a:ea typeface="Calibri" pitchFamily="34" charset="-122"/>
                <a:cs typeface="Calibri" pitchFamily="34" charset="-120"/>
              </a:rPr>
              <a:t>AVISOS PELO TELEGRAM</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Mensagens de compra no celular</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Ligue o seu bot em Minha Conta</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Informe o token do bot e o Chat ID do Telegram (gravados criptografados). Cada usuário usa o próprio bot e recebe, sem abrir o sistema, as oportunidades de compra — e também a meta de lucro atingida.</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chega no Telegram</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Scanner Técnico</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Predomínio de alta com a cotação na entrada do plano ou abaixo — já com stop, alvo e R:R.</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Robô consultor</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Sinal técnico de compra (RSI + MACD + tendência), o mesmo da tela Alertas.</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Reserva atingida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 cotação caiu até o preço que você reservou (vale o maior preço reservado).</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Análise e Sugestões de hoje (IA)</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clicar nos botões e sozinhas 1x por dia útil, a partir das 11h (TELEGRAM_IA_DIARIA_HORA).</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Cada ativo é avisado no máximo 1x por dia. É apoio à decisão, não recomendação — o sistema não executa ordens na corretora.</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17  </a:t>
            </a:r>
            <a:pPr indent="0" marL="0">
              <a:buNone/>
            </a:pPr>
            <a:r>
              <a:rPr lang="en-US" sz="1250" b="1" spc="200" kern="0" dirty="0">
                <a:solidFill>
                  <a:srgbClr val="00D68F"/>
                </a:solidFill>
                <a:latin typeface="Calibri" pitchFamily="34" charset="0"/>
                <a:ea typeface="Calibri" pitchFamily="34" charset="-122"/>
                <a:cs typeface="Calibri" pitchFamily="34" charset="-120"/>
              </a:rPr>
              <a:t>CONTA CORRENTE</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Conta corrente — o caixa das operações</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Registra o saldo inicial informado manualmente, debita automaticamente a cada compra e credita automaticamente a cada venda, além de aceitar transferências manuais de e para outras contas (ex.: Nubank, a própria corretora).</a:t>
            </a:r>
            <a:endParaRPr lang="en-US" sz="1150" dirty="0"/>
          </a:p>
        </p:txBody>
      </p:sp>
      <p:sp>
        <p:nvSpPr>
          <p:cNvPr id="5" name="Shape 3"/>
          <p:cNvSpPr/>
          <p:nvPr/>
        </p:nvSpPr>
        <p:spPr>
          <a:xfrm>
            <a:off x="548640" y="2011680"/>
            <a:ext cx="5364328" cy="914400"/>
          </a:xfrm>
          <a:prstGeom prst="roundRect">
            <a:avLst>
              <a:gd name="adj" fmla="val 8000"/>
            </a:avLst>
          </a:prstGeom>
          <a:solidFill>
            <a:srgbClr val="F3F6FC"/>
          </a:solidFill>
          <a:ln/>
        </p:spPr>
        <p:txBody>
          <a:bodyPr/>
          <a:p/>
        </p:txBody>
      </p:sp>
      <p:sp>
        <p:nvSpPr>
          <p:cNvPr id="6" name="Text 4"/>
          <p:cNvSpPr/>
          <p:nvPr/>
        </p:nvSpPr>
        <p:spPr>
          <a:xfrm>
            <a:off x="731520" y="2084832"/>
            <a:ext cx="4998568"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Saldo inicial</a:t>
            </a:r>
            <a:endParaRPr lang="en-US" sz="1500" dirty="0"/>
          </a:p>
        </p:txBody>
      </p:sp>
      <p:sp>
        <p:nvSpPr>
          <p:cNvPr id="7" name="Text 5"/>
          <p:cNvSpPr/>
          <p:nvPr/>
        </p:nvSpPr>
        <p:spPr>
          <a:xfrm>
            <a:off x="731520"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Definido no formulário, editável a qualquer momento</a:t>
            </a:r>
            <a:endParaRPr lang="en-US" sz="1000" dirty="0"/>
          </a:p>
        </p:txBody>
      </p:sp>
      <p:sp>
        <p:nvSpPr>
          <p:cNvPr id="8" name="Shape 6"/>
          <p:cNvSpPr/>
          <p:nvPr/>
        </p:nvSpPr>
        <p:spPr>
          <a:xfrm>
            <a:off x="6278728" y="2011680"/>
            <a:ext cx="5364328" cy="914400"/>
          </a:xfrm>
          <a:prstGeom prst="roundRect">
            <a:avLst>
              <a:gd name="adj" fmla="val 8000"/>
            </a:avLst>
          </a:prstGeom>
          <a:solidFill>
            <a:srgbClr val="F3F6FC"/>
          </a:solidFill>
          <a:ln/>
        </p:spPr>
        <p:txBody>
          <a:bodyPr/>
          <a:p/>
        </p:txBody>
      </p:sp>
      <p:sp>
        <p:nvSpPr>
          <p:cNvPr id="9" name="Text 7"/>
          <p:cNvSpPr/>
          <p:nvPr/>
        </p:nvSpPr>
        <p:spPr>
          <a:xfrm>
            <a:off x="6461608" y="2084832"/>
            <a:ext cx="4998568" cy="365760"/>
          </a:xfrm>
          <a:prstGeom prst="rect">
            <a:avLst/>
          </a:prstGeom>
          <a:noFill/>
          <a:ln/>
        </p:spPr>
        <p:txBody>
          <a:bodyPr wrap="square" lIns="0" tIns="0" rIns="0" bIns="0" rtlCol="0" anchor="ctr"/>
          <a:lstStyle/>
          <a:p>
            <a:pPr indent="0" marL="0">
              <a:buNone/>
            </a:pPr>
            <a:r>
              <a:rPr lang="en-US" sz="1500" b="1" dirty="0">
                <a:solidFill>
                  <a:srgbClr val="00D68F"/>
                </a:solidFill>
                <a:latin typeface="Calibri" pitchFamily="34" charset="0"/>
                <a:ea typeface="Calibri" pitchFamily="34" charset="-122"/>
                <a:cs typeface="Calibri" pitchFamily="34" charset="-120"/>
              </a:rPr>
              <a:t>Saldo atual</a:t>
            </a:r>
            <a:endParaRPr lang="en-US" sz="1500" dirty="0"/>
          </a:p>
        </p:txBody>
      </p:sp>
      <p:sp>
        <p:nvSpPr>
          <p:cNvPr id="10" name="Text 8"/>
          <p:cNvSpPr/>
          <p:nvPr/>
        </p:nvSpPr>
        <p:spPr>
          <a:xfrm>
            <a:off x="6461608"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Inicial + créditos − débitos, incl. transferências</a:t>
            </a:r>
            <a:endParaRPr lang="en-US" sz="1000" dirty="0"/>
          </a:p>
        </p:txBody>
      </p:sp>
      <p:sp>
        <p:nvSpPr>
          <p:cNvPr id="11" name="Shape 9"/>
          <p:cNvSpPr/>
          <p:nvPr/>
        </p:nvSpPr>
        <p:spPr>
          <a:xfrm>
            <a:off x="548640" y="315468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2" name="Shape 10"/>
          <p:cNvSpPr/>
          <p:nvPr/>
        </p:nvSpPr>
        <p:spPr>
          <a:xfrm>
            <a:off x="804672" y="3392424"/>
            <a:ext cx="310896" cy="310896"/>
          </a:xfrm>
          <a:prstGeom prst="ellipse">
            <a:avLst/>
          </a:prstGeom>
          <a:solidFill>
            <a:srgbClr val="0D1B3E"/>
          </a:solidFill>
          <a:ln/>
        </p:spPr>
        <p:txBody>
          <a:bodyPr/>
          <a:p/>
        </p:txBody>
      </p:sp>
      <p:pic>
        <p:nvPicPr>
          <p:cNvPr id="13" name="Image 0" descr="C:\Users\PC ANTONIO\AppData\Roaming\Claude\scratch-workspaces\f0f5d1bc-bf72-4611-a8ea-e50e459a0a45\08c0c592-3fff-44bf-a144-086c85aaeea0\scratch-2026-09-22-98642c\icons\refresh.png">    </p:cNvPr>
          <p:cNvPicPr>
            <a:picLocks noChangeAspect="1"/>
          </p:cNvPicPr>
          <p:nvPr/>
        </p:nvPicPr>
        <p:blipFill>
          <a:blip r:embed="rId1"/>
          <a:stretch>
            <a:fillRect/>
          </a:stretch>
        </p:blipFill>
        <p:spPr>
          <a:xfrm>
            <a:off x="885505" y="3473257"/>
            <a:ext cx="149230" cy="149230"/>
          </a:xfrm>
          <a:prstGeom prst="rect">
            <a:avLst/>
          </a:prstGeom>
        </p:spPr>
      </p:pic>
      <p:sp>
        <p:nvSpPr>
          <p:cNvPr id="14" name="Text 11"/>
          <p:cNvSpPr/>
          <p:nvPr/>
        </p:nvSpPr>
        <p:spPr>
          <a:xfrm>
            <a:off x="1280160" y="333756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Débito e crédito automáticos</a:t>
            </a:r>
            <a:endParaRPr lang="en-US" sz="1400" dirty="0"/>
          </a:p>
        </p:txBody>
      </p:sp>
      <p:sp>
        <p:nvSpPr>
          <p:cNvPr id="15" name="Text 12"/>
          <p:cNvSpPr/>
          <p:nvPr/>
        </p:nvSpPr>
        <p:spPr>
          <a:xfrm>
            <a:off x="804672" y="383133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Toda compra gera um débito automático (valor + taxas); cada venda gera um crédito líquido na data da venda. O módulo de IR também lança o débito da DARF paga e o crédito dos proventos (dividendos, JCP, FII).</a:t>
            </a:r>
            <a:endParaRPr lang="en-US" sz="1050" dirty="0"/>
          </a:p>
        </p:txBody>
      </p:sp>
      <p:sp>
        <p:nvSpPr>
          <p:cNvPr id="16" name="Shape 13"/>
          <p:cNvSpPr/>
          <p:nvPr/>
        </p:nvSpPr>
        <p:spPr>
          <a:xfrm>
            <a:off x="548640"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4"/>
          <p:cNvSpPr/>
          <p:nvPr/>
        </p:nvSpPr>
        <p:spPr>
          <a:xfrm>
            <a:off x="804672" y="4764024"/>
            <a:ext cx="310896" cy="310896"/>
          </a:xfrm>
          <a:prstGeom prst="ellipse">
            <a:avLst/>
          </a:prstGeom>
          <a:solidFill>
            <a:srgbClr val="00D68F"/>
          </a:solidFill>
          <a:ln/>
        </p:spPr>
        <p:txBody>
          <a:bodyPr/>
          <a:p/>
        </p:txBody>
      </p:sp>
      <p:pic>
        <p:nvPicPr>
          <p:cNvPr id="18" name="Image 1" descr="C:\Users\PC ANTONIO\AppData\Roaming\Claude\scratch-workspaces\f0f5d1bc-bf72-4611-a8ea-e50e459a0a45\08c0c592-3fff-44bf-a144-086c85aaeea0\scratch-2026-09-22-98642c\icons\plus.png">    </p:cNvPr>
          <p:cNvPicPr>
            <a:picLocks noChangeAspect="1"/>
          </p:cNvPicPr>
          <p:nvPr/>
        </p:nvPicPr>
        <p:blipFill>
          <a:blip r:embed="rId2"/>
          <a:stretch>
            <a:fillRect/>
          </a:stretch>
        </p:blipFill>
        <p:spPr>
          <a:xfrm>
            <a:off x="885505" y="4844857"/>
            <a:ext cx="149230" cy="149230"/>
          </a:xfrm>
          <a:prstGeom prst="rect">
            <a:avLst/>
          </a:prstGeom>
        </p:spPr>
      </p:pic>
      <p:sp>
        <p:nvSpPr>
          <p:cNvPr id="19" name="Text 15"/>
          <p:cNvSpPr/>
          <p:nvPr/>
        </p:nvSpPr>
        <p:spPr>
          <a:xfrm>
            <a:off x="1280160"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Transferências manuais</a:t>
            </a:r>
            <a:endParaRPr lang="en-US" sz="1350" dirty="0"/>
          </a:p>
        </p:txBody>
      </p:sp>
      <p:sp>
        <p:nvSpPr>
          <p:cNvPr id="20" name="Text 16"/>
          <p:cNvSpPr/>
          <p:nvPr/>
        </p:nvSpPr>
        <p:spPr>
          <a:xfrm>
            <a:off x="804672"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Registra Crédito (entrada) ou Débito (saída) não ligado a compra/venda — ex.: depósito de outro banco ou saque para outra conta.</a:t>
            </a:r>
            <a:endParaRPr lang="en-US" sz="1000" dirty="0"/>
          </a:p>
        </p:txBody>
      </p:sp>
      <p:sp>
        <p:nvSpPr>
          <p:cNvPr id="21" name="Shape 17"/>
          <p:cNvSpPr/>
          <p:nvPr/>
        </p:nvSpPr>
        <p:spPr>
          <a:xfrm>
            <a:off x="6278728"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8"/>
          <p:cNvSpPr/>
          <p:nvPr/>
        </p:nvSpPr>
        <p:spPr>
          <a:xfrm>
            <a:off x="6534760" y="4764024"/>
            <a:ext cx="310896" cy="310896"/>
          </a:xfrm>
          <a:prstGeom prst="ellipse">
            <a:avLst/>
          </a:prstGeom>
          <a:solidFill>
            <a:srgbClr val="0D1B3E"/>
          </a:solidFill>
          <a:ln/>
        </p:spPr>
        <p:txBody>
          <a:bodyPr/>
          <a:p/>
        </p:txBody>
      </p:sp>
      <p:pic>
        <p:nvPicPr>
          <p:cNvPr id="23" name="Image 2" descr="C:\Users\PC ANTONIO\AppData\Roaming\Claude\scratch-workspaces\f0f5d1bc-bf72-4611-a8ea-e50e459a0a45\08c0c592-3fff-44bf-a144-086c85aaeea0\scratch-2026-09-22-98642c\icons\download.png">    </p:cNvPr>
          <p:cNvPicPr>
            <a:picLocks noChangeAspect="1"/>
          </p:cNvPicPr>
          <p:nvPr/>
        </p:nvPicPr>
        <p:blipFill>
          <a:blip r:embed="rId3"/>
          <a:stretch>
            <a:fillRect/>
          </a:stretch>
        </p:blipFill>
        <p:spPr>
          <a:xfrm>
            <a:off x="6615593" y="4844857"/>
            <a:ext cx="149230" cy="149230"/>
          </a:xfrm>
          <a:prstGeom prst="rect">
            <a:avLst/>
          </a:prstGeom>
        </p:spPr>
      </p:pic>
      <p:sp>
        <p:nvSpPr>
          <p:cNvPr id="24" name="Text 19"/>
          <p:cNvSpPr/>
          <p:nvPr/>
        </p:nvSpPr>
        <p:spPr>
          <a:xfrm>
            <a:off x="7010248"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Extrato e exportação</a:t>
            </a:r>
            <a:endParaRPr lang="en-US" sz="1350" dirty="0"/>
          </a:p>
        </p:txBody>
      </p:sp>
      <p:sp>
        <p:nvSpPr>
          <p:cNvPr id="25" name="Text 20"/>
          <p:cNvSpPr/>
          <p:nvPr/>
        </p:nvSpPr>
        <p:spPr>
          <a:xfrm>
            <a:off x="6534760"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Lista todos os lançamentos com saldo acumulado por linha. Filtro por período (padrão: mês corrente) e exportação em Excel/PDF.</a:t>
            </a:r>
            <a:endParaRPr lang="en-US" sz="1000" dirty="0"/>
          </a:p>
        </p:txBody>
      </p:sp>
      <p:sp>
        <p:nvSpPr>
          <p:cNvPr id="26"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7"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21  </a:t>
            </a:r>
            <a:pPr indent="0" marL="0">
              <a:buNone/>
            </a:pPr>
            <a:r>
              <a:rPr lang="en-US" sz="1250" b="1" spc="200" kern="0" dirty="0">
                <a:solidFill>
                  <a:srgbClr val="00D68F"/>
                </a:solidFill>
                <a:latin typeface="Calibri" pitchFamily="34" charset="0"/>
                <a:ea typeface="Calibri" pitchFamily="34" charset="-122"/>
                <a:cs typeface="Calibri" pitchFamily="34" charset="-120"/>
              </a:rPr>
              <a:t>MÓDULO DE CRIPTOMOEDAS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Criptomoedas — carteira própria, 24 horas por dia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Módulo completamente separado das ações da B3: não entra em Posições em Carteira, no robô consultor, no Scanner Técnico nem na comparação com Ibovespa/CDI. Como cripto negocia todos os dias, sem horário de pregão, cada carteira mantém sua própria lógica e seus próprios números.</a:t>
            </a:r>
            <a:endParaRPr lang="en-US" sz="1150" dirty="0"/>
          </a:p>
        </p:txBody>
      </p:sp>
      <p:sp>
        <p:nvSpPr>
          <p:cNvPr id="5" name="Shape 3"/>
          <p:cNvSpPr/>
          <p:nvPr/>
        </p:nvSpPr>
        <p:spPr>
          <a:xfrm>
            <a:off x="548640" y="2011680"/>
            <a:ext cx="5364328" cy="914400"/>
          </a:xfrm>
          <a:prstGeom prst="roundRect">
            <a:avLst>
              <a:gd name="adj" fmla="val 8000"/>
            </a:avLst>
          </a:prstGeom>
          <a:solidFill>
            <a:srgbClr val="F3F6FC"/>
          </a:solidFill>
          <a:ln/>
        </p:spPr>
        <p:txBody>
          <a:bodyPr/>
          <a:p/>
        </p:txBody>
      </p:sp>
      <p:sp>
        <p:nvSpPr>
          <p:cNvPr id="6" name="Text 4"/>
          <p:cNvSpPr/>
          <p:nvPr/>
        </p:nvSpPr>
        <p:spPr>
          <a:xfrm>
            <a:off x="731520" y="2084832"/>
            <a:ext cx="4998568"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Tela Criptomoedas</a:t>
            </a:r>
            <a:endParaRPr lang="en-US" sz="1500" dirty="0"/>
          </a:p>
        </p:txBody>
      </p:sp>
      <p:sp>
        <p:nvSpPr>
          <p:cNvPr id="7" name="Text 5"/>
          <p:cNvSpPr/>
          <p:nvPr/>
        </p:nvSpPr>
        <p:spPr>
          <a:xfrm>
            <a:off x="731520"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Cotações, carteira e reservas em uma tela própria, acessível pelo Menu</a:t>
            </a:r>
            <a:endParaRPr lang="en-US" sz="1000" dirty="0"/>
          </a:p>
        </p:txBody>
      </p:sp>
      <p:sp>
        <p:nvSpPr>
          <p:cNvPr id="8" name="Shape 6"/>
          <p:cNvSpPr/>
          <p:nvPr/>
        </p:nvSpPr>
        <p:spPr>
          <a:xfrm>
            <a:off x="6278728" y="2011680"/>
            <a:ext cx="5364328" cy="914400"/>
          </a:xfrm>
          <a:prstGeom prst="roundRect">
            <a:avLst>
              <a:gd name="adj" fmla="val 8000"/>
            </a:avLst>
          </a:prstGeom>
          <a:solidFill>
            <a:srgbClr val="F3F6FC"/>
          </a:solidFill>
          <a:ln/>
        </p:spPr>
        <p:txBody>
          <a:bodyPr/>
          <a:p/>
        </p:txBody>
      </p:sp>
      <p:sp>
        <p:nvSpPr>
          <p:cNvPr id="9" name="Text 7"/>
          <p:cNvSpPr/>
          <p:nvPr/>
        </p:nvSpPr>
        <p:spPr>
          <a:xfrm>
            <a:off x="6461608" y="2084832"/>
            <a:ext cx="4998568" cy="365760"/>
          </a:xfrm>
          <a:prstGeom prst="rect">
            <a:avLst/>
          </a:prstGeom>
          <a:noFill/>
          <a:ln/>
        </p:spPr>
        <p:txBody>
          <a:bodyPr wrap="square" lIns="0" tIns="0" rIns="0" bIns="0" rtlCol="0" anchor="ctr"/>
          <a:lstStyle/>
          <a:p>
            <a:pPr indent="0" marL="0">
              <a:buNone/>
            </a:pPr>
            <a:r>
              <a:rPr lang="en-US" sz="1500" b="1" dirty="0">
                <a:solidFill>
                  <a:srgbClr val="00D68F"/>
                </a:solidFill>
                <a:latin typeface="Calibri" pitchFamily="34" charset="0"/>
                <a:ea typeface="Calibri" pitchFamily="34" charset="-122"/>
                <a:cs typeface="Calibri" pitchFamily="34" charset="-120"/>
              </a:rPr>
              <a:t>Atualizar Cripto agora</a:t>
            </a:r>
            <a:endParaRPr lang="en-US" sz="1500" dirty="0"/>
          </a:p>
        </p:txBody>
      </p:sp>
      <p:sp>
        <p:nvSpPr>
          <p:cNvPr id="10" name="Text 8"/>
          <p:cNvSpPr/>
          <p:nvPr/>
        </p:nvSpPr>
        <p:spPr>
          <a:xfrm>
            <a:off x="6461608"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Busca as cotações mais recentes e grava um novo registro, sem depender do horário de pregão da B3</a:t>
            </a:r>
            <a:endParaRPr lang="en-US" sz="1000" dirty="0"/>
          </a:p>
        </p:txBody>
      </p:sp>
      <p:sp>
        <p:nvSpPr>
          <p:cNvPr id="11" name="Shape 9"/>
          <p:cNvSpPr/>
          <p:nvPr/>
        </p:nvSpPr>
        <p:spPr>
          <a:xfrm>
            <a:off x="548640" y="315468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2" name="Shape 10"/>
          <p:cNvSpPr/>
          <p:nvPr/>
        </p:nvSpPr>
        <p:spPr>
          <a:xfrm>
            <a:off x="804672" y="3392424"/>
            <a:ext cx="310896" cy="310896"/>
          </a:xfrm>
          <a:prstGeom prst="ellipse">
            <a:avLst/>
          </a:prstGeom>
          <a:solidFill>
            <a:srgbClr val="0D1B3E"/>
          </a:solidFill>
          <a:ln/>
        </p:spPr>
        <p:txBody>
          <a:bodyPr/>
          <a:p/>
        </p:txBody>
      </p:sp>
      <p:pic>
        <p:nvPicPr>
          <p:cNvPr id="13" name="Image 0" descr="C:\Users\PC ANTONIO\AppData\Roaming\Claude\scratch-workspaces\f0f5d1bc-bf72-4611-a8ea-e50e459a0a45\08c0c592-3fff-44bf-a144-086c85aaeea0\scratch-2026-09-22-98642c\icons\refresh.png">    </p:cNvPr>
          <p:cNvPicPr>
            <a:picLocks noChangeAspect="1"/>
          </p:cNvPicPr>
          <p:nvPr/>
        </p:nvPicPr>
        <p:blipFill>
          <a:blip r:embed="rId1"/>
          <a:stretch>
            <a:fillRect/>
          </a:stretch>
        </p:blipFill>
        <p:spPr>
          <a:xfrm>
            <a:off x="885505" y="3473257"/>
            <a:ext cx="149230" cy="149230"/>
          </a:xfrm>
          <a:prstGeom prst="rect">
            <a:avLst/>
          </a:prstGeom>
        </p:spPr>
      </p:pic>
      <p:sp>
        <p:nvSpPr>
          <p:cNvPr id="14" name="Text 11"/>
          <p:cNvSpPr/>
          <p:nvPr/>
        </p:nvSpPr>
        <p:spPr>
          <a:xfrm>
            <a:off x="1280160" y="333756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Registrar operações de cripto</a:t>
            </a:r>
            <a:endParaRPr lang="en-US" sz="1400" dirty="0"/>
          </a:p>
        </p:txBody>
      </p:sp>
      <p:sp>
        <p:nvSpPr>
          <p:cNvPr id="15" name="Text 12"/>
          <p:cNvSpPr/>
          <p:nvPr/>
        </p:nvSpPr>
        <p:spPr>
          <a:xfrm>
            <a:off x="804672" y="383133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Compra, venda e reserva com até 8 casas decimais de precisão e metas de lucro e perda — os mesmos recursos de editar, excluir e vender um lote parcial das ações.</a:t>
            </a:r>
            <a:endParaRPr lang="en-US" sz="1050" dirty="0"/>
          </a:p>
        </p:txBody>
      </p:sp>
      <p:sp>
        <p:nvSpPr>
          <p:cNvPr id="16" name="Shape 13"/>
          <p:cNvSpPr/>
          <p:nvPr/>
        </p:nvSpPr>
        <p:spPr>
          <a:xfrm>
            <a:off x="548640"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4"/>
          <p:cNvSpPr/>
          <p:nvPr/>
        </p:nvSpPr>
        <p:spPr>
          <a:xfrm>
            <a:off x="804672" y="4764024"/>
            <a:ext cx="310896" cy="310896"/>
          </a:xfrm>
          <a:prstGeom prst="ellipse">
            <a:avLst/>
          </a:prstGeom>
          <a:solidFill>
            <a:srgbClr val="00D68F"/>
          </a:solidFill>
          <a:ln/>
        </p:spPr>
        <p:txBody>
          <a:bodyPr/>
          <a:p/>
        </p:txBody>
      </p:sp>
      <p:pic>
        <p:nvPicPr>
          <p:cNvPr id="18" name="Image 1" descr="C:\Users\PC ANTONIO\AppData\Roaming\Claude\scratch-workspaces\f0f5d1bc-bf72-4611-a8ea-e50e459a0a45\08c0c592-3fff-44bf-a144-086c85aaeea0\scratch-2026-09-22-98642c\icons\plus.png">    </p:cNvPr>
          <p:cNvPicPr>
            <a:picLocks noChangeAspect="1"/>
          </p:cNvPicPr>
          <p:nvPr/>
        </p:nvPicPr>
        <p:blipFill>
          <a:blip r:embed="rId2"/>
          <a:stretch>
            <a:fillRect/>
          </a:stretch>
        </p:blipFill>
        <p:spPr>
          <a:xfrm>
            <a:off x="885505" y="4844857"/>
            <a:ext cx="149230" cy="149230"/>
          </a:xfrm>
          <a:prstGeom prst="rect">
            <a:avLst/>
          </a:prstGeom>
        </p:spPr>
      </p:pic>
      <p:sp>
        <p:nvSpPr>
          <p:cNvPr id="19" name="Text 15"/>
          <p:cNvSpPr/>
          <p:nvPr/>
        </p:nvSpPr>
        <p:spPr>
          <a:xfrm>
            <a:off x="1280160"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Variações de hoje</a:t>
            </a:r>
            <a:endParaRPr lang="en-US" sz="1350" dirty="0"/>
          </a:p>
        </p:txBody>
      </p:sp>
      <p:sp>
        <p:nvSpPr>
          <p:cNvPr id="20" name="Text 16"/>
          <p:cNvSpPr/>
          <p:nvPr/>
        </p:nvSpPr>
        <p:spPr>
          <a:xfrm>
            <a:off x="804672"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Gráfico com o lucro/perda consolidado da carteira de cripto a cada atualização registrada no dia.</a:t>
            </a:r>
            <a:endParaRPr lang="en-US" sz="1000" dirty="0"/>
          </a:p>
        </p:txBody>
      </p:sp>
      <p:sp>
        <p:nvSpPr>
          <p:cNvPr id="21" name="Shape 17"/>
          <p:cNvSpPr/>
          <p:nvPr/>
        </p:nvSpPr>
        <p:spPr>
          <a:xfrm>
            <a:off x="6278728"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8"/>
          <p:cNvSpPr/>
          <p:nvPr/>
        </p:nvSpPr>
        <p:spPr>
          <a:xfrm>
            <a:off x="6534760" y="4764024"/>
            <a:ext cx="310896" cy="310896"/>
          </a:xfrm>
          <a:prstGeom prst="ellipse">
            <a:avLst/>
          </a:prstGeom>
          <a:solidFill>
            <a:srgbClr val="0D1B3E"/>
          </a:solidFill>
          <a:ln/>
        </p:spPr>
        <p:txBody>
          <a:bodyPr/>
          <a:p/>
        </p:txBody>
      </p:sp>
      <p:pic>
        <p:nvPicPr>
          <p:cNvPr id="23" name="Image 2" descr="C:\Users\PC ANTONIO\AppData\Roaming\Claude\scratch-workspaces\f0f5d1bc-bf72-4611-a8ea-e50e459a0a45\08c0c592-3fff-44bf-a144-086c85aaeea0\scratch-2026-09-22-98642c\icons\download.png">    </p:cNvPr>
          <p:cNvPicPr>
            <a:picLocks noChangeAspect="1"/>
          </p:cNvPicPr>
          <p:nvPr/>
        </p:nvPicPr>
        <p:blipFill>
          <a:blip r:embed="rId3"/>
          <a:stretch>
            <a:fillRect/>
          </a:stretch>
        </p:blipFill>
        <p:spPr>
          <a:xfrm>
            <a:off x="6615593" y="4844857"/>
            <a:ext cx="149230" cy="149230"/>
          </a:xfrm>
          <a:prstGeom prst="rect">
            <a:avLst/>
          </a:prstGeom>
        </p:spPr>
      </p:pic>
      <p:sp>
        <p:nvSpPr>
          <p:cNvPr id="24" name="Text 19"/>
          <p:cNvSpPr/>
          <p:nvPr/>
        </p:nvSpPr>
        <p:spPr>
          <a:xfrm>
            <a:off x="7010248"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Conta Corrente e relatórios</a:t>
            </a:r>
            <a:endParaRPr lang="en-US" sz="1350" dirty="0"/>
          </a:p>
        </p:txBody>
      </p:sp>
      <p:sp>
        <p:nvSpPr>
          <p:cNvPr id="25" name="Text 20"/>
          <p:cNvSpPr/>
          <p:nvPr/>
        </p:nvSpPr>
        <p:spPr>
          <a:xfrm>
            <a:off x="6534760"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Compras e vendas lançadas automaticamente no mesmo caixa das ações, com exportação em Excel e PDF.</a:t>
            </a:r>
            <a:endParaRPr lang="en-US" sz="1000" dirty="0"/>
          </a:p>
        </p:txBody>
      </p:sp>
      <p:sp>
        <p:nvSpPr>
          <p:cNvPr id="26"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7"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22.1  </a:t>
            </a:r>
            <a:pPr indent="0" marL="0">
              <a:buNone/>
            </a:pPr>
            <a:r>
              <a:rPr lang="en-US" sz="1250" b="1" spc="200" kern="0" dirty="0">
                <a:solidFill>
                  <a:srgbClr val="00D68F"/>
                </a:solidFill>
                <a:latin typeface="Calibri" pitchFamily="34" charset="0"/>
                <a:ea typeface="Calibri" pitchFamily="34" charset="-122"/>
                <a:cs typeface="Calibri" pitchFamily="34" charset="-120"/>
              </a:rPr>
              <a:t>APOIO À DECISÃO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Qualidade das Empresas: nota de 0 a 10</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Calculada pelos balanços, pela DRE e pelos proventos. Critério sem dado, ou que não se aplica (dívida de banco), sai da conta. Menu → 🏅 Qualidade das Empresas, ou diga "qualidade".</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3291840"/>
        </p:xfrm>
        <a:graphic>
          <a:graphicData uri="http://schemas.openxmlformats.org/drawingml/2006/table">
            <a:tbl>
              <a:tblPr/>
              <a:tblGrid>
                <a:gridCol w="3657600"/>
                <a:gridCol w="7436815"/>
              </a:tblGrid>
              <a:tr h="411480">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Critério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Pontos e regra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Lucro consistente</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lucro nos 5 últimos anos  ·  1 pt: no máximo 1 ano de prejuízo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Rentabilidade (ROE)</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ROE ≥ 15%  ·  1 pt: ROE ≥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Margem líquida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margem ≥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Crescimento do lucro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 10% ao ano em 3 anos  ·  1 pt: crescendo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Endividamento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passivo ≤ 60% do ativo total (não se aplica a bancos)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Preço (P/L)</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P/L entre 0 e 20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Dividendos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dividend yield ≥ 4% em 12 meses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Nota 7 ou mais: alta · 4 a 7: média · abaixo de 4: baixa. Mede a qualidade da empresa, não para onde o preço vai — use junto com a Calculadora de risco.</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22.2  </a:t>
            </a:r>
            <a:pPr indent="0" marL="0">
              <a:buNone/>
            </a:pPr>
            <a:r>
              <a:rPr lang="en-US" sz="1250" b="1" spc="200" kern="0" dirty="0">
                <a:solidFill>
                  <a:srgbClr val="00D68F"/>
                </a:solidFill>
                <a:latin typeface="Calibri" pitchFamily="34" charset="0"/>
                <a:ea typeface="Calibri" pitchFamily="34" charset="-122"/>
                <a:cs typeface="Calibri" pitchFamily="34" charset="-120"/>
              </a:rPr>
              <a:t>APOIO À DECISÃO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Calculadora de risco na tela de compra</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Quantidade pelo risco</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Quantas ações comprar para que, se o stop for atingido, a perda não passe de 1% do patrimônio (saldo da Conta Corrente + carteira) — sem passar do saldo disponível. "Usar no formulário" preenche a quantidade e as metas de lucro/perda.</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a calculadora mostra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Stop sugerido</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2× o ATR abaixo da entrada, ou logo abaixo do suporte; sem histórico, 5% abaixo.</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Alvo</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Ganho de 2× o risco (relação risco-retorno de 1 para 2).</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Contexto</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Nota de qualidade, Scanner, Backtesting e peso do setor na carteira.</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Avisos</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Setor acima de 30%, qualidade baixa, predomínio de baixa ou saldo insuficiente.</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Mantenha o saldo da Conta Corrente atualizado: sem ele, a quantidade sai só pelo risco e a calculadora pede para você conferir o dinheiro disponível.</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19  </a:t>
            </a:r>
            <a:pPr indent="0" marL="0">
              <a:buNone/>
            </a:pPr>
            <a:r>
              <a:rPr lang="en-US" sz="1250" b="1" spc="200" kern="0" dirty="0">
                <a:solidFill>
                  <a:srgbClr val="00D68F"/>
                </a:solidFill>
                <a:latin typeface="Calibri" pitchFamily="34" charset="0"/>
                <a:ea typeface="Calibri" pitchFamily="34" charset="-122"/>
                <a:cs typeface="Calibri" pitchFamily="34" charset="-120"/>
              </a:rPr>
              <a:t>CONFIGURAÇÕES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Configurações que afetam o uso diário</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Ajustadas pelo administrador do sistema (arquivo de configuração do servidor) e mudam diretamente o comportamento das telas descritas neste manual.</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7436815"/>
              </a:tblGrid>
              <a:tr h="484632">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Configuração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O que controla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MAX_ATIVOS_EM_CARTEIRA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Quantos tickers diferentes cada usuário pode ter comprados ao mesmo tempo (padrão: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META_LUCRO_PADRAO / META_PERDA_PADRAO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Metas (%) usadas quando uma operação não define meta própria.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B3_HORARIO_ABERTURA / FECHAMENTO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Horário de negociação da B3, usado no badge de mercado e no botão de atualizar cotações.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TRADINGVIEW_URL_PESQUISA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URL pré-preenchida para abrir páginas do TradingView em nova aba.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WHATSAPP_NUMERO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Número de contato usado pelo ícone flutuante de WhatsApp.</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COTACOES / NOTICIAS _INTERVALO_MINUTOS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Intervalo das rotinas automáticas do servidor (não afeta os botões manuais).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Consulte o responsável técnico da sua instalação para alterar qualquer uma dessas configurações.</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19  </a:t>
            </a:r>
            <a:pPr indent="0" marL="0">
              <a:buNone/>
            </a:pPr>
            <a:r>
              <a:rPr lang="en-US" sz="1250" b="1" spc="200" kern="0" dirty="0">
                <a:solidFill>
                  <a:srgbClr val="00D68F"/>
                </a:solidFill>
                <a:latin typeface="Calibri" pitchFamily="34" charset="0"/>
                <a:ea typeface="Calibri" pitchFamily="34" charset="-122"/>
                <a:cs typeface="Calibri" pitchFamily="34" charset="-120"/>
              </a:rPr>
              <a:t>CONFIGURAÇÕES (CONTINUAÇÃO)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Segurança e apoio à decisão</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Opções novas desta revisão, também ajustadas pelo administrador do sistema.</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7436815"/>
              </a:tblGrid>
              <a:tr h="484632">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Configuração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O que controla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CADASTRO_PUBLICO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Mostra no login o link de cadastro aberto ao público (padrão: desligado).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LOGIN_MAX_TENTATIVAS / _BLOQUEIO_MINUTOS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Senhas erradas que bloqueiam o login e por quantos minutos (padrão: 5 e 15).</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EMAIL_HOST e demais EMAIL_*</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Servidor de e-mail do link "Esqueci minha senha".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RISCO_POR_OPERACAO_PCT / LIMITE_SETOR_PCT</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Risco por operação (padrão 1%) e limite por setor (padrão 30%) da Calculadora de risco.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BACKTEST_CUSTO_PCT</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Custo de compra + venda descontado no Backtesting (padrão 0,1%).</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BRAPI_HISTORICO_MAXIMO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Maior histórico de cotações aceito pelo plano da API (gratuito: 3 meses; Startup: 1 ano).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Consulte o responsável técnico da sua instalação para alterar qualquer uma dessas configurações.</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81226"/>
          </a:solidFill>
          <a:ln/>
        </p:spPr>
        <p:txBody>
          <a:bodyPr/>
          <a:p/>
        </p:txBody>
      </p:sp>
      <p:sp>
        <p:nvSpPr>
          <p:cNvPr id="3" name="Text 1"/>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E1495A"/>
                </a:solidFill>
                <a:latin typeface="Calibri" pitchFamily="34" charset="0"/>
                <a:ea typeface="Calibri" pitchFamily="34" charset="-122"/>
                <a:cs typeface="Calibri" pitchFamily="34" charset="-120"/>
              </a:rPr>
              <a:t>24  USO RESPONSÁVEL</a:t>
            </a:r>
            <a:pPr indent="0" marL="0">
              <a:buNone/>
            </a:pPr>
            <a:endParaRPr lang="en-US" sz="1250" dirty="0"/>
          </a:p>
        </p:txBody>
      </p:sp>
      <p:sp>
        <p:nvSpPr>
          <p:cNvPr id="4" name="Text 2"/>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Avisos legais e uso responsável</a:t>
            </a:r>
            <a:endParaRPr lang="en-US" sz="3000" dirty="0"/>
          </a:p>
        </p:txBody>
      </p:sp>
      <p:sp>
        <p:nvSpPr>
          <p:cNvPr id="5" name="Shape 3"/>
          <p:cNvSpPr/>
          <p:nvPr/>
        </p:nvSpPr>
        <p:spPr>
          <a:xfrm>
            <a:off x="548640" y="1600200"/>
            <a:ext cx="566928" cy="566928"/>
          </a:xfrm>
          <a:prstGeom prst="ellipse">
            <a:avLst/>
          </a:prstGeom>
          <a:solidFill>
            <a:srgbClr val="E1495A"/>
          </a:solidFill>
          <a:ln/>
        </p:spPr>
        <p:txBody>
          <a:bodyPr/>
          <a:p/>
        </p:txBody>
      </p:sp>
      <p:pic>
        <p:nvPicPr>
          <p:cNvPr id="6" name="Image 0" descr="C:\Users\PC ANTONIO\AppData\Roaming\Claude\scratch-workspaces\f0f5d1bc-bf72-4611-a8ea-e50e459a0a45\08c0c592-3fff-44bf-a144-086c85aaeea0\scratch-2026-09-22-98642c\icons\shield.png">    </p:cNvPr>
          <p:cNvPicPr>
            <a:picLocks noChangeAspect="1"/>
          </p:cNvPicPr>
          <p:nvPr/>
        </p:nvPicPr>
        <p:blipFill>
          <a:blip r:embed="rId1"/>
          <a:stretch>
            <a:fillRect/>
          </a:stretch>
        </p:blipFill>
        <p:spPr>
          <a:xfrm>
            <a:off x="684703" y="1736263"/>
            <a:ext cx="294803" cy="294803"/>
          </a:xfrm>
          <a:prstGeom prst="rect">
            <a:avLst/>
          </a:prstGeom>
        </p:spPr>
      </p:pic>
      <p:sp>
        <p:nvSpPr>
          <p:cNvPr id="7" name="Text 4"/>
          <p:cNvSpPr/>
          <p:nvPr/>
        </p:nvSpPr>
        <p:spPr>
          <a:xfrm>
            <a:off x="1389888" y="1572768"/>
            <a:ext cx="10253167" cy="1005840"/>
          </a:xfrm>
          <a:prstGeom prst="rect">
            <a:avLst/>
          </a:prstGeom>
          <a:noFill/>
          <a:ln/>
        </p:spPr>
        <p:txBody>
          <a:bodyPr wrap="square" lIns="0" tIns="0" rIns="0" bIns="0" rtlCol="0" anchor="ctr"/>
          <a:lstStyle/>
          <a:p>
            <a:pPr indent="0" marL="0">
              <a:lnSpc>
                <a:spcPct val="130000"/>
              </a:lnSpc>
              <a:buNone/>
            </a:pPr>
            <a:r>
              <a:rPr lang="en-US" sz="1400" dirty="0">
                <a:solidFill>
                  <a:srgbClr val="CADCFC"/>
                </a:solidFill>
                <a:latin typeface="Calibri" pitchFamily="34" charset="0"/>
                <a:ea typeface="Calibri" pitchFamily="34" charset="-122"/>
                <a:cs typeface="Calibri" pitchFamily="34" charset="-120"/>
              </a:rPr>
              <a:t>O BolsaTrader é uma ferramenta de organização e acompanhamento pessoal de carteira. Nenhum indicador, alerta, sinal do robô consultor, nota de qualidade, sugestão da calculadora de risco ou resultado de backtesting constitui recomendação de investimento, consultoria financeira ou promessa de rentabilidade.</a:t>
            </a:r>
            <a:endParaRPr lang="en-US" sz="1400" dirty="0"/>
          </a:p>
        </p:txBody>
      </p:sp>
      <p:sp>
        <p:nvSpPr>
          <p:cNvPr id="8" name="Shape 5"/>
          <p:cNvSpPr/>
          <p:nvPr/>
        </p:nvSpPr>
        <p:spPr>
          <a:xfrm>
            <a:off x="548640" y="3017520"/>
            <a:ext cx="3515258" cy="2606040"/>
          </a:xfrm>
          <a:prstGeom prst="roundRect">
            <a:avLst>
              <a:gd name="adj" fmla="val 3158"/>
            </a:avLst>
          </a:prstGeom>
          <a:solidFill>
            <a:srgbClr val="16264D"/>
          </a:solidFill>
          <a:ln/>
        </p:spPr>
        <p:txBody>
          <a:bodyPr/>
          <a:p/>
        </p:txBody>
      </p:sp>
      <p:sp>
        <p:nvSpPr>
          <p:cNvPr id="9" name="Shape 6"/>
          <p:cNvSpPr/>
          <p:nvPr/>
        </p:nvSpPr>
        <p:spPr>
          <a:xfrm>
            <a:off x="777240" y="3246120"/>
            <a:ext cx="420624" cy="420624"/>
          </a:xfrm>
          <a:prstGeom prst="ellipse">
            <a:avLst/>
          </a:prstGeom>
          <a:solidFill>
            <a:srgbClr val="00D68F"/>
          </a:solidFill>
          <a:ln/>
        </p:spPr>
        <p:txBody>
          <a:bodyPr/>
          <a:p/>
        </p:txBody>
      </p:sp>
      <p:pic>
        <p:nvPicPr>
          <p:cNvPr id="10" name="Image 1" descr="C:\Users\PC ANTONIO\AppData\Roaming\Claude\scratch-workspaces\f0f5d1bc-bf72-4611-a8ea-e50e459a0a45\08c0c592-3fff-44bf-a144-086c85aaeea0\scratch-2026-09-22-98642c\icons\database.png">    </p:cNvPr>
          <p:cNvPicPr>
            <a:picLocks noChangeAspect="1"/>
          </p:cNvPicPr>
          <p:nvPr/>
        </p:nvPicPr>
        <p:blipFill>
          <a:blip r:embed="rId2"/>
          <a:stretch>
            <a:fillRect/>
          </a:stretch>
        </p:blipFill>
        <p:spPr>
          <a:xfrm>
            <a:off x="878190" y="3347070"/>
            <a:ext cx="218724" cy="218724"/>
          </a:xfrm>
          <a:prstGeom prst="rect">
            <a:avLst/>
          </a:prstGeom>
        </p:spPr>
      </p:pic>
      <p:sp>
        <p:nvSpPr>
          <p:cNvPr id="11" name="Text 7"/>
          <p:cNvSpPr/>
          <p:nvPr/>
        </p:nvSpPr>
        <p:spPr>
          <a:xfrm>
            <a:off x="777240"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Dados de mercado</a:t>
            </a:r>
            <a:endParaRPr lang="en-US" sz="1300" dirty="0"/>
          </a:p>
        </p:txBody>
      </p:sp>
      <p:sp>
        <p:nvSpPr>
          <p:cNvPr id="12" name="Text 8"/>
          <p:cNvSpPr/>
          <p:nvPr/>
        </p:nvSpPr>
        <p:spPr>
          <a:xfrm>
            <a:off x="777240"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Cotações vêm de APIs externas e podem sofrer atraso, indisponibilidade ou imprecisão pontual.</a:t>
            </a:r>
            <a:endParaRPr lang="en-US" sz="1030" dirty="0"/>
          </a:p>
        </p:txBody>
      </p:sp>
      <p:sp>
        <p:nvSpPr>
          <p:cNvPr id="13" name="Shape 9"/>
          <p:cNvSpPr/>
          <p:nvPr/>
        </p:nvSpPr>
        <p:spPr>
          <a:xfrm>
            <a:off x="4338218" y="3017520"/>
            <a:ext cx="3515258" cy="2606040"/>
          </a:xfrm>
          <a:prstGeom prst="roundRect">
            <a:avLst>
              <a:gd name="adj" fmla="val 3158"/>
            </a:avLst>
          </a:prstGeom>
          <a:solidFill>
            <a:srgbClr val="16264D"/>
          </a:solidFill>
          <a:ln/>
        </p:spPr>
        <p:txBody>
          <a:bodyPr/>
          <a:p/>
        </p:txBody>
      </p:sp>
      <p:sp>
        <p:nvSpPr>
          <p:cNvPr id="14" name="Shape 10"/>
          <p:cNvSpPr/>
          <p:nvPr/>
        </p:nvSpPr>
        <p:spPr>
          <a:xfrm>
            <a:off x="4566818" y="3246120"/>
            <a:ext cx="420624" cy="420624"/>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user.png">    </p:cNvPr>
          <p:cNvPicPr>
            <a:picLocks noChangeAspect="1"/>
          </p:cNvPicPr>
          <p:nvPr/>
        </p:nvPicPr>
        <p:blipFill>
          <a:blip r:embed="rId3"/>
          <a:stretch>
            <a:fillRect/>
          </a:stretch>
        </p:blipFill>
        <p:spPr>
          <a:xfrm>
            <a:off x="4667768" y="3347070"/>
            <a:ext cx="218724" cy="218724"/>
          </a:xfrm>
          <a:prstGeom prst="rect">
            <a:avLst/>
          </a:prstGeom>
        </p:spPr>
      </p:pic>
      <p:sp>
        <p:nvSpPr>
          <p:cNvPr id="16" name="Text 11"/>
          <p:cNvSpPr/>
          <p:nvPr/>
        </p:nvSpPr>
        <p:spPr>
          <a:xfrm>
            <a:off x="4566818"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Responsabilidade do usuário</a:t>
            </a:r>
            <a:endParaRPr lang="en-US" sz="1300" dirty="0"/>
          </a:p>
        </p:txBody>
      </p:sp>
      <p:sp>
        <p:nvSpPr>
          <p:cNvPr id="17" name="Text 12"/>
          <p:cNvSpPr/>
          <p:nvPr/>
        </p:nvSpPr>
        <p:spPr>
          <a:xfrm>
            <a:off x="4566818"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Todas as decisões de compra e venda de ativos são de exclusiva responsabilidade do usuário.</a:t>
            </a:r>
            <a:endParaRPr lang="en-US" sz="1030" dirty="0"/>
          </a:p>
        </p:txBody>
      </p:sp>
      <p:sp>
        <p:nvSpPr>
          <p:cNvPr id="18" name="Shape 13"/>
          <p:cNvSpPr/>
          <p:nvPr/>
        </p:nvSpPr>
        <p:spPr>
          <a:xfrm>
            <a:off x="8127797" y="3017520"/>
            <a:ext cx="3515258" cy="2606040"/>
          </a:xfrm>
          <a:prstGeom prst="roundRect">
            <a:avLst>
              <a:gd name="adj" fmla="val 3158"/>
            </a:avLst>
          </a:prstGeom>
          <a:solidFill>
            <a:srgbClr val="16264D"/>
          </a:solidFill>
          <a:ln/>
        </p:spPr>
        <p:txBody>
          <a:bodyPr/>
          <a:p/>
        </p:txBody>
      </p:sp>
      <p:sp>
        <p:nvSpPr>
          <p:cNvPr id="19" name="Shape 14"/>
          <p:cNvSpPr/>
          <p:nvPr/>
        </p:nvSpPr>
        <p:spPr>
          <a:xfrm>
            <a:off x="8356397" y="3246120"/>
            <a:ext cx="420624" cy="420624"/>
          </a:xfrm>
          <a:prstGeom prst="ellipse">
            <a:avLst/>
          </a:prstGeom>
          <a:solidFill>
            <a:srgbClr val="00D68F"/>
          </a:solidFill>
          <a:ln/>
        </p:spPr>
        <p:txBody>
          <a:bodyPr/>
          <a:p/>
        </p:txBody>
      </p:sp>
      <p:pic>
        <p:nvPicPr>
          <p:cNvPr id="20" name="Image 3" descr="C:\Users\PC ANTONIO\AppData\Roaming\Claude\scratch-workspaces\f0f5d1bc-bf72-4611-a8ea-e50e459a0a45\08c0c592-3fff-44bf-a144-086c85aaeea0\scratch-2026-09-22-98642c\icons\clock.png">    </p:cNvPr>
          <p:cNvPicPr>
            <a:picLocks noChangeAspect="1"/>
          </p:cNvPicPr>
          <p:nvPr/>
        </p:nvPicPr>
        <p:blipFill>
          <a:blip r:embed="rId4"/>
          <a:stretch>
            <a:fillRect/>
          </a:stretch>
        </p:blipFill>
        <p:spPr>
          <a:xfrm>
            <a:off x="8457347" y="3347070"/>
            <a:ext cx="218724" cy="218724"/>
          </a:xfrm>
          <a:prstGeom prst="rect">
            <a:avLst/>
          </a:prstGeom>
        </p:spPr>
      </p:pic>
      <p:sp>
        <p:nvSpPr>
          <p:cNvPr id="21" name="Text 15"/>
          <p:cNvSpPr/>
          <p:nvPr/>
        </p:nvSpPr>
        <p:spPr>
          <a:xfrm>
            <a:off x="8356397"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Atualização do manual</a:t>
            </a:r>
            <a:endParaRPr lang="en-US" sz="1300" dirty="0"/>
          </a:p>
        </p:txBody>
      </p:sp>
      <p:sp>
        <p:nvSpPr>
          <p:cNvPr id="22" name="Text 16"/>
          <p:cNvSpPr/>
          <p:nvPr/>
        </p:nvSpPr>
        <p:spPr>
          <a:xfrm>
            <a:off x="8356397"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Este documento reflete as funcionalidades na data de emissão indicada na capa; novas funcionalidades podem não estar ainda refletidas.</a:t>
            </a:r>
            <a:endParaRPr lang="en-US" sz="1030" dirty="0"/>
          </a:p>
        </p:txBody>
      </p:sp>
      <p:sp>
        <p:nvSpPr>
          <p:cNvPr id="23"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24" name="Text 1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2011680" y="-2011680"/>
            <a:ext cx="5029200" cy="5029200"/>
          </a:xfrm>
          <a:prstGeom prst="ellipse">
            <a:avLst/>
          </a:prstGeom>
          <a:solidFill>
            <a:srgbClr val="16264D"/>
          </a:solidFill>
          <a:ln/>
        </p:spPr>
        <p:txBody>
          <a:bodyPr/>
          <a:p/>
        </p:txBody>
      </p:sp>
      <p:sp>
        <p:nvSpPr>
          <p:cNvPr id="3" name="Shape 1"/>
          <p:cNvSpPr/>
          <p:nvPr/>
        </p:nvSpPr>
        <p:spPr>
          <a:xfrm>
            <a:off x="9601200" y="4114800"/>
            <a:ext cx="4114800" cy="4114800"/>
          </a:xfrm>
          <a:prstGeom prst="ellipse">
            <a:avLst/>
          </a:prstGeom>
          <a:solidFill>
            <a:srgbClr val="16264D"/>
          </a:solidFill>
          <a:ln/>
        </p:spPr>
        <p:txBody>
          <a:bodyPr/>
          <a:p/>
        </p:txBody>
      </p:sp>
      <p:sp>
        <p:nvSpPr>
          <p:cNvPr id="4" name="Shape 2"/>
          <p:cNvSpPr/>
          <p:nvPr/>
        </p:nvSpPr>
        <p:spPr>
          <a:xfrm>
            <a:off x="5592928" y="1965960"/>
            <a:ext cx="1005840" cy="1005840"/>
          </a:xfrm>
          <a:prstGeom prst="ellipse">
            <a:avLst/>
          </a:prstGeom>
          <a:solidFill>
            <a:srgbClr val="00D68F"/>
          </a:solidFill>
          <a:ln/>
        </p:spPr>
        <p:txBody>
          <a:bodyPr/>
          <a:p/>
        </p:txBody>
      </p:sp>
      <p:pic>
        <p:nvPicPr>
          <p:cNvPr id="5" name="Image 0" descr="C:\Users\PC ANTONIO\AppData\Roaming\Claude\scratch-workspaces\f0f5d1bc-bf72-4611-a8ea-e50e459a0a45\08c0c592-3fff-44bf-a144-086c85aaeea0\scratch-2026-09-22-98642c\icons\chart.png">    </p:cNvPr>
          <p:cNvPicPr>
            <a:picLocks noChangeAspect="1"/>
          </p:cNvPicPr>
          <p:nvPr/>
        </p:nvPicPr>
        <p:blipFill>
          <a:blip r:embed="rId1"/>
          <a:stretch>
            <a:fillRect/>
          </a:stretch>
        </p:blipFill>
        <p:spPr>
          <a:xfrm>
            <a:off x="5848960" y="2221992"/>
            <a:ext cx="493776" cy="493776"/>
          </a:xfrm>
          <a:prstGeom prst="rect">
            <a:avLst/>
          </a:prstGeom>
        </p:spPr>
      </p:pic>
      <p:sp>
        <p:nvSpPr>
          <p:cNvPr id="6" name="Text 3"/>
          <p:cNvSpPr/>
          <p:nvPr/>
        </p:nvSpPr>
        <p:spPr>
          <a:xfrm>
            <a:off x="0" y="3246120"/>
            <a:ext cx="12191695" cy="77724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Obrigado</a:t>
            </a:r>
            <a:endParaRPr lang="en-US" sz="3800" dirty="0"/>
          </a:p>
        </p:txBody>
      </p:sp>
      <p:sp>
        <p:nvSpPr>
          <p:cNvPr id="7" name="Text 4"/>
          <p:cNvSpPr/>
          <p:nvPr/>
        </p:nvSpPr>
        <p:spPr>
          <a:xfrm>
            <a:off x="2255368" y="4023360"/>
            <a:ext cx="7680960" cy="548640"/>
          </a:xfrm>
          <a:prstGeom prst="rect">
            <a:avLst/>
          </a:prstGeom>
          <a:noFill/>
          <a:ln/>
        </p:spPr>
        <p:txBody>
          <a:bodyPr wrap="square" lIns="0" tIns="0" rIns="0" bIns="0" rtlCol="0" anchor="ctr"/>
          <a:lstStyle/>
          <a:p>
            <a:pPr algn="ctr" indent="0" marL="0">
              <a:lnSpc>
                <a:spcPct val="125000"/>
              </a:lnSpc>
              <a:buNone/>
            </a:pPr>
            <a:r>
              <a:rPr lang="en-US" sz="1300" dirty="0">
                <a:solidFill>
                  <a:srgbClr val="CADCFC"/>
                </a:solidFill>
                <a:latin typeface="Calibri" pitchFamily="34" charset="0"/>
                <a:ea typeface="Calibri" pitchFamily="34" charset="-122"/>
                <a:cs typeface="Calibri" pitchFamily="34" charset="-120"/>
              </a:rPr>
              <a:t>Dúvidas adicionais? Consulte a seção 20 — Perguntas Frequentes e Solução de Problemas do manual completo.</a:t>
            </a:r>
            <a:endParaRPr lang="en-US" sz="1300" dirty="0"/>
          </a:p>
        </p:txBody>
      </p:sp>
      <p:sp>
        <p:nvSpPr>
          <p:cNvPr id="8" name="Text 5"/>
          <p:cNvSpPr/>
          <p:nvPr/>
        </p:nvSpPr>
        <p:spPr>
          <a:xfrm>
            <a:off x="0" y="4892040"/>
            <a:ext cx="12191695" cy="320040"/>
          </a:xfrm>
          <a:prstGeom prst="rect">
            <a:avLst/>
          </a:prstGeom>
          <a:noFill/>
          <a:ln/>
        </p:spPr>
        <p:txBody>
          <a:bodyPr wrap="square" lIns="0" tIns="0" rIns="0" bIns="0" rtlCol="0" anchor="ctr"/>
          <a:lstStyle/>
          <a:p>
            <a:pPr algn="ctr" indent="0" marL="0">
              <a:buNone/>
            </a:pPr>
            <a:r>
              <a:rPr lang="en-US" sz="1050" dirty="0">
                <a:solidFill>
                  <a:srgbClr val="8FA3CE"/>
                </a:solidFill>
                <a:latin typeface="Calibri" pitchFamily="34" charset="0"/>
                <a:ea typeface="Calibri" pitchFamily="34" charset="-122"/>
                <a:cs typeface="Calibri" pitchFamily="34" charset="-120"/>
              </a:rPr>
              <a:t>Manual_Operacional_BolsaTrader.docx  ·  Versão 10/2026 (rev. 20/10/2026)</a:t>
            </a:r>
            <a:endParaRPr lang="en-US" sz="1050" dirty="0"/>
          </a:p>
        </p:txBody>
      </p:sp>
      <p:sp>
        <p:nvSpPr>
          <p:cNvPr id="9"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10"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9144000" cy="292608"/>
          </a:xfrm>
          <a:prstGeom prst="rect">
            <a:avLst/>
          </a:prstGeom>
          <a:noFill/>
        </p:spPr>
        <p:txBody>
          <a:bodyPr wrap="square" anchor="t" lIns="45720" rIns="45720" tIns="27432" bIns="27432">
            <a:spAutoFit/>
          </a:bodyPr>
          <a:lstStyle/>
          <a:p>
            <a:pPr algn="l"/>
            <a:r>
              <a:rPr sz="1250" b="1" spc="200">
                <a:solidFill>
                  <a:srgbClr val="00D68F"/>
                </a:solidFill>
                <a:latin typeface="Calibri"/>
              </a:rPr>
              <a:t>23  IMPOSTO DE RENDA</a:t>
            </a:r>
          </a:p>
        </p:txBody>
      </p:sp>
      <p:sp>
        <p:nvSpPr>
          <p:cNvPr id="3" name="TextBox 2"/>
          <p:cNvSpPr txBox="1"/>
          <p:nvPr/>
        </p:nvSpPr>
        <p:spPr>
          <a:xfrm>
            <a:off x="548640" y="749808"/>
            <a:ext cx="11091672" cy="640080"/>
          </a:xfrm>
          <a:prstGeom prst="rect">
            <a:avLst/>
          </a:prstGeom>
          <a:noFill/>
        </p:spPr>
        <p:txBody>
          <a:bodyPr wrap="square" anchor="t" lIns="45720" rIns="45720" tIns="27432" bIns="27432">
            <a:spAutoFit/>
          </a:bodyPr>
          <a:lstStyle/>
          <a:p>
            <a:pPr algn="l"/>
            <a:r>
              <a:rPr sz="3000" b="1">
                <a:solidFill>
                  <a:srgbClr val="0D1B3E"/>
                </a:solidFill>
                <a:latin typeface="Calibri"/>
              </a:rPr>
              <a:t>Imposto de Renda na bolsa — o básico</a:t>
            </a:r>
          </a:p>
        </p:txBody>
      </p:sp>
      <p:sp>
        <p:nvSpPr>
          <p:cNvPr id="4" name="TextBox 3"/>
          <p:cNvSpPr txBox="1"/>
          <p:nvPr/>
        </p:nvSpPr>
        <p:spPr>
          <a:xfrm>
            <a:off x="548640" y="1371600"/>
            <a:ext cx="11091672" cy="502920"/>
          </a:xfrm>
          <a:prstGeom prst="rect">
            <a:avLst/>
          </a:prstGeom>
          <a:noFill/>
        </p:spPr>
        <p:txBody>
          <a:bodyPr wrap="square" anchor="t" lIns="45720" rIns="45720" tIns="27432" bIns="27432">
            <a:spAutoFit/>
          </a:bodyPr>
          <a:lstStyle/>
          <a:p>
            <a:pPr algn="l"/>
            <a:r>
              <a:rPr sz="1150" b="0">
                <a:solidFill>
                  <a:srgbClr val="40496B"/>
                </a:solidFill>
                <a:latin typeface="Calibri"/>
              </a:rPr>
              <a:t>Feito para quem não entende de imposto: o sistema calcula tudo a partir das operações já cadastradas. Acesso: Menu › 🧾 Imposto de Renda.</a:t>
            </a:r>
          </a:p>
        </p:txBody>
      </p:sp>
      <p:sp>
        <p:nvSpPr>
          <p:cNvPr id="5" name="Rounded Rectangle 4"/>
          <p:cNvSpPr/>
          <p:nvPr/>
        </p:nvSpPr>
        <p:spPr>
          <a:xfrm>
            <a:off x="548640" y="2011680"/>
            <a:ext cx="3566160" cy="1417320"/>
          </a:xfrm>
          <a:prstGeom prst="roundRect">
            <a:avLst>
              <a:gd name="adj" fmla="val 6000"/>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103120"/>
            <a:ext cx="3108960" cy="685800"/>
          </a:xfrm>
          <a:prstGeom prst="rect">
            <a:avLst/>
          </a:prstGeom>
          <a:noFill/>
        </p:spPr>
        <p:txBody>
          <a:bodyPr wrap="square" anchor="ctr" lIns="45720" rIns="45720" tIns="27432" bIns="27432">
            <a:spAutoFit/>
          </a:bodyPr>
          <a:lstStyle/>
          <a:p>
            <a:pPr algn="l"/>
            <a:r>
              <a:rPr sz="3200" b="1">
                <a:solidFill>
                  <a:srgbClr val="00D68F"/>
                </a:solidFill>
                <a:latin typeface="Calibri"/>
              </a:rPr>
              <a:t>R$ 20 mil</a:t>
            </a:r>
          </a:p>
        </p:txBody>
      </p:sp>
      <p:sp>
        <p:nvSpPr>
          <p:cNvPr id="7" name="TextBox 6"/>
          <p:cNvSpPr txBox="1"/>
          <p:nvPr/>
        </p:nvSpPr>
        <p:spPr>
          <a:xfrm>
            <a:off x="777240" y="2788920"/>
            <a:ext cx="3108960" cy="548640"/>
          </a:xfrm>
          <a:prstGeom prst="rect">
            <a:avLst/>
          </a:prstGeom>
          <a:noFill/>
        </p:spPr>
        <p:txBody>
          <a:bodyPr wrap="square" anchor="t" lIns="45720" rIns="45720" tIns="27432" bIns="27432">
            <a:spAutoFit/>
          </a:bodyPr>
          <a:lstStyle/>
          <a:p>
            <a:pPr algn="l"/>
            <a:r>
              <a:rPr sz="1100" b="0">
                <a:solidFill>
                  <a:srgbClr val="CADCFC"/>
                </a:solidFill>
                <a:latin typeface="Calibri"/>
              </a:rPr>
              <a:t>Vendas de ações no mês até esse valor: o lucro do mês é isento</a:t>
            </a:r>
          </a:p>
        </p:txBody>
      </p:sp>
      <p:sp>
        <p:nvSpPr>
          <p:cNvPr id="8" name="Rounded Rectangle 7"/>
          <p:cNvSpPr/>
          <p:nvPr/>
        </p:nvSpPr>
        <p:spPr>
          <a:xfrm>
            <a:off x="4311396" y="2011680"/>
            <a:ext cx="3566160" cy="1417320"/>
          </a:xfrm>
          <a:prstGeom prst="roundRect">
            <a:avLst>
              <a:gd name="adj" fmla="val 6000"/>
            </a:avLst>
          </a:prstGeom>
          <a:solidFill>
            <a:srgbClr val="1626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39996" y="2103120"/>
            <a:ext cx="3108960" cy="685800"/>
          </a:xfrm>
          <a:prstGeom prst="rect">
            <a:avLst/>
          </a:prstGeom>
          <a:noFill/>
        </p:spPr>
        <p:txBody>
          <a:bodyPr wrap="square" anchor="ctr" lIns="45720" rIns="45720" tIns="27432" bIns="27432">
            <a:spAutoFit/>
          </a:bodyPr>
          <a:lstStyle/>
          <a:p>
            <a:pPr algn="l"/>
            <a:r>
              <a:rPr sz="3200" b="1">
                <a:solidFill>
                  <a:srgbClr val="00D68F"/>
                </a:solidFill>
                <a:latin typeface="Calibri"/>
              </a:rPr>
              <a:t>15%</a:t>
            </a:r>
          </a:p>
        </p:txBody>
      </p:sp>
      <p:sp>
        <p:nvSpPr>
          <p:cNvPr id="10" name="TextBox 9"/>
          <p:cNvSpPr txBox="1"/>
          <p:nvPr/>
        </p:nvSpPr>
        <p:spPr>
          <a:xfrm>
            <a:off x="4539996" y="2788920"/>
            <a:ext cx="3108960" cy="548640"/>
          </a:xfrm>
          <a:prstGeom prst="rect">
            <a:avLst/>
          </a:prstGeom>
          <a:noFill/>
        </p:spPr>
        <p:txBody>
          <a:bodyPr wrap="square" anchor="t" lIns="45720" rIns="45720" tIns="27432" bIns="27432">
            <a:spAutoFit/>
          </a:bodyPr>
          <a:lstStyle/>
          <a:p>
            <a:pPr algn="l"/>
            <a:r>
              <a:rPr sz="1100" b="0">
                <a:solidFill>
                  <a:srgbClr val="CADCFC"/>
                </a:solidFill>
                <a:latin typeface="Calibri"/>
              </a:rPr>
              <a:t>Lucro com ações acima do limite — sobre o lucro do mês inteiro</a:t>
            </a:r>
          </a:p>
        </p:txBody>
      </p:sp>
      <p:sp>
        <p:nvSpPr>
          <p:cNvPr id="11" name="Rounded Rectangle 10"/>
          <p:cNvSpPr/>
          <p:nvPr/>
        </p:nvSpPr>
        <p:spPr>
          <a:xfrm>
            <a:off x="8074152" y="2011680"/>
            <a:ext cx="3566160" cy="1417320"/>
          </a:xfrm>
          <a:prstGeom prst="roundRect">
            <a:avLst>
              <a:gd name="adj" fmla="val 6000"/>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02752" y="2103120"/>
            <a:ext cx="3108960" cy="685800"/>
          </a:xfrm>
          <a:prstGeom prst="rect">
            <a:avLst/>
          </a:prstGeom>
          <a:noFill/>
        </p:spPr>
        <p:txBody>
          <a:bodyPr wrap="square" anchor="ctr" lIns="45720" rIns="45720" tIns="27432" bIns="27432">
            <a:spAutoFit/>
          </a:bodyPr>
          <a:lstStyle/>
          <a:p>
            <a:pPr algn="l"/>
            <a:r>
              <a:rPr sz="3200" b="1">
                <a:solidFill>
                  <a:srgbClr val="00D68F"/>
                </a:solidFill>
                <a:latin typeface="Calibri"/>
              </a:rPr>
              <a:t>20%</a:t>
            </a:r>
          </a:p>
        </p:txBody>
      </p:sp>
      <p:sp>
        <p:nvSpPr>
          <p:cNvPr id="13" name="TextBox 12"/>
          <p:cNvSpPr txBox="1"/>
          <p:nvPr/>
        </p:nvSpPr>
        <p:spPr>
          <a:xfrm>
            <a:off x="8302752" y="2788920"/>
            <a:ext cx="3108960" cy="548640"/>
          </a:xfrm>
          <a:prstGeom prst="rect">
            <a:avLst/>
          </a:prstGeom>
          <a:noFill/>
        </p:spPr>
        <p:txBody>
          <a:bodyPr wrap="square" anchor="t" lIns="45720" rIns="45720" tIns="27432" bIns="27432">
            <a:spAutoFit/>
          </a:bodyPr>
          <a:lstStyle/>
          <a:p>
            <a:pPr algn="l"/>
            <a:r>
              <a:rPr sz="1100" b="0">
                <a:solidFill>
                  <a:srgbClr val="CADCFC"/>
                </a:solidFill>
                <a:latin typeface="Calibri"/>
              </a:rPr>
              <a:t>Day trade e fundos imobiliários (FII), sem isenção</a:t>
            </a:r>
          </a:p>
        </p:txBody>
      </p:sp>
      <p:sp>
        <p:nvSpPr>
          <p:cNvPr id="14" name="Rounded Rectangle 13"/>
          <p:cNvSpPr/>
          <p:nvPr/>
        </p:nvSpPr>
        <p:spPr>
          <a:xfrm>
            <a:off x="548640" y="3657600"/>
            <a:ext cx="3566160" cy="16002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mage.png"/>
          <p:cNvPicPr>
            <a:picLocks noChangeAspect="1"/>
          </p:cNvPicPr>
          <p:nvPr/>
        </p:nvPicPr>
        <p:blipFill>
          <a:blip r:embed="rId2"/>
          <a:stretch>
            <a:fillRect/>
          </a:stretch>
        </p:blipFill>
        <p:spPr>
          <a:xfrm>
            <a:off x="873252" y="3973068"/>
            <a:ext cx="192024" cy="192024"/>
          </a:xfrm>
          <a:prstGeom prst="rect">
            <a:avLst/>
          </a:prstGeom>
        </p:spPr>
      </p:pic>
      <p:sp>
        <p:nvSpPr>
          <p:cNvPr id="17" name="TextBox 16"/>
          <p:cNvSpPr txBox="1"/>
          <p:nvPr/>
        </p:nvSpPr>
        <p:spPr>
          <a:xfrm>
            <a:off x="1280160" y="387705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Comprar não paga imposto</a:t>
            </a:r>
          </a:p>
        </p:txBody>
      </p:sp>
      <p:sp>
        <p:nvSpPr>
          <p:cNvPr id="18" name="TextBox 17"/>
          <p:cNvSpPr txBox="1"/>
          <p:nvPr/>
        </p:nvSpPr>
        <p:spPr>
          <a:xfrm>
            <a:off x="777240" y="4370832"/>
            <a:ext cx="3108960" cy="777240"/>
          </a:xfrm>
          <a:prstGeom prst="rect">
            <a:avLst/>
          </a:prstGeom>
          <a:noFill/>
        </p:spPr>
        <p:txBody>
          <a:bodyPr wrap="square" anchor="t" lIns="45720" rIns="45720" tIns="27432" bIns="27432">
            <a:spAutoFit/>
          </a:bodyPr>
          <a:lstStyle/>
          <a:p>
            <a:pPr algn="l"/>
            <a:r>
              <a:rPr sz="1050" b="0">
                <a:solidFill>
                  <a:srgbClr val="40496B"/>
                </a:solidFill>
                <a:latin typeface="Calibri"/>
              </a:rPr>
              <a:t>O imposto só existe na venda com lucro. Dividendos e rendimentos de FII são isentos.</a:t>
            </a:r>
          </a:p>
        </p:txBody>
      </p:sp>
      <p:sp>
        <p:nvSpPr>
          <p:cNvPr id="19" name="Rounded Rectangle 18"/>
          <p:cNvSpPr/>
          <p:nvPr/>
        </p:nvSpPr>
        <p:spPr>
          <a:xfrm>
            <a:off x="4311396" y="3657600"/>
            <a:ext cx="3566160" cy="16002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39996" y="387705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3"/>
          <a:stretch>
            <a:fillRect/>
          </a:stretch>
        </p:blipFill>
        <p:spPr>
          <a:xfrm>
            <a:off x="4636008" y="3973068"/>
            <a:ext cx="192024" cy="192024"/>
          </a:xfrm>
          <a:prstGeom prst="rect">
            <a:avLst/>
          </a:prstGeom>
        </p:spPr>
      </p:pic>
      <p:sp>
        <p:nvSpPr>
          <p:cNvPr id="22" name="TextBox 21"/>
          <p:cNvSpPr txBox="1"/>
          <p:nvPr/>
        </p:nvSpPr>
        <p:spPr>
          <a:xfrm>
            <a:off x="5042916" y="387705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Prejuízo vira desconto</a:t>
            </a:r>
          </a:p>
        </p:txBody>
      </p:sp>
      <p:sp>
        <p:nvSpPr>
          <p:cNvPr id="23" name="TextBox 22"/>
          <p:cNvSpPr txBox="1"/>
          <p:nvPr/>
        </p:nvSpPr>
        <p:spPr>
          <a:xfrm>
            <a:off x="4539996" y="4370832"/>
            <a:ext cx="3108960" cy="777240"/>
          </a:xfrm>
          <a:prstGeom prst="rect">
            <a:avLst/>
          </a:prstGeom>
          <a:noFill/>
        </p:spPr>
        <p:txBody>
          <a:bodyPr wrap="square" anchor="t" lIns="45720" rIns="45720" tIns="27432" bIns="27432">
            <a:spAutoFit/>
          </a:bodyPr>
          <a:lstStyle/>
          <a:p>
            <a:pPr algn="l"/>
            <a:r>
              <a:rPr sz="1050" b="0">
                <a:solidFill>
                  <a:srgbClr val="40496B"/>
                </a:solidFill>
                <a:latin typeface="Calibri"/>
              </a:rPr>
              <a:t>Perdas ficam guardadas e abatem o imposto de lucros futuros do mesmo tipo de operação.</a:t>
            </a:r>
          </a:p>
        </p:txBody>
      </p:sp>
      <p:sp>
        <p:nvSpPr>
          <p:cNvPr id="24" name="Rounded Rectangle 23"/>
          <p:cNvSpPr/>
          <p:nvPr/>
        </p:nvSpPr>
        <p:spPr>
          <a:xfrm>
            <a:off x="8074152" y="3657600"/>
            <a:ext cx="3566160" cy="16002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302752" y="387705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4"/>
          <a:stretch>
            <a:fillRect/>
          </a:stretch>
        </p:blipFill>
        <p:spPr>
          <a:xfrm>
            <a:off x="8398764" y="3973068"/>
            <a:ext cx="192024" cy="192024"/>
          </a:xfrm>
          <a:prstGeom prst="rect">
            <a:avLst/>
          </a:prstGeom>
        </p:spPr>
      </p:pic>
      <p:sp>
        <p:nvSpPr>
          <p:cNvPr id="27" name="TextBox 26"/>
          <p:cNvSpPr txBox="1"/>
          <p:nvPr/>
        </p:nvSpPr>
        <p:spPr>
          <a:xfrm>
            <a:off x="8805672" y="387705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Você paga por DARF</a:t>
            </a:r>
          </a:p>
        </p:txBody>
      </p:sp>
      <p:sp>
        <p:nvSpPr>
          <p:cNvPr id="28" name="TextBox 27"/>
          <p:cNvSpPr txBox="1"/>
          <p:nvPr/>
        </p:nvSpPr>
        <p:spPr>
          <a:xfrm>
            <a:off x="8302752" y="4370832"/>
            <a:ext cx="3108960" cy="777240"/>
          </a:xfrm>
          <a:prstGeom prst="rect">
            <a:avLst/>
          </a:prstGeom>
          <a:noFill/>
        </p:spPr>
        <p:txBody>
          <a:bodyPr wrap="square" anchor="t" lIns="45720" rIns="45720" tIns="27432" bIns="27432">
            <a:spAutoFit/>
          </a:bodyPr>
          <a:lstStyle/>
          <a:p>
            <a:pPr algn="l"/>
            <a:r>
              <a:rPr sz="1050" b="0">
                <a:solidFill>
                  <a:srgbClr val="40496B"/>
                </a:solidFill>
                <a:latin typeface="Calibri"/>
              </a:rPr>
              <a:t>Código 6015, até o último dia útil do mês seguinte. O sistema calcula o valor e lembra do prazo.</a:t>
            </a:r>
          </a:p>
        </p:txBody>
      </p:sp>
      <p:sp>
        <p:nvSpPr>
          <p:cNvPr id="29" name="Rounded Rectangle 28"/>
          <p:cNvSpPr/>
          <p:nvPr/>
        </p:nvSpPr>
        <p:spPr>
          <a:xfrm>
            <a:off x="548640" y="5532120"/>
            <a:ext cx="11091672" cy="566928"/>
          </a:xfrm>
          <a:prstGeom prst="roundRect">
            <a:avLst>
              <a:gd name="adj" fmla="val 6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31520" y="5650992"/>
            <a:ext cx="329184" cy="329184"/>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mage.png"/>
          <p:cNvPicPr>
            <a:picLocks noChangeAspect="1"/>
          </p:cNvPicPr>
          <p:nvPr/>
        </p:nvPicPr>
        <p:blipFill>
          <a:blip r:embed="rId5"/>
          <a:stretch>
            <a:fillRect/>
          </a:stretch>
        </p:blipFill>
        <p:spPr>
          <a:xfrm>
            <a:off x="813816" y="5733288"/>
            <a:ext cx="164592" cy="164592"/>
          </a:xfrm>
          <a:prstGeom prst="rect">
            <a:avLst/>
          </a:prstGeom>
        </p:spPr>
      </p:pic>
      <p:sp>
        <p:nvSpPr>
          <p:cNvPr id="32" name="TextBox 31"/>
          <p:cNvSpPr txBox="1"/>
          <p:nvPr/>
        </p:nvSpPr>
        <p:spPr>
          <a:xfrm>
            <a:off x="1225296" y="5532120"/>
            <a:ext cx="10232136" cy="566928"/>
          </a:xfrm>
          <a:prstGeom prst="rect">
            <a:avLst/>
          </a:prstGeom>
          <a:noFill/>
        </p:spPr>
        <p:txBody>
          <a:bodyPr wrap="square" anchor="ctr" lIns="45720" rIns="45720" tIns="27432" bIns="27432">
            <a:spAutoFit/>
          </a:bodyPr>
          <a:lstStyle/>
          <a:p>
            <a:pPr algn="l"/>
            <a:r>
              <a:rPr sz="1050" b="0">
                <a:solidFill>
                  <a:srgbClr val="0D1B3E"/>
                </a:solidFill>
                <a:latin typeface="Calibri"/>
              </a:rPr>
              <a:t>Valores estimados a partir do que foi cadastrado — confira com as notas de corretagem e, se precisar, com um contador. O BolsaTrader não envia nada à Receita Federal.</a:t>
            </a:r>
          </a:p>
        </p:txBody>
      </p:sp>
      <p:sp>
        <p:nvSpPr>
          <p:cNvPr id="33" name="TextBox 32"/>
          <p:cNvSpPr txBox="1"/>
          <p:nvPr/>
        </p:nvSpPr>
        <p:spPr>
          <a:xfrm>
            <a:off x="548640" y="6473952"/>
            <a:ext cx="7315200" cy="274320"/>
          </a:xfrm>
          <a:prstGeom prst="rect">
            <a:avLst/>
          </a:prstGeom>
          <a:noFill/>
        </p:spPr>
        <p:txBody>
          <a:bodyPr wrap="square" anchor="t" lIns="45720" rIns="45720" tIns="27432" bIns="27432">
            <a:spAutoFit/>
          </a:bodyPr>
          <a:lstStyle/>
          <a:p>
            <a:pPr algn="l"/>
            <a:r>
              <a:rPr sz="900" b="0">
                <a:solidFill>
                  <a:srgbClr val="7C89A8"/>
                </a:solidFill>
                <a:latin typeface="Calibri"/>
              </a:rPr>
              <a:t>BolsaTrader  ·  Manual Operacional do Sistema</a:t>
            </a:r>
          </a:p>
        </p:txBody>
      </p:sp>
      <p:sp>
        <p:nvSpPr>
          <p:cNvPr id="34" name="TextBox 33"/>
          <p:cNvSpPr txBox="1"/>
          <p:nvPr/>
        </p:nvSpPr>
        <p:spPr>
          <a:xfrm>
            <a:off x="10725912" y="6473952"/>
            <a:ext cx="914400" cy="274320"/>
          </a:xfrm>
          <a:prstGeom prst="rect">
            <a:avLst/>
          </a:prstGeom>
          <a:noFill/>
        </p:spPr>
        <p:txBody>
          <a:bodyPr wrap="square" anchor="t" lIns="45720" rIns="45720" tIns="27432" bIns="27432">
            <a:spAutoFit/>
          </a:bodyPr>
          <a:lstStyle/>
          <a:p>
            <a:pPr algn="r"/>
            <a:r>
              <a:rPr sz="900" b="0">
                <a:solidFill>
                  <a:srgbClr val="7C89A8"/>
                </a:solidFill>
                <a:latin typeface="Calibri"/>
              </a:rPr>
              <a:t>30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9144000" cy="292608"/>
          </a:xfrm>
          <a:prstGeom prst="rect">
            <a:avLst/>
          </a:prstGeom>
          <a:noFill/>
        </p:spPr>
        <p:txBody>
          <a:bodyPr wrap="square" anchor="t" lIns="45720" rIns="45720" tIns="27432" bIns="27432">
            <a:spAutoFit/>
          </a:bodyPr>
          <a:lstStyle/>
          <a:p>
            <a:pPr algn="l"/>
            <a:r>
              <a:rPr sz="1250" b="1" spc="200">
                <a:solidFill>
                  <a:srgbClr val="00D68F"/>
                </a:solidFill>
                <a:latin typeface="Calibri"/>
              </a:rPr>
              <a:t>23.2  PREÇO MÉDIO</a:t>
            </a:r>
          </a:p>
        </p:txBody>
      </p:sp>
      <p:sp>
        <p:nvSpPr>
          <p:cNvPr id="3" name="TextBox 2"/>
          <p:cNvSpPr txBox="1"/>
          <p:nvPr/>
        </p:nvSpPr>
        <p:spPr>
          <a:xfrm>
            <a:off x="548640" y="749808"/>
            <a:ext cx="11091672" cy="640080"/>
          </a:xfrm>
          <a:prstGeom prst="rect">
            <a:avLst/>
          </a:prstGeom>
          <a:noFill/>
        </p:spPr>
        <p:txBody>
          <a:bodyPr wrap="square" anchor="t" lIns="45720" rIns="45720" tIns="27432" bIns="27432">
            <a:spAutoFit/>
          </a:bodyPr>
          <a:lstStyle/>
          <a:p>
            <a:pPr algn="l"/>
            <a:r>
              <a:rPr sz="3000" b="1">
                <a:solidFill>
                  <a:srgbClr val="0D1B3E"/>
                </a:solidFill>
                <a:latin typeface="Calibri"/>
              </a:rPr>
              <a:t>Por que o lucro do imposto é diferente do da tela</a:t>
            </a:r>
          </a:p>
        </p:txBody>
      </p:sp>
      <p:sp>
        <p:nvSpPr>
          <p:cNvPr id="4" name="TextBox 3"/>
          <p:cNvSpPr txBox="1"/>
          <p:nvPr/>
        </p:nvSpPr>
        <p:spPr>
          <a:xfrm>
            <a:off x="548640" y="1371600"/>
            <a:ext cx="11091672" cy="502920"/>
          </a:xfrm>
          <a:prstGeom prst="rect">
            <a:avLst/>
          </a:prstGeom>
          <a:noFill/>
        </p:spPr>
        <p:txBody>
          <a:bodyPr wrap="square" anchor="t" lIns="45720" rIns="45720" tIns="27432" bIns="27432">
            <a:spAutoFit/>
          </a:bodyPr>
          <a:lstStyle/>
          <a:p>
            <a:pPr algn="l"/>
            <a:r>
              <a:rPr sz="1150" b="0">
                <a:solidFill>
                  <a:srgbClr val="40496B"/>
                </a:solidFill>
                <a:latin typeface="Calibri"/>
              </a:rPr>
              <a:t>Na tela de operações, cada venda é comparada ao preço do próprio lote. A Receita usa o preço médio de todas as compras do ativo.</a:t>
            </a:r>
          </a:p>
        </p:txBody>
      </p:sp>
      <p:sp>
        <p:nvSpPr>
          <p:cNvPr id="5" name="TextBox 4"/>
          <p:cNvSpPr txBox="1"/>
          <p:nvPr/>
        </p:nvSpPr>
        <p:spPr>
          <a:xfrm>
            <a:off x="548640" y="1938528"/>
            <a:ext cx="5486400" cy="320040"/>
          </a:xfrm>
          <a:prstGeom prst="rect">
            <a:avLst/>
          </a:prstGeom>
          <a:noFill/>
        </p:spPr>
        <p:txBody>
          <a:bodyPr wrap="square" anchor="t" lIns="45720" rIns="45720" tIns="27432" bIns="27432">
            <a:spAutoFit/>
          </a:bodyPr>
          <a:lstStyle/>
          <a:p>
            <a:pPr algn="l"/>
            <a:r>
              <a:rPr sz="1350" b="1">
                <a:solidFill>
                  <a:srgbClr val="0D1B3E"/>
                </a:solidFill>
                <a:latin typeface="Calibri"/>
              </a:rPr>
              <a:t>Exemplo</a:t>
            </a:r>
          </a:p>
        </p:txBody>
      </p:sp>
      <p:graphicFrame>
        <p:nvGraphicFramePr>
          <p:cNvPr id="6" name="Table 5"/>
          <p:cNvGraphicFramePr>
            <a:graphicFrameLocks noGrp="1"/>
          </p:cNvGraphicFramePr>
          <p:nvPr/>
        </p:nvGraphicFramePr>
        <p:xfrm>
          <a:off x="548640" y="2304288"/>
          <a:ext cx="11091672" cy="1536192"/>
        </p:xfrm>
        <a:graphic>
          <a:graphicData uri="http://schemas.openxmlformats.org/drawingml/2006/table">
            <a:tbl>
              <a:tblPr firstRow="0" bandRow="0"/>
              <a:tblGrid>
                <a:gridCol w="1463040"/>
                <a:gridCol w="3931920"/>
                <a:gridCol w="2834640"/>
                <a:gridCol w="2862072"/>
              </a:tblGrid>
              <a:tr h="384048">
                <a:tc>
                  <a:txBody>
                    <a:bodyPr/>
                    <a:lstStyle/>
                    <a:p>
                      <a:r>
                        <a:rPr sz="1050" b="1">
                          <a:solidFill>
                            <a:srgbClr val="FFFFFF"/>
                          </a:solidFill>
                          <a:latin typeface="Calibri"/>
                        </a:rPr>
                        <a:t>Quando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c>
                  <a:txBody>
                    <a:bodyPr/>
                    <a:lstStyle/>
                    <a:p>
                      <a:r>
                        <a:rPr sz="1050" b="1">
                          <a:solidFill>
                            <a:srgbClr val="FFFFFF"/>
                          </a:solidFill>
                          <a:latin typeface="Calibri"/>
                        </a:rPr>
                        <a:t>O que aconteceu</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c>
                  <a:txBody>
                    <a:bodyPr/>
                    <a:lstStyle/>
                    <a:p>
                      <a:r>
                        <a:rPr sz="1050" b="1">
                          <a:solidFill>
                            <a:srgbClr val="FFFFFF"/>
                          </a:solidFill>
                          <a:latin typeface="Calibri"/>
                        </a:rPr>
                        <a:t>Visão do lote (tela)</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c>
                  <a:txBody>
                    <a:bodyPr/>
                    <a:lstStyle/>
                    <a:p>
                      <a:r>
                        <a:rPr sz="1050" b="1">
                          <a:solidFill>
                            <a:srgbClr val="FFFFFF"/>
                          </a:solidFill>
                          <a:latin typeface="Calibri"/>
                        </a:rPr>
                        <a:t>Visão do imposto (Receita)</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r>
              <a:tr h="384048">
                <a:tc>
                  <a:txBody>
                    <a:bodyPr/>
                    <a:lstStyle/>
                    <a:p>
                      <a:r>
                        <a:rPr sz="1000" b="1">
                          <a:solidFill>
                            <a:srgbClr val="0D1B3E"/>
                          </a:solidFill>
                          <a:latin typeface="Calibri"/>
                        </a:rPr>
                        <a:t>Janeiro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Compra de 100 ações a R$ 10 (R$ 1.000)</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Lote 1: R$ 10</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Preço médio: R$ 10</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384048">
                <a:tc>
                  <a:txBody>
                    <a:bodyPr/>
                    <a:lstStyle/>
                    <a:p>
                      <a:r>
                        <a:rPr sz="1000" b="1">
                          <a:solidFill>
                            <a:srgbClr val="0D1B3E"/>
                          </a:solidFill>
                          <a:latin typeface="Calibri"/>
                        </a:rPr>
                        <a:t>Fevereiro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Compra de 100 ações a R$ 20 (R$ 2.000)</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Lote 2: R$ 20</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Preço médio: R$ 15</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384048">
                <a:tc>
                  <a:txBody>
                    <a:bodyPr/>
                    <a:lstStyle/>
                    <a:p>
                      <a:r>
                        <a:rPr sz="1000" b="1">
                          <a:solidFill>
                            <a:srgbClr val="0D1B3E"/>
                          </a:solidFill>
                          <a:latin typeface="Calibri"/>
                        </a:rPr>
                        <a:t>Março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Venda de 50 ações a R$ 30, do lote 2</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Lucro: R$ 500</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Lucro: R$ 750</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bl>
          </a:graphicData>
        </a:graphic>
      </p:graphicFrame>
      <p:sp>
        <p:nvSpPr>
          <p:cNvPr id="7" name="Rounded Rectangle 6"/>
          <p:cNvSpPr/>
          <p:nvPr/>
        </p:nvSpPr>
        <p:spPr>
          <a:xfrm>
            <a:off x="548640" y="4160520"/>
            <a:ext cx="5367528" cy="123444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437997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png"/>
          <p:cNvPicPr>
            <a:picLocks noChangeAspect="1"/>
          </p:cNvPicPr>
          <p:nvPr/>
        </p:nvPicPr>
        <p:blipFill>
          <a:blip r:embed="rId2"/>
          <a:stretch>
            <a:fillRect/>
          </a:stretch>
        </p:blipFill>
        <p:spPr>
          <a:xfrm>
            <a:off x="873252" y="4475988"/>
            <a:ext cx="192024" cy="192024"/>
          </a:xfrm>
          <a:prstGeom prst="rect">
            <a:avLst/>
          </a:prstGeom>
        </p:spPr>
      </p:pic>
      <p:sp>
        <p:nvSpPr>
          <p:cNvPr id="10" name="TextBox 9"/>
          <p:cNvSpPr txBox="1"/>
          <p:nvPr/>
        </p:nvSpPr>
        <p:spPr>
          <a:xfrm>
            <a:off x="1280160" y="4379976"/>
            <a:ext cx="4453128" cy="384048"/>
          </a:xfrm>
          <a:prstGeom prst="rect">
            <a:avLst/>
          </a:prstGeom>
          <a:noFill/>
        </p:spPr>
        <p:txBody>
          <a:bodyPr wrap="square" anchor="ctr" lIns="45720" rIns="45720" tIns="27432" bIns="27432">
            <a:spAutoFit/>
          </a:bodyPr>
          <a:lstStyle/>
          <a:p>
            <a:pPr algn="l"/>
            <a:r>
              <a:rPr sz="1350" b="1">
                <a:solidFill>
                  <a:srgbClr val="0D1B3E"/>
                </a:solidFill>
                <a:latin typeface="Calibri"/>
              </a:rPr>
              <a:t>Os dois números estão certos</a:t>
            </a:r>
          </a:p>
        </p:txBody>
      </p:sp>
      <p:sp>
        <p:nvSpPr>
          <p:cNvPr id="11" name="TextBox 10"/>
          <p:cNvSpPr txBox="1"/>
          <p:nvPr/>
        </p:nvSpPr>
        <p:spPr>
          <a:xfrm>
            <a:off x="777240" y="4873752"/>
            <a:ext cx="4910328" cy="411480"/>
          </a:xfrm>
          <a:prstGeom prst="rect">
            <a:avLst/>
          </a:prstGeom>
          <a:noFill/>
        </p:spPr>
        <p:txBody>
          <a:bodyPr wrap="square" anchor="t" lIns="45720" rIns="45720" tIns="27432" bIns="27432">
            <a:spAutoFit/>
          </a:bodyPr>
          <a:lstStyle/>
          <a:p>
            <a:pPr algn="l"/>
            <a:r>
              <a:rPr sz="1050" b="0">
                <a:solidFill>
                  <a:srgbClr val="40496B"/>
                </a:solidFill>
                <a:latin typeface="Calibri"/>
              </a:rPr>
              <a:t>O lucro do lote serve para metas e preço alvo. Para o imposto vale o preço médio — usado em todas as telas do módulo.</a:t>
            </a:r>
          </a:p>
        </p:txBody>
      </p:sp>
      <p:sp>
        <p:nvSpPr>
          <p:cNvPr id="12" name="Rounded Rectangle 11"/>
          <p:cNvSpPr/>
          <p:nvPr/>
        </p:nvSpPr>
        <p:spPr>
          <a:xfrm>
            <a:off x="6281928" y="4160520"/>
            <a:ext cx="5358384" cy="123444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510528" y="437997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606540" y="4475988"/>
            <a:ext cx="192024" cy="192024"/>
          </a:xfrm>
          <a:prstGeom prst="rect">
            <a:avLst/>
          </a:prstGeom>
        </p:spPr>
      </p:pic>
      <p:sp>
        <p:nvSpPr>
          <p:cNvPr id="15" name="TextBox 14"/>
          <p:cNvSpPr txBox="1"/>
          <p:nvPr/>
        </p:nvSpPr>
        <p:spPr>
          <a:xfrm>
            <a:off x="7013448" y="4379976"/>
            <a:ext cx="4443984" cy="384048"/>
          </a:xfrm>
          <a:prstGeom prst="rect">
            <a:avLst/>
          </a:prstGeom>
          <a:noFill/>
        </p:spPr>
        <p:txBody>
          <a:bodyPr wrap="square" anchor="ctr" lIns="45720" rIns="45720" tIns="27432" bIns="27432">
            <a:spAutoFit/>
          </a:bodyPr>
          <a:lstStyle/>
          <a:p>
            <a:pPr algn="l"/>
            <a:r>
              <a:rPr sz="1350" b="1">
                <a:solidFill>
                  <a:srgbClr val="0D1B3E"/>
                </a:solidFill>
                <a:latin typeface="Calibri"/>
              </a:rPr>
              <a:t>Day trade pela regra da Receita</a:t>
            </a:r>
          </a:p>
        </p:txBody>
      </p:sp>
      <p:sp>
        <p:nvSpPr>
          <p:cNvPr id="16" name="TextBox 15"/>
          <p:cNvSpPr txBox="1"/>
          <p:nvPr/>
        </p:nvSpPr>
        <p:spPr>
          <a:xfrm>
            <a:off x="6510528" y="4873752"/>
            <a:ext cx="4901184" cy="411480"/>
          </a:xfrm>
          <a:prstGeom prst="rect">
            <a:avLst/>
          </a:prstGeom>
          <a:noFill/>
        </p:spPr>
        <p:txBody>
          <a:bodyPr wrap="square" anchor="t" lIns="45720" rIns="45720" tIns="27432" bIns="27432">
            <a:spAutoFit/>
          </a:bodyPr>
          <a:lstStyle/>
          <a:p>
            <a:pPr algn="l"/>
            <a:r>
              <a:rPr sz="1050" b="0">
                <a:solidFill>
                  <a:srgbClr val="40496B"/>
                </a:solidFill>
                <a:latin typeface="Calibri"/>
              </a:rPr>
              <a:t>Comprou e vendeu a mesma ação no mesmo dia? A parte que coincide é day trade (20%), mesmo que a venda tenha saído de um lote antigo.</a:t>
            </a:r>
          </a:p>
        </p:txBody>
      </p:sp>
      <p:sp>
        <p:nvSpPr>
          <p:cNvPr id="17" name="Rounded Rectangle 16"/>
          <p:cNvSpPr/>
          <p:nvPr/>
        </p:nvSpPr>
        <p:spPr>
          <a:xfrm>
            <a:off x="548640" y="5596128"/>
            <a:ext cx="11091672" cy="566928"/>
          </a:xfrm>
          <a:prstGeom prst="roundRect">
            <a:avLst>
              <a:gd name="adj" fmla="val 6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31520" y="5715000"/>
            <a:ext cx="329184" cy="329184"/>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4"/>
          <a:stretch>
            <a:fillRect/>
          </a:stretch>
        </p:blipFill>
        <p:spPr>
          <a:xfrm>
            <a:off x="813816" y="5797296"/>
            <a:ext cx="164592" cy="164592"/>
          </a:xfrm>
          <a:prstGeom prst="rect">
            <a:avLst/>
          </a:prstGeom>
        </p:spPr>
      </p:pic>
      <p:sp>
        <p:nvSpPr>
          <p:cNvPr id="20" name="TextBox 19"/>
          <p:cNvSpPr txBox="1"/>
          <p:nvPr/>
        </p:nvSpPr>
        <p:spPr>
          <a:xfrm>
            <a:off x="1225296" y="5596128"/>
            <a:ext cx="10232136" cy="566928"/>
          </a:xfrm>
          <a:prstGeom prst="rect">
            <a:avLst/>
          </a:prstGeom>
          <a:noFill/>
        </p:spPr>
        <p:txBody>
          <a:bodyPr wrap="square" anchor="ctr" lIns="45720" rIns="45720" tIns="27432" bIns="27432">
            <a:spAutoFit/>
          </a:bodyPr>
          <a:lstStyle/>
          <a:p>
            <a:pPr algn="l"/>
            <a:r>
              <a:rPr sz="1050" b="0">
                <a:solidFill>
                  <a:srgbClr val="0D1B3E"/>
                </a:solidFill>
                <a:latin typeface="Calibri"/>
              </a:rPr>
              <a:t>A tela Posição Fiscal mostra, por ativo, o preço médio fiscal, o custo para a declaração e o resultado de cada venda pelo preço médio.</a:t>
            </a:r>
          </a:p>
        </p:txBody>
      </p:sp>
      <p:sp>
        <p:nvSpPr>
          <p:cNvPr id="21" name="TextBox 20"/>
          <p:cNvSpPr txBox="1"/>
          <p:nvPr/>
        </p:nvSpPr>
        <p:spPr>
          <a:xfrm>
            <a:off x="548640" y="6473952"/>
            <a:ext cx="7315200" cy="274320"/>
          </a:xfrm>
          <a:prstGeom prst="rect">
            <a:avLst/>
          </a:prstGeom>
          <a:noFill/>
        </p:spPr>
        <p:txBody>
          <a:bodyPr wrap="square" anchor="t" lIns="45720" rIns="45720" tIns="27432" bIns="27432">
            <a:spAutoFit/>
          </a:bodyPr>
          <a:lstStyle/>
          <a:p>
            <a:pPr algn="l"/>
            <a:r>
              <a:rPr sz="900" b="0">
                <a:solidFill>
                  <a:srgbClr val="7C89A8"/>
                </a:solidFill>
                <a:latin typeface="Calibri"/>
              </a:rPr>
              <a:t>BolsaTrader  ·  Manual Operacional do Sistema</a:t>
            </a:r>
          </a:p>
        </p:txBody>
      </p:sp>
      <p:sp>
        <p:nvSpPr>
          <p:cNvPr id="22" name="TextBox 21"/>
          <p:cNvSpPr txBox="1"/>
          <p:nvPr/>
        </p:nvSpPr>
        <p:spPr>
          <a:xfrm>
            <a:off x="10725912" y="6473952"/>
            <a:ext cx="914400" cy="274320"/>
          </a:xfrm>
          <a:prstGeom prst="rect">
            <a:avLst/>
          </a:prstGeom>
          <a:noFill/>
        </p:spPr>
        <p:txBody>
          <a:bodyPr wrap="square" anchor="t" lIns="45720" rIns="45720" tIns="27432" bIns="27432">
            <a:spAutoFit/>
          </a:bodyPr>
          <a:lstStyle/>
          <a:p>
            <a:pPr algn="r"/>
            <a:r>
              <a:rPr sz="900" b="0">
                <a:solidFill>
                  <a:srgbClr val="7C89A8"/>
                </a:solidFill>
                <a:latin typeface="Calibri"/>
              </a:rPr>
              <a:t>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9144000" cy="292608"/>
          </a:xfrm>
          <a:prstGeom prst="rect">
            <a:avLst/>
          </a:prstGeom>
          <a:noFill/>
        </p:spPr>
        <p:txBody>
          <a:bodyPr wrap="square" anchor="t" lIns="45720" rIns="45720" tIns="27432" bIns="27432">
            <a:spAutoFit/>
          </a:bodyPr>
          <a:lstStyle/>
          <a:p>
            <a:pPr algn="l"/>
            <a:r>
              <a:rPr sz="1250" b="1" spc="200">
                <a:solidFill>
                  <a:srgbClr val="00D68F"/>
                </a:solidFill>
                <a:latin typeface="Calibri"/>
              </a:rPr>
              <a:t>23.3 · 23.4  NA HORA DE VENDER</a:t>
            </a:r>
          </a:p>
        </p:txBody>
      </p:sp>
      <p:sp>
        <p:nvSpPr>
          <p:cNvPr id="3" name="TextBox 2"/>
          <p:cNvSpPr txBox="1"/>
          <p:nvPr/>
        </p:nvSpPr>
        <p:spPr>
          <a:xfrm>
            <a:off x="548640" y="749808"/>
            <a:ext cx="11091672" cy="640080"/>
          </a:xfrm>
          <a:prstGeom prst="rect">
            <a:avLst/>
          </a:prstGeom>
          <a:noFill/>
        </p:spPr>
        <p:txBody>
          <a:bodyPr wrap="square" anchor="t" lIns="45720" rIns="45720" tIns="27432" bIns="27432">
            <a:spAutoFit/>
          </a:bodyPr>
          <a:lstStyle/>
          <a:p>
            <a:pPr algn="l"/>
            <a:r>
              <a:rPr sz="3000" b="1">
                <a:solidFill>
                  <a:srgbClr val="0D1B3E"/>
                </a:solidFill>
                <a:latin typeface="Calibri"/>
              </a:rPr>
              <a:t>Vender sabendo quanto vai pagar</a:t>
            </a:r>
          </a:p>
        </p:txBody>
      </p:sp>
      <p:sp>
        <p:nvSpPr>
          <p:cNvPr id="4" name="TextBox 3"/>
          <p:cNvSpPr txBox="1"/>
          <p:nvPr/>
        </p:nvSpPr>
        <p:spPr>
          <a:xfrm>
            <a:off x="548640" y="1371600"/>
            <a:ext cx="11091672" cy="502920"/>
          </a:xfrm>
          <a:prstGeom prst="rect">
            <a:avLst/>
          </a:prstGeom>
          <a:noFill/>
        </p:spPr>
        <p:txBody>
          <a:bodyPr wrap="square" anchor="t" lIns="45720" rIns="45720" tIns="27432" bIns="27432">
            <a:spAutoFit/>
          </a:bodyPr>
          <a:lstStyle/>
          <a:p>
            <a:pPr algn="l"/>
            <a:r>
              <a:rPr sz="1150" b="0">
                <a:solidFill>
                  <a:srgbClr val="40496B"/>
                </a:solidFill>
                <a:latin typeface="Calibri"/>
              </a:rPr>
              <a:t>Na tela de venda, a caixa “Imposto de renda desta venda” se atualiza enquanto você digita — nada é gravado até clicar em Salvar venda.</a:t>
            </a:r>
          </a:p>
        </p:txBody>
      </p:sp>
      <p:pic>
        <p:nvPicPr>
          <p:cNvPr id="5" name="Picture 4" descr="04_simulador.jpg"/>
          <p:cNvPicPr>
            <a:picLocks noChangeAspect="1"/>
          </p:cNvPicPr>
          <p:nvPr/>
        </p:nvPicPr>
        <p:blipFill>
          <a:blip r:embed="rId2"/>
          <a:stretch>
            <a:fillRect/>
          </a:stretch>
        </p:blipFill>
        <p:spPr>
          <a:xfrm>
            <a:off x="548640" y="2011680"/>
            <a:ext cx="6675120" cy="1974331"/>
          </a:xfrm>
          <a:prstGeom prst="rect">
            <a:avLst/>
          </a:prstGeom>
        </p:spPr>
      </p:pic>
      <p:sp>
        <p:nvSpPr>
          <p:cNvPr id="6" name="Oval 5"/>
          <p:cNvSpPr/>
          <p:nvPr/>
        </p:nvSpPr>
        <p:spPr>
          <a:xfrm>
            <a:off x="7543800" y="200253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3"/>
          <a:stretch>
            <a:fillRect/>
          </a:stretch>
        </p:blipFill>
        <p:spPr>
          <a:xfrm>
            <a:off x="7639812" y="2098548"/>
            <a:ext cx="192024" cy="192024"/>
          </a:xfrm>
          <a:prstGeom prst="rect">
            <a:avLst/>
          </a:prstGeom>
        </p:spPr>
      </p:pic>
      <p:sp>
        <p:nvSpPr>
          <p:cNvPr id="8" name="TextBox 7"/>
          <p:cNvSpPr txBox="1"/>
          <p:nvPr/>
        </p:nvSpPr>
        <p:spPr>
          <a:xfrm>
            <a:off x="8074152" y="1965960"/>
            <a:ext cx="3566160" cy="274320"/>
          </a:xfrm>
          <a:prstGeom prst="rect">
            <a:avLst/>
          </a:prstGeom>
          <a:noFill/>
        </p:spPr>
        <p:txBody>
          <a:bodyPr wrap="square" anchor="t" lIns="45720" rIns="45720" tIns="27432" bIns="27432">
            <a:spAutoFit/>
          </a:bodyPr>
          <a:lstStyle/>
          <a:p>
            <a:pPr algn="l"/>
            <a:r>
              <a:rPr sz="1250" b="1">
                <a:solidFill>
                  <a:srgbClr val="0D1B3E"/>
                </a:solidFill>
                <a:latin typeface="Calibri"/>
              </a:rPr>
              <a:t>Continua isento</a:t>
            </a:r>
          </a:p>
        </p:txBody>
      </p:sp>
      <p:sp>
        <p:nvSpPr>
          <p:cNvPr id="9" name="TextBox 8"/>
          <p:cNvSpPr txBox="1"/>
          <p:nvPr/>
        </p:nvSpPr>
        <p:spPr>
          <a:xfrm>
            <a:off x="8074152" y="2240279"/>
            <a:ext cx="3566160" cy="502920"/>
          </a:xfrm>
          <a:prstGeom prst="rect">
            <a:avLst/>
          </a:prstGeom>
          <a:noFill/>
        </p:spPr>
        <p:txBody>
          <a:bodyPr wrap="square" anchor="t" lIns="45720" rIns="45720" tIns="27432" bIns="27432">
            <a:spAutoFit/>
          </a:bodyPr>
          <a:lstStyle/>
          <a:p>
            <a:pPr algn="l"/>
            <a:r>
              <a:rPr sz="1000" b="0">
                <a:solidFill>
                  <a:srgbClr val="40496B"/>
                </a:solidFill>
                <a:latin typeface="Calibri"/>
              </a:rPr>
              <a:t>Mostra quanto ainda dá para vender no mês sem imposto.</a:t>
            </a:r>
          </a:p>
        </p:txBody>
      </p:sp>
      <p:sp>
        <p:nvSpPr>
          <p:cNvPr id="10" name="Oval 9"/>
          <p:cNvSpPr/>
          <p:nvPr/>
        </p:nvSpPr>
        <p:spPr>
          <a:xfrm>
            <a:off x="7543800" y="2779776"/>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4"/>
          <a:stretch>
            <a:fillRect/>
          </a:stretch>
        </p:blipFill>
        <p:spPr>
          <a:xfrm>
            <a:off x="7639812" y="2875788"/>
            <a:ext cx="192024" cy="192024"/>
          </a:xfrm>
          <a:prstGeom prst="rect">
            <a:avLst/>
          </a:prstGeom>
        </p:spPr>
      </p:pic>
      <p:sp>
        <p:nvSpPr>
          <p:cNvPr id="12" name="TextBox 11"/>
          <p:cNvSpPr txBox="1"/>
          <p:nvPr/>
        </p:nvSpPr>
        <p:spPr>
          <a:xfrm>
            <a:off x="8074152" y="2743200"/>
            <a:ext cx="3566160" cy="274320"/>
          </a:xfrm>
          <a:prstGeom prst="rect">
            <a:avLst/>
          </a:prstGeom>
          <a:noFill/>
        </p:spPr>
        <p:txBody>
          <a:bodyPr wrap="square" anchor="t" lIns="45720" rIns="45720" tIns="27432" bIns="27432">
            <a:spAutoFit/>
          </a:bodyPr>
          <a:lstStyle/>
          <a:p>
            <a:pPr algn="l"/>
            <a:r>
              <a:rPr sz="1250" b="1">
                <a:solidFill>
                  <a:srgbClr val="0D1B3E"/>
                </a:solidFill>
                <a:latin typeface="Calibri"/>
              </a:rPr>
              <a:t>Perde a isenção</a:t>
            </a:r>
          </a:p>
        </p:txBody>
      </p:sp>
      <p:sp>
        <p:nvSpPr>
          <p:cNvPr id="13" name="TextBox 12"/>
          <p:cNvSpPr txBox="1"/>
          <p:nvPr/>
        </p:nvSpPr>
        <p:spPr>
          <a:xfrm>
            <a:off x="8074152" y="3017520"/>
            <a:ext cx="3566160" cy="502920"/>
          </a:xfrm>
          <a:prstGeom prst="rect">
            <a:avLst/>
          </a:prstGeom>
          <a:noFill/>
        </p:spPr>
        <p:txBody>
          <a:bodyPr wrap="square" anchor="t" lIns="45720" rIns="45720" tIns="27432" bIns="27432">
            <a:spAutoFit/>
          </a:bodyPr>
          <a:lstStyle/>
          <a:p>
            <a:pPr algn="l"/>
            <a:r>
              <a:rPr sz="1000" b="0">
                <a:solidFill>
                  <a:srgbClr val="40496B"/>
                </a:solidFill>
                <a:latin typeface="Calibri"/>
              </a:rPr>
              <a:t>Todo o lucro do mês passa a pagar 15% — inclusive o que já estava isento.</a:t>
            </a:r>
          </a:p>
        </p:txBody>
      </p:sp>
      <p:sp>
        <p:nvSpPr>
          <p:cNvPr id="14" name="Oval 13"/>
          <p:cNvSpPr/>
          <p:nvPr/>
        </p:nvSpPr>
        <p:spPr>
          <a:xfrm>
            <a:off x="7543800" y="355701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png"/>
          <p:cNvPicPr>
            <a:picLocks noChangeAspect="1"/>
          </p:cNvPicPr>
          <p:nvPr/>
        </p:nvPicPr>
        <p:blipFill>
          <a:blip r:embed="rId5"/>
          <a:stretch>
            <a:fillRect/>
          </a:stretch>
        </p:blipFill>
        <p:spPr>
          <a:xfrm>
            <a:off x="7639812" y="3653028"/>
            <a:ext cx="192024" cy="192024"/>
          </a:xfrm>
          <a:prstGeom prst="rect">
            <a:avLst/>
          </a:prstGeom>
        </p:spPr>
      </p:pic>
      <p:sp>
        <p:nvSpPr>
          <p:cNvPr id="16" name="TextBox 15"/>
          <p:cNvSpPr txBox="1"/>
          <p:nvPr/>
        </p:nvSpPr>
        <p:spPr>
          <a:xfrm>
            <a:off x="8074152" y="3520440"/>
            <a:ext cx="3566160" cy="274320"/>
          </a:xfrm>
          <a:prstGeom prst="rect">
            <a:avLst/>
          </a:prstGeom>
          <a:noFill/>
        </p:spPr>
        <p:txBody>
          <a:bodyPr wrap="square" anchor="t" lIns="45720" rIns="45720" tIns="27432" bIns="27432">
            <a:spAutoFit/>
          </a:bodyPr>
          <a:lstStyle/>
          <a:p>
            <a:pPr algn="l"/>
            <a:r>
              <a:rPr sz="1250" b="1">
                <a:solidFill>
                  <a:srgbClr val="0D1B3E"/>
                </a:solidFill>
                <a:latin typeface="Calibri"/>
              </a:rPr>
              <a:t>IR e lucro após IR</a:t>
            </a:r>
          </a:p>
        </p:txBody>
      </p:sp>
      <p:sp>
        <p:nvSpPr>
          <p:cNvPr id="17" name="TextBox 16"/>
          <p:cNvSpPr txBox="1"/>
          <p:nvPr/>
        </p:nvSpPr>
        <p:spPr>
          <a:xfrm>
            <a:off x="8074152" y="3794760"/>
            <a:ext cx="3566160" cy="502920"/>
          </a:xfrm>
          <a:prstGeom prst="rect">
            <a:avLst/>
          </a:prstGeom>
          <a:noFill/>
        </p:spPr>
        <p:txBody>
          <a:bodyPr wrap="square" anchor="t" lIns="45720" rIns="45720" tIns="27432" bIns="27432">
            <a:spAutoFit/>
          </a:bodyPr>
          <a:lstStyle/>
          <a:p>
            <a:pPr algn="l"/>
            <a:r>
              <a:rPr sz="1000" b="0">
                <a:solidFill>
                  <a:srgbClr val="40496B"/>
                </a:solidFill>
                <a:latin typeface="Calibri"/>
              </a:rPr>
              <a:t>Quanto o imposto sobe e quanto sobra do lucro.</a:t>
            </a:r>
          </a:p>
        </p:txBody>
      </p:sp>
      <p:sp>
        <p:nvSpPr>
          <p:cNvPr id="18" name="Rounded Rectangle 17"/>
          <p:cNvSpPr/>
          <p:nvPr/>
        </p:nvSpPr>
        <p:spPr>
          <a:xfrm>
            <a:off x="548640" y="4206240"/>
            <a:ext cx="6675120" cy="132588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42569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6"/>
          <a:stretch>
            <a:fillRect/>
          </a:stretch>
        </p:blipFill>
        <p:spPr>
          <a:xfrm>
            <a:off x="873252" y="4521708"/>
            <a:ext cx="192024" cy="192024"/>
          </a:xfrm>
          <a:prstGeom prst="rect">
            <a:avLst/>
          </a:prstGeom>
        </p:spPr>
      </p:pic>
      <p:sp>
        <p:nvSpPr>
          <p:cNvPr id="21" name="TextBox 20"/>
          <p:cNvSpPr txBox="1"/>
          <p:nvPr/>
        </p:nvSpPr>
        <p:spPr>
          <a:xfrm>
            <a:off x="1280160" y="4425696"/>
            <a:ext cx="5760720" cy="384048"/>
          </a:xfrm>
          <a:prstGeom prst="rect">
            <a:avLst/>
          </a:prstGeom>
          <a:noFill/>
        </p:spPr>
        <p:txBody>
          <a:bodyPr wrap="square" anchor="ctr" lIns="45720" rIns="45720" tIns="27432" bIns="27432">
            <a:spAutoFit/>
          </a:bodyPr>
          <a:lstStyle/>
          <a:p>
            <a:pPr algn="l"/>
            <a:r>
              <a:rPr sz="1350" b="1">
                <a:solidFill>
                  <a:srgbClr val="0D1B3E"/>
                </a:solidFill>
                <a:latin typeface="Calibri"/>
              </a:rPr>
              <a:t>Exemplo da figura</a:t>
            </a:r>
          </a:p>
        </p:txBody>
      </p:sp>
      <p:sp>
        <p:nvSpPr>
          <p:cNvPr id="22" name="TextBox 21"/>
          <p:cNvSpPr txBox="1"/>
          <p:nvPr/>
        </p:nvSpPr>
        <p:spPr>
          <a:xfrm>
            <a:off x="777240" y="4919472"/>
            <a:ext cx="6217920" cy="502919"/>
          </a:xfrm>
          <a:prstGeom prst="rect">
            <a:avLst/>
          </a:prstGeom>
          <a:noFill/>
        </p:spPr>
        <p:txBody>
          <a:bodyPr wrap="square" anchor="t" lIns="45720" rIns="45720" tIns="27432" bIns="27432">
            <a:spAutoFit/>
          </a:bodyPr>
          <a:lstStyle/>
          <a:p>
            <a:pPr algn="l"/>
            <a:r>
              <a:rPr sz="1050" b="0">
                <a:solidFill>
                  <a:srgbClr val="40496B"/>
                </a:solidFill>
                <a:latin typeface="Calibri"/>
              </a:rPr>
              <a:t>Lucro de R$ 400, mas IR de R$ 291 (72,8%): a venda derruba a isenção do mês. Vender só até completar R$ 20 mil e deixar o resto para o mês seguinte evitaria esse imposto.</a:t>
            </a:r>
          </a:p>
        </p:txBody>
      </p:sp>
      <p:sp>
        <p:nvSpPr>
          <p:cNvPr id="23" name="Rounded Rectangle 22"/>
          <p:cNvSpPr/>
          <p:nvPr/>
        </p:nvSpPr>
        <p:spPr>
          <a:xfrm>
            <a:off x="7543800" y="4434840"/>
            <a:ext cx="4096512" cy="109728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0" y="465429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age.png"/>
          <p:cNvPicPr>
            <a:picLocks noChangeAspect="1"/>
          </p:cNvPicPr>
          <p:nvPr/>
        </p:nvPicPr>
        <p:blipFill>
          <a:blip r:embed="rId7"/>
          <a:stretch>
            <a:fillRect/>
          </a:stretch>
        </p:blipFill>
        <p:spPr>
          <a:xfrm>
            <a:off x="7868412" y="4750308"/>
            <a:ext cx="192024" cy="192024"/>
          </a:xfrm>
          <a:prstGeom prst="rect">
            <a:avLst/>
          </a:prstGeom>
        </p:spPr>
      </p:pic>
      <p:sp>
        <p:nvSpPr>
          <p:cNvPr id="26" name="TextBox 25"/>
          <p:cNvSpPr txBox="1"/>
          <p:nvPr/>
        </p:nvSpPr>
        <p:spPr>
          <a:xfrm>
            <a:off x="8275320" y="4654296"/>
            <a:ext cx="3182112" cy="384048"/>
          </a:xfrm>
          <a:prstGeom prst="rect">
            <a:avLst/>
          </a:prstGeom>
          <a:noFill/>
        </p:spPr>
        <p:txBody>
          <a:bodyPr wrap="square" anchor="ctr" lIns="45720" rIns="45720" tIns="27432" bIns="27432">
            <a:spAutoFit/>
          </a:bodyPr>
          <a:lstStyle/>
          <a:p>
            <a:pPr algn="l"/>
            <a:r>
              <a:rPr sz="1350" b="1">
                <a:solidFill>
                  <a:srgbClr val="0D1B3E"/>
                </a:solidFill>
                <a:latin typeface="Calibri"/>
              </a:rPr>
              <a:t>Cadastre as taxas</a:t>
            </a:r>
          </a:p>
        </p:txBody>
      </p:sp>
      <p:sp>
        <p:nvSpPr>
          <p:cNvPr id="27" name="TextBox 26"/>
          <p:cNvSpPr txBox="1"/>
          <p:nvPr/>
        </p:nvSpPr>
        <p:spPr>
          <a:xfrm>
            <a:off x="7772400" y="5148072"/>
            <a:ext cx="3639312" cy="274319"/>
          </a:xfrm>
          <a:prstGeom prst="rect">
            <a:avLst/>
          </a:prstGeom>
          <a:noFill/>
        </p:spPr>
        <p:txBody>
          <a:bodyPr wrap="square" anchor="t" lIns="45720" rIns="45720" tIns="27432" bIns="27432">
            <a:spAutoFit/>
          </a:bodyPr>
          <a:lstStyle/>
          <a:p>
            <a:pPr algn="l"/>
            <a:r>
              <a:rPr sz="1050" b="0">
                <a:solidFill>
                  <a:srgbClr val="40496B"/>
                </a:solidFill>
                <a:latin typeface="Calibri"/>
              </a:rPr>
              <a:t>Taxas da nota de corretagem diminuem o lucro e o imposto.</a:t>
            </a:r>
          </a:p>
        </p:txBody>
      </p:sp>
      <p:sp>
        <p:nvSpPr>
          <p:cNvPr id="28" name="Rounded Rectangle 27"/>
          <p:cNvSpPr/>
          <p:nvPr/>
        </p:nvSpPr>
        <p:spPr>
          <a:xfrm>
            <a:off x="548640" y="5715000"/>
            <a:ext cx="11091672" cy="566928"/>
          </a:xfrm>
          <a:prstGeom prst="roundRect">
            <a:avLst>
              <a:gd name="adj" fmla="val 6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731520" y="5833872"/>
            <a:ext cx="329184" cy="329184"/>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6"/>
          <a:stretch>
            <a:fillRect/>
          </a:stretch>
        </p:blipFill>
        <p:spPr>
          <a:xfrm>
            <a:off x="813816" y="5916168"/>
            <a:ext cx="164592" cy="164592"/>
          </a:xfrm>
          <a:prstGeom prst="rect">
            <a:avLst/>
          </a:prstGeom>
        </p:spPr>
      </p:pic>
      <p:sp>
        <p:nvSpPr>
          <p:cNvPr id="31" name="TextBox 30"/>
          <p:cNvSpPr txBox="1"/>
          <p:nvPr/>
        </p:nvSpPr>
        <p:spPr>
          <a:xfrm>
            <a:off x="1225296" y="5715000"/>
            <a:ext cx="10232136" cy="566928"/>
          </a:xfrm>
          <a:prstGeom prst="rect">
            <a:avLst/>
          </a:prstGeom>
          <a:noFill/>
        </p:spPr>
        <p:txBody>
          <a:bodyPr wrap="square" anchor="ctr" lIns="45720" rIns="45720" tIns="27432" bIns="27432">
            <a:spAutoFit/>
          </a:bodyPr>
          <a:lstStyle/>
          <a:p>
            <a:pPr algn="l"/>
            <a:r>
              <a:rPr sz="1050" b="0">
                <a:solidFill>
                  <a:srgbClr val="0D1B3E"/>
                </a:solidFill>
                <a:latin typeface="Calibri"/>
              </a:rPr>
              <a:t>Depois de salvar, aviso na tela (e no Telegram) quando as vendas de ações do mês passam de 80% do limite e quando o limite é ultrapassado.</a:t>
            </a:r>
          </a:p>
        </p:txBody>
      </p:sp>
      <p:sp>
        <p:nvSpPr>
          <p:cNvPr id="32" name="TextBox 31"/>
          <p:cNvSpPr txBox="1"/>
          <p:nvPr/>
        </p:nvSpPr>
        <p:spPr>
          <a:xfrm>
            <a:off x="548640" y="6473952"/>
            <a:ext cx="7315200" cy="274320"/>
          </a:xfrm>
          <a:prstGeom prst="rect">
            <a:avLst/>
          </a:prstGeom>
          <a:noFill/>
        </p:spPr>
        <p:txBody>
          <a:bodyPr wrap="square" anchor="t" lIns="45720" rIns="45720" tIns="27432" bIns="27432">
            <a:spAutoFit/>
          </a:bodyPr>
          <a:lstStyle/>
          <a:p>
            <a:pPr algn="l"/>
            <a:r>
              <a:rPr sz="900" b="0">
                <a:solidFill>
                  <a:srgbClr val="7C89A8"/>
                </a:solidFill>
                <a:latin typeface="Calibri"/>
              </a:rPr>
              <a:t>BolsaTrader  ·  Manual Operacional do Sistema</a:t>
            </a:r>
          </a:p>
        </p:txBody>
      </p:sp>
      <p:sp>
        <p:nvSpPr>
          <p:cNvPr id="33" name="TextBox 32"/>
          <p:cNvSpPr txBox="1"/>
          <p:nvPr/>
        </p:nvSpPr>
        <p:spPr>
          <a:xfrm>
            <a:off x="10725912" y="6473952"/>
            <a:ext cx="914400" cy="274320"/>
          </a:xfrm>
          <a:prstGeom prst="rect">
            <a:avLst/>
          </a:prstGeom>
          <a:noFill/>
        </p:spPr>
        <p:txBody>
          <a:bodyPr wrap="square" anchor="t" lIns="45720" rIns="45720" tIns="27432" bIns="27432">
            <a:spAutoFit/>
          </a:bodyPr>
          <a:lstStyle/>
          <a:p>
            <a:pPr algn="r"/>
            <a:r>
              <a:rPr sz="900" b="0">
                <a:solidFill>
                  <a:srgbClr val="7C89A8"/>
                </a:solidFill>
                <a:latin typeface="Calibri"/>
              </a:rPr>
              <a:t>32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9144000" cy="292608"/>
          </a:xfrm>
          <a:prstGeom prst="rect">
            <a:avLst/>
          </a:prstGeom>
          <a:noFill/>
        </p:spPr>
        <p:txBody>
          <a:bodyPr wrap="square" anchor="t" lIns="45720" rIns="45720" tIns="27432" bIns="27432">
            <a:spAutoFit/>
          </a:bodyPr>
          <a:lstStyle/>
          <a:p>
            <a:pPr algn="l"/>
            <a:r>
              <a:rPr sz="1250" b="1" spc="200">
                <a:solidFill>
                  <a:srgbClr val="00D68F"/>
                </a:solidFill>
                <a:latin typeface="Calibri"/>
              </a:rPr>
              <a:t>23.6 · 23.7  ACOMPANHAMENTO</a:t>
            </a:r>
          </a:p>
        </p:txBody>
      </p:sp>
      <p:sp>
        <p:nvSpPr>
          <p:cNvPr id="3" name="TextBox 2"/>
          <p:cNvSpPr txBox="1"/>
          <p:nvPr/>
        </p:nvSpPr>
        <p:spPr>
          <a:xfrm>
            <a:off x="548640" y="749808"/>
            <a:ext cx="11091672" cy="640080"/>
          </a:xfrm>
          <a:prstGeom prst="rect">
            <a:avLst/>
          </a:prstGeom>
          <a:noFill/>
        </p:spPr>
        <p:txBody>
          <a:bodyPr wrap="square" anchor="t" lIns="45720" rIns="45720" tIns="27432" bIns="27432">
            <a:spAutoFit/>
          </a:bodyPr>
          <a:lstStyle/>
          <a:p>
            <a:pPr algn="l"/>
            <a:r>
              <a:rPr sz="3000" b="1">
                <a:solidFill>
                  <a:srgbClr val="0D1B3E"/>
                </a:solidFill>
                <a:latin typeface="Calibri"/>
              </a:rPr>
              <a:t>Painel do Imposto de Renda</a:t>
            </a:r>
          </a:p>
        </p:txBody>
      </p:sp>
      <p:pic>
        <p:nvPicPr>
          <p:cNvPr id="4" name="Picture 3" descr="01_painel_cards.jpg"/>
          <p:cNvPicPr>
            <a:picLocks noChangeAspect="1"/>
          </p:cNvPicPr>
          <p:nvPr/>
        </p:nvPicPr>
        <p:blipFill>
          <a:blip r:embed="rId2"/>
          <a:stretch>
            <a:fillRect/>
          </a:stretch>
        </p:blipFill>
        <p:spPr>
          <a:xfrm>
            <a:off x="548640" y="1481328"/>
            <a:ext cx="11091672" cy="2899402"/>
          </a:xfrm>
          <a:prstGeom prst="rect">
            <a:avLst/>
          </a:prstGeom>
        </p:spPr>
      </p:pic>
      <p:sp>
        <p:nvSpPr>
          <p:cNvPr id="5" name="Rounded Rectangle 4"/>
          <p:cNvSpPr/>
          <p:nvPr/>
        </p:nvSpPr>
        <p:spPr>
          <a:xfrm>
            <a:off x="548640" y="4617720"/>
            <a:ext cx="3566160" cy="16002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483717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3"/>
          <a:stretch>
            <a:fillRect/>
          </a:stretch>
        </p:blipFill>
        <p:spPr>
          <a:xfrm>
            <a:off x="873252" y="4933188"/>
            <a:ext cx="192024" cy="192024"/>
          </a:xfrm>
          <a:prstGeom prst="rect">
            <a:avLst/>
          </a:prstGeom>
        </p:spPr>
      </p:pic>
      <p:sp>
        <p:nvSpPr>
          <p:cNvPr id="8" name="TextBox 7"/>
          <p:cNvSpPr txBox="1"/>
          <p:nvPr/>
        </p:nvSpPr>
        <p:spPr>
          <a:xfrm>
            <a:off x="1280160" y="483717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Apuração mês a mês</a:t>
            </a:r>
          </a:p>
        </p:txBody>
      </p:sp>
      <p:sp>
        <p:nvSpPr>
          <p:cNvPr id="9" name="TextBox 8"/>
          <p:cNvSpPr txBox="1"/>
          <p:nvPr/>
        </p:nvSpPr>
        <p:spPr>
          <a:xfrm>
            <a:off x="777240" y="5330952"/>
            <a:ext cx="3108960" cy="777240"/>
          </a:xfrm>
          <a:prstGeom prst="rect">
            <a:avLst/>
          </a:prstGeom>
          <a:noFill/>
        </p:spPr>
        <p:txBody>
          <a:bodyPr wrap="square" anchor="t" lIns="45720" rIns="45720" tIns="27432" bIns="27432">
            <a:spAutoFit/>
          </a:bodyPr>
          <a:lstStyle/>
          <a:p>
            <a:pPr algn="l"/>
            <a:r>
              <a:rPr sz="1050" b="0">
                <a:solidFill>
                  <a:srgbClr val="40496B"/>
                </a:solidFill>
                <a:latin typeface="Calibri"/>
              </a:rPr>
              <a:t>Resultado de cada mês por grupo (comum, day trade, FII), parte isenta, prejuízo compensado e IR.</a:t>
            </a:r>
          </a:p>
        </p:txBody>
      </p:sp>
      <p:sp>
        <p:nvSpPr>
          <p:cNvPr id="10" name="Rounded Rectangle 9"/>
          <p:cNvSpPr/>
          <p:nvPr/>
        </p:nvSpPr>
        <p:spPr>
          <a:xfrm>
            <a:off x="4311396" y="4617720"/>
            <a:ext cx="3566160" cy="16002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39996" y="483717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4"/>
          <a:stretch>
            <a:fillRect/>
          </a:stretch>
        </p:blipFill>
        <p:spPr>
          <a:xfrm>
            <a:off x="4636008" y="4933188"/>
            <a:ext cx="192024" cy="192024"/>
          </a:xfrm>
          <a:prstGeom prst="rect">
            <a:avLst/>
          </a:prstGeom>
        </p:spPr>
      </p:pic>
      <p:sp>
        <p:nvSpPr>
          <p:cNvPr id="13" name="TextBox 12"/>
          <p:cNvSpPr txBox="1"/>
          <p:nvPr/>
        </p:nvSpPr>
        <p:spPr>
          <a:xfrm>
            <a:off x="5042916" y="483717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Lucro após IR</a:t>
            </a:r>
          </a:p>
        </p:txBody>
      </p:sp>
      <p:sp>
        <p:nvSpPr>
          <p:cNvPr id="14" name="TextBox 13"/>
          <p:cNvSpPr txBox="1"/>
          <p:nvPr/>
        </p:nvSpPr>
        <p:spPr>
          <a:xfrm>
            <a:off x="4539996" y="5330952"/>
            <a:ext cx="3108960" cy="777240"/>
          </a:xfrm>
          <a:prstGeom prst="rect">
            <a:avLst/>
          </a:prstGeom>
          <a:noFill/>
        </p:spPr>
        <p:txBody>
          <a:bodyPr wrap="square" anchor="t" lIns="45720" rIns="45720" tIns="27432" bIns="27432">
            <a:spAutoFit/>
          </a:bodyPr>
          <a:lstStyle/>
          <a:p>
            <a:pPr algn="l"/>
            <a:r>
              <a:rPr sz="1050" b="0">
                <a:solidFill>
                  <a:srgbClr val="40496B"/>
                </a:solidFill>
                <a:latin typeface="Calibri"/>
              </a:rPr>
              <a:t>Em Minhas Operações › Vendidas: IR estimado e lucro após IR de cada lote vendido.</a:t>
            </a:r>
          </a:p>
        </p:txBody>
      </p:sp>
      <p:sp>
        <p:nvSpPr>
          <p:cNvPr id="15" name="Rounded Rectangle 14"/>
          <p:cNvSpPr/>
          <p:nvPr/>
        </p:nvSpPr>
        <p:spPr>
          <a:xfrm>
            <a:off x="8074152" y="4617720"/>
            <a:ext cx="3566160" cy="16002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02752" y="483717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5"/>
          <a:stretch>
            <a:fillRect/>
          </a:stretch>
        </p:blipFill>
        <p:spPr>
          <a:xfrm>
            <a:off x="8398764" y="4933188"/>
            <a:ext cx="192024" cy="192024"/>
          </a:xfrm>
          <a:prstGeom prst="rect">
            <a:avLst/>
          </a:prstGeom>
        </p:spPr>
      </p:pic>
      <p:sp>
        <p:nvSpPr>
          <p:cNvPr id="18" name="TextBox 17"/>
          <p:cNvSpPr txBox="1"/>
          <p:nvPr/>
        </p:nvSpPr>
        <p:spPr>
          <a:xfrm>
            <a:off x="8805672" y="483717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Prejuízos anteriores</a:t>
            </a:r>
          </a:p>
        </p:txBody>
      </p:sp>
      <p:sp>
        <p:nvSpPr>
          <p:cNvPr id="19" name="TextBox 18"/>
          <p:cNvSpPr txBox="1"/>
          <p:nvPr/>
        </p:nvSpPr>
        <p:spPr>
          <a:xfrm>
            <a:off x="8302752" y="5330952"/>
            <a:ext cx="3108960" cy="777240"/>
          </a:xfrm>
          <a:prstGeom prst="rect">
            <a:avLst/>
          </a:prstGeom>
          <a:noFill/>
        </p:spPr>
        <p:txBody>
          <a:bodyPr wrap="square" anchor="t" lIns="45720" rIns="45720" tIns="27432" bIns="27432">
            <a:spAutoFit/>
          </a:bodyPr>
          <a:lstStyle/>
          <a:p>
            <a:pPr algn="l"/>
            <a:r>
              <a:rPr sz="1050" b="0">
                <a:solidFill>
                  <a:srgbClr val="40496B"/>
                </a:solidFill>
                <a:latin typeface="Calibri"/>
              </a:rPr>
              <a:t>Informe uma vez o prejuízo que já tinha antes do sistema (está na última declaração).</a:t>
            </a:r>
          </a:p>
        </p:txBody>
      </p:sp>
      <p:sp>
        <p:nvSpPr>
          <p:cNvPr id="20" name="TextBox 19"/>
          <p:cNvSpPr txBox="1"/>
          <p:nvPr/>
        </p:nvSpPr>
        <p:spPr>
          <a:xfrm>
            <a:off x="548640" y="6473952"/>
            <a:ext cx="7315200" cy="274320"/>
          </a:xfrm>
          <a:prstGeom prst="rect">
            <a:avLst/>
          </a:prstGeom>
          <a:noFill/>
        </p:spPr>
        <p:txBody>
          <a:bodyPr wrap="square" anchor="t" lIns="45720" rIns="45720" tIns="27432" bIns="27432">
            <a:spAutoFit/>
          </a:bodyPr>
          <a:lstStyle/>
          <a:p>
            <a:pPr algn="l"/>
            <a:r>
              <a:rPr sz="900" b="0">
                <a:solidFill>
                  <a:srgbClr val="7C89A8"/>
                </a:solidFill>
                <a:latin typeface="Calibri"/>
              </a:rPr>
              <a:t>BolsaTrader  ·  Manual Operacional do Sistema</a:t>
            </a:r>
          </a:p>
        </p:txBody>
      </p:sp>
      <p:sp>
        <p:nvSpPr>
          <p:cNvPr id="21" name="TextBox 20"/>
          <p:cNvSpPr txBox="1"/>
          <p:nvPr/>
        </p:nvSpPr>
        <p:spPr>
          <a:xfrm>
            <a:off x="10725912" y="6473952"/>
            <a:ext cx="914400" cy="274320"/>
          </a:xfrm>
          <a:prstGeom prst="rect">
            <a:avLst/>
          </a:prstGeom>
          <a:noFill/>
        </p:spPr>
        <p:txBody>
          <a:bodyPr wrap="square" anchor="t" lIns="45720" rIns="45720" tIns="27432" bIns="27432">
            <a:spAutoFit/>
          </a:bodyPr>
          <a:lstStyle/>
          <a:p>
            <a:pPr algn="r"/>
            <a:r>
              <a:rPr sz="900" b="0">
                <a:solidFill>
                  <a:srgbClr val="7C89A8"/>
                </a:solidFill>
                <a:latin typeface="Calibri"/>
              </a:rPr>
              <a:t>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9144000" cy="292608"/>
          </a:xfrm>
          <a:prstGeom prst="rect">
            <a:avLst/>
          </a:prstGeom>
          <a:noFill/>
        </p:spPr>
        <p:txBody>
          <a:bodyPr wrap="square" anchor="t" lIns="45720" rIns="45720" tIns="27432" bIns="27432">
            <a:spAutoFit/>
          </a:bodyPr>
          <a:lstStyle/>
          <a:p>
            <a:pPr algn="l"/>
            <a:r>
              <a:rPr sz="1250" b="1" spc="200">
                <a:solidFill>
                  <a:srgbClr val="00D68F"/>
                </a:solidFill>
                <a:latin typeface="Calibri"/>
              </a:rPr>
              <a:t>23.9  DARF</a:t>
            </a:r>
          </a:p>
        </p:txBody>
      </p:sp>
      <p:sp>
        <p:nvSpPr>
          <p:cNvPr id="3" name="TextBox 2"/>
          <p:cNvSpPr txBox="1"/>
          <p:nvPr/>
        </p:nvSpPr>
        <p:spPr>
          <a:xfrm>
            <a:off x="548640" y="749808"/>
            <a:ext cx="11091672" cy="640080"/>
          </a:xfrm>
          <a:prstGeom prst="rect">
            <a:avLst/>
          </a:prstGeom>
          <a:noFill/>
        </p:spPr>
        <p:txBody>
          <a:bodyPr wrap="square" anchor="t" lIns="45720" rIns="45720" tIns="27432" bIns="27432">
            <a:spAutoFit/>
          </a:bodyPr>
          <a:lstStyle/>
          <a:p>
            <a:pPr algn="l"/>
            <a:r>
              <a:rPr sz="3000" b="1">
                <a:solidFill>
                  <a:srgbClr val="0D1B3E"/>
                </a:solidFill>
                <a:latin typeface="Calibri"/>
              </a:rPr>
              <a:t>DARF: como e quando pagar</a:t>
            </a:r>
          </a:p>
        </p:txBody>
      </p:sp>
      <p:sp>
        <p:nvSpPr>
          <p:cNvPr id="4" name="TextBox 3"/>
          <p:cNvSpPr txBox="1"/>
          <p:nvPr/>
        </p:nvSpPr>
        <p:spPr>
          <a:xfrm>
            <a:off x="548640" y="1371600"/>
            <a:ext cx="11091672" cy="502920"/>
          </a:xfrm>
          <a:prstGeom prst="rect">
            <a:avLst/>
          </a:prstGeom>
          <a:noFill/>
        </p:spPr>
        <p:txBody>
          <a:bodyPr wrap="square" anchor="t" lIns="45720" rIns="45720" tIns="27432" bIns="27432">
            <a:spAutoFit/>
          </a:bodyPr>
          <a:lstStyle/>
          <a:p>
            <a:pPr algn="l"/>
            <a:r>
              <a:rPr sz="1150" b="0">
                <a:solidFill>
                  <a:srgbClr val="40496B"/>
                </a:solidFill>
                <a:latin typeface="Calibri"/>
              </a:rPr>
              <a:t>Mês com imposto de R$ 10,00 ou mais gera uma guia na tela DARFs. Prazo: último dia útil do mês seguinte ao das vendas.</a:t>
            </a:r>
          </a:p>
        </p:txBody>
      </p:sp>
      <p:sp>
        <p:nvSpPr>
          <p:cNvPr id="5" name="Rounded Rectangle 4"/>
          <p:cNvSpPr/>
          <p:nvPr/>
        </p:nvSpPr>
        <p:spPr>
          <a:xfrm>
            <a:off x="548640" y="2011680"/>
            <a:ext cx="2093976" cy="18288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49808" y="2212848"/>
            <a:ext cx="457200" cy="457200"/>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2212848"/>
            <a:ext cx="457200" cy="457200"/>
          </a:xfrm>
          <a:prstGeom prst="rect">
            <a:avLst/>
          </a:prstGeom>
          <a:noFill/>
        </p:spPr>
        <p:txBody>
          <a:bodyPr wrap="square" anchor="ctr" lIns="45720" rIns="45720" tIns="27432" bIns="27432">
            <a:spAutoFit/>
          </a:bodyPr>
          <a:lstStyle/>
          <a:p>
            <a:pPr algn="ctr"/>
            <a:r>
              <a:rPr sz="1500" b="1">
                <a:solidFill>
                  <a:srgbClr val="FFFFFF"/>
                </a:solidFill>
                <a:latin typeface="Calibri"/>
              </a:rPr>
              <a:t>1</a:t>
            </a:r>
          </a:p>
        </p:txBody>
      </p:sp>
      <p:sp>
        <p:nvSpPr>
          <p:cNvPr id="8" name="TextBox 7"/>
          <p:cNvSpPr txBox="1"/>
          <p:nvPr/>
        </p:nvSpPr>
        <p:spPr>
          <a:xfrm>
            <a:off x="731520" y="2761488"/>
            <a:ext cx="1737360" cy="320040"/>
          </a:xfrm>
          <a:prstGeom prst="rect">
            <a:avLst/>
          </a:prstGeom>
          <a:noFill/>
        </p:spPr>
        <p:txBody>
          <a:bodyPr wrap="square" anchor="t" lIns="45720" rIns="45720" tIns="27432" bIns="27432">
            <a:spAutoFit/>
          </a:bodyPr>
          <a:lstStyle/>
          <a:p>
            <a:pPr algn="l"/>
            <a:r>
              <a:rPr sz="1250" b="1">
                <a:solidFill>
                  <a:srgbClr val="0D1B3E"/>
                </a:solidFill>
                <a:latin typeface="Calibri"/>
              </a:rPr>
              <a:t>Abra a guia</a:t>
            </a:r>
          </a:p>
        </p:txBody>
      </p:sp>
      <p:sp>
        <p:nvSpPr>
          <p:cNvPr id="9" name="TextBox 8"/>
          <p:cNvSpPr txBox="1"/>
          <p:nvPr/>
        </p:nvSpPr>
        <p:spPr>
          <a:xfrm>
            <a:off x="731520" y="3081528"/>
            <a:ext cx="1737360" cy="713232"/>
          </a:xfrm>
          <a:prstGeom prst="rect">
            <a:avLst/>
          </a:prstGeom>
          <a:noFill/>
        </p:spPr>
        <p:txBody>
          <a:bodyPr wrap="square" anchor="t" lIns="45720" rIns="45720" tIns="27432" bIns="27432">
            <a:spAutoFit/>
          </a:bodyPr>
          <a:lstStyle/>
          <a:p>
            <a:pPr algn="l"/>
            <a:r>
              <a:rPr sz="1000" b="0">
                <a:solidFill>
                  <a:srgbClr val="40496B"/>
                </a:solidFill>
                <a:latin typeface="Calibri"/>
              </a:rPr>
              <a:t>Em DARFs, clique em 💰 na guia do mês.</a:t>
            </a:r>
          </a:p>
        </p:txBody>
      </p:sp>
      <p:sp>
        <p:nvSpPr>
          <p:cNvPr id="10" name="Rounded Rectangle 9"/>
          <p:cNvSpPr/>
          <p:nvPr/>
        </p:nvSpPr>
        <p:spPr>
          <a:xfrm>
            <a:off x="2798064" y="2011680"/>
            <a:ext cx="2093976" cy="18288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2999232" y="2212848"/>
            <a:ext cx="457200" cy="457200"/>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99232" y="2212848"/>
            <a:ext cx="457200" cy="457200"/>
          </a:xfrm>
          <a:prstGeom prst="rect">
            <a:avLst/>
          </a:prstGeom>
          <a:noFill/>
        </p:spPr>
        <p:txBody>
          <a:bodyPr wrap="square" anchor="ctr" lIns="45720" rIns="45720" tIns="27432" bIns="27432">
            <a:spAutoFit/>
          </a:bodyPr>
          <a:lstStyle/>
          <a:p>
            <a:pPr algn="ctr"/>
            <a:r>
              <a:rPr sz="1500" b="1">
                <a:solidFill>
                  <a:srgbClr val="FFFFFF"/>
                </a:solidFill>
                <a:latin typeface="Calibri"/>
              </a:rPr>
              <a:t>2</a:t>
            </a:r>
          </a:p>
        </p:txBody>
      </p:sp>
      <p:sp>
        <p:nvSpPr>
          <p:cNvPr id="13" name="TextBox 12"/>
          <p:cNvSpPr txBox="1"/>
          <p:nvPr/>
        </p:nvSpPr>
        <p:spPr>
          <a:xfrm>
            <a:off x="2980944" y="2761488"/>
            <a:ext cx="1737360" cy="320040"/>
          </a:xfrm>
          <a:prstGeom prst="rect">
            <a:avLst/>
          </a:prstGeom>
          <a:noFill/>
        </p:spPr>
        <p:txBody>
          <a:bodyPr wrap="square" anchor="t" lIns="45720" rIns="45720" tIns="27432" bIns="27432">
            <a:spAutoFit/>
          </a:bodyPr>
          <a:lstStyle/>
          <a:p>
            <a:pPr algn="l"/>
            <a:r>
              <a:rPr sz="1250" b="1">
                <a:solidFill>
                  <a:srgbClr val="0D1B3E"/>
                </a:solidFill>
                <a:latin typeface="Calibri"/>
              </a:rPr>
              <a:t>Abra o Sicalc</a:t>
            </a:r>
          </a:p>
        </p:txBody>
      </p:sp>
      <p:sp>
        <p:nvSpPr>
          <p:cNvPr id="14" name="TextBox 13"/>
          <p:cNvSpPr txBox="1"/>
          <p:nvPr/>
        </p:nvSpPr>
        <p:spPr>
          <a:xfrm>
            <a:off x="2980944" y="3081528"/>
            <a:ext cx="1737360" cy="713232"/>
          </a:xfrm>
          <a:prstGeom prst="rect">
            <a:avLst/>
          </a:prstGeom>
          <a:noFill/>
        </p:spPr>
        <p:txBody>
          <a:bodyPr wrap="square" anchor="t" lIns="45720" rIns="45720" tIns="27432" bIns="27432">
            <a:spAutoFit/>
          </a:bodyPr>
          <a:lstStyle/>
          <a:p>
            <a:pPr algn="l"/>
            <a:r>
              <a:rPr sz="1000" b="0">
                <a:solidFill>
                  <a:srgbClr val="40496B"/>
                </a:solidFill>
                <a:latin typeface="Calibri"/>
              </a:rPr>
              <a:t>Botão Abrir o Sicalc, no site da Receita.</a:t>
            </a:r>
          </a:p>
        </p:txBody>
      </p:sp>
      <p:sp>
        <p:nvSpPr>
          <p:cNvPr id="15" name="Rounded Rectangle 14"/>
          <p:cNvSpPr/>
          <p:nvPr/>
        </p:nvSpPr>
        <p:spPr>
          <a:xfrm>
            <a:off x="5047488" y="2011680"/>
            <a:ext cx="2093976" cy="18288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248655" y="2212848"/>
            <a:ext cx="457200" cy="457200"/>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48655" y="2212848"/>
            <a:ext cx="457200" cy="457200"/>
          </a:xfrm>
          <a:prstGeom prst="rect">
            <a:avLst/>
          </a:prstGeom>
          <a:noFill/>
        </p:spPr>
        <p:txBody>
          <a:bodyPr wrap="square" anchor="ctr" lIns="45720" rIns="45720" tIns="27432" bIns="27432">
            <a:spAutoFit/>
          </a:bodyPr>
          <a:lstStyle/>
          <a:p>
            <a:pPr algn="ctr"/>
            <a:r>
              <a:rPr sz="1500" b="1">
                <a:solidFill>
                  <a:srgbClr val="FFFFFF"/>
                </a:solidFill>
                <a:latin typeface="Calibri"/>
              </a:rPr>
              <a:t>3</a:t>
            </a:r>
          </a:p>
        </p:txBody>
      </p:sp>
      <p:sp>
        <p:nvSpPr>
          <p:cNvPr id="18" name="TextBox 17"/>
          <p:cNvSpPr txBox="1"/>
          <p:nvPr/>
        </p:nvSpPr>
        <p:spPr>
          <a:xfrm>
            <a:off x="5230368" y="2761488"/>
            <a:ext cx="1737360" cy="320040"/>
          </a:xfrm>
          <a:prstGeom prst="rect">
            <a:avLst/>
          </a:prstGeom>
          <a:noFill/>
        </p:spPr>
        <p:txBody>
          <a:bodyPr wrap="square" anchor="t" lIns="45720" rIns="45720" tIns="27432" bIns="27432">
            <a:spAutoFit/>
          </a:bodyPr>
          <a:lstStyle/>
          <a:p>
            <a:pPr algn="l"/>
            <a:r>
              <a:rPr sz="1250" b="1">
                <a:solidFill>
                  <a:srgbClr val="0D1B3E"/>
                </a:solidFill>
                <a:latin typeface="Calibri"/>
              </a:rPr>
              <a:t>Preencha</a:t>
            </a:r>
          </a:p>
        </p:txBody>
      </p:sp>
      <p:sp>
        <p:nvSpPr>
          <p:cNvPr id="19" name="TextBox 18"/>
          <p:cNvSpPr txBox="1"/>
          <p:nvPr/>
        </p:nvSpPr>
        <p:spPr>
          <a:xfrm>
            <a:off x="5230368" y="3081528"/>
            <a:ext cx="1737360" cy="713232"/>
          </a:xfrm>
          <a:prstGeom prst="rect">
            <a:avLst/>
          </a:prstGeom>
          <a:noFill/>
        </p:spPr>
        <p:txBody>
          <a:bodyPr wrap="square" anchor="t" lIns="45720" rIns="45720" tIns="27432" bIns="27432">
            <a:spAutoFit/>
          </a:bodyPr>
          <a:lstStyle/>
          <a:p>
            <a:pPr algn="l"/>
            <a:r>
              <a:rPr sz="1000" b="0">
                <a:solidFill>
                  <a:srgbClr val="40496B"/>
                </a:solidFill>
                <a:latin typeface="Calibri"/>
              </a:rPr>
              <a:t>Código 6015, mês das vendas, CPF e valor principal.</a:t>
            </a:r>
          </a:p>
        </p:txBody>
      </p:sp>
      <p:sp>
        <p:nvSpPr>
          <p:cNvPr id="20" name="Rounded Rectangle 19"/>
          <p:cNvSpPr/>
          <p:nvPr/>
        </p:nvSpPr>
        <p:spPr>
          <a:xfrm>
            <a:off x="7296912" y="2011680"/>
            <a:ext cx="2093976" cy="18288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498079" y="2212848"/>
            <a:ext cx="457200" cy="457200"/>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79" y="2212848"/>
            <a:ext cx="457200" cy="457200"/>
          </a:xfrm>
          <a:prstGeom prst="rect">
            <a:avLst/>
          </a:prstGeom>
          <a:noFill/>
        </p:spPr>
        <p:txBody>
          <a:bodyPr wrap="square" anchor="ctr" lIns="45720" rIns="45720" tIns="27432" bIns="27432">
            <a:spAutoFit/>
          </a:bodyPr>
          <a:lstStyle/>
          <a:p>
            <a:pPr algn="ctr"/>
            <a:r>
              <a:rPr sz="1500" b="1">
                <a:solidFill>
                  <a:srgbClr val="FFFFFF"/>
                </a:solidFill>
                <a:latin typeface="Calibri"/>
              </a:rPr>
              <a:t>4</a:t>
            </a:r>
          </a:p>
        </p:txBody>
      </p:sp>
      <p:sp>
        <p:nvSpPr>
          <p:cNvPr id="23" name="TextBox 22"/>
          <p:cNvSpPr txBox="1"/>
          <p:nvPr/>
        </p:nvSpPr>
        <p:spPr>
          <a:xfrm>
            <a:off x="7479792" y="2761488"/>
            <a:ext cx="1737360" cy="320040"/>
          </a:xfrm>
          <a:prstGeom prst="rect">
            <a:avLst/>
          </a:prstGeom>
          <a:noFill/>
        </p:spPr>
        <p:txBody>
          <a:bodyPr wrap="square" anchor="t" lIns="45720" rIns="45720" tIns="27432" bIns="27432">
            <a:spAutoFit/>
          </a:bodyPr>
          <a:lstStyle/>
          <a:p>
            <a:pPr algn="l"/>
            <a:r>
              <a:rPr sz="1250" b="1">
                <a:solidFill>
                  <a:srgbClr val="0D1B3E"/>
                </a:solidFill>
                <a:latin typeface="Calibri"/>
              </a:rPr>
              <a:t>Pague</a:t>
            </a:r>
          </a:p>
        </p:txBody>
      </p:sp>
      <p:sp>
        <p:nvSpPr>
          <p:cNvPr id="24" name="TextBox 23"/>
          <p:cNvSpPr txBox="1"/>
          <p:nvPr/>
        </p:nvSpPr>
        <p:spPr>
          <a:xfrm>
            <a:off x="7479792" y="3081528"/>
            <a:ext cx="1737360" cy="713232"/>
          </a:xfrm>
          <a:prstGeom prst="rect">
            <a:avLst/>
          </a:prstGeom>
          <a:noFill/>
        </p:spPr>
        <p:txBody>
          <a:bodyPr wrap="square" anchor="t" lIns="45720" rIns="45720" tIns="27432" bIns="27432">
            <a:spAutoFit/>
          </a:bodyPr>
          <a:lstStyle/>
          <a:p>
            <a:pPr algn="l"/>
            <a:r>
              <a:rPr sz="1000" b="0">
                <a:solidFill>
                  <a:srgbClr val="40496B"/>
                </a:solidFill>
                <a:latin typeface="Calibri"/>
              </a:rPr>
              <a:t>No aplicativo do banco, pelo código de barras.</a:t>
            </a:r>
          </a:p>
        </p:txBody>
      </p:sp>
      <p:sp>
        <p:nvSpPr>
          <p:cNvPr id="25" name="Rounded Rectangle 24"/>
          <p:cNvSpPr/>
          <p:nvPr/>
        </p:nvSpPr>
        <p:spPr>
          <a:xfrm>
            <a:off x="9546336" y="2011680"/>
            <a:ext cx="2093976" cy="182880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747504" y="2212848"/>
            <a:ext cx="457200" cy="457200"/>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47504" y="2212848"/>
            <a:ext cx="457200" cy="457200"/>
          </a:xfrm>
          <a:prstGeom prst="rect">
            <a:avLst/>
          </a:prstGeom>
          <a:noFill/>
        </p:spPr>
        <p:txBody>
          <a:bodyPr wrap="square" anchor="ctr" lIns="45720" rIns="45720" tIns="27432" bIns="27432">
            <a:spAutoFit/>
          </a:bodyPr>
          <a:lstStyle/>
          <a:p>
            <a:pPr algn="ctr"/>
            <a:r>
              <a:rPr sz="1500" b="1">
                <a:solidFill>
                  <a:srgbClr val="FFFFFF"/>
                </a:solidFill>
                <a:latin typeface="Calibri"/>
              </a:rPr>
              <a:t>5</a:t>
            </a:r>
          </a:p>
        </p:txBody>
      </p:sp>
      <p:sp>
        <p:nvSpPr>
          <p:cNvPr id="28" name="TextBox 27"/>
          <p:cNvSpPr txBox="1"/>
          <p:nvPr/>
        </p:nvSpPr>
        <p:spPr>
          <a:xfrm>
            <a:off x="9729215" y="2761488"/>
            <a:ext cx="1737360" cy="320040"/>
          </a:xfrm>
          <a:prstGeom prst="rect">
            <a:avLst/>
          </a:prstGeom>
          <a:noFill/>
        </p:spPr>
        <p:txBody>
          <a:bodyPr wrap="square" anchor="t" lIns="45720" rIns="45720" tIns="27432" bIns="27432">
            <a:spAutoFit/>
          </a:bodyPr>
          <a:lstStyle/>
          <a:p>
            <a:pPr algn="l"/>
            <a:r>
              <a:rPr sz="1250" b="1">
                <a:solidFill>
                  <a:srgbClr val="0D1B3E"/>
                </a:solidFill>
                <a:latin typeface="Calibri"/>
              </a:rPr>
              <a:t>Registre</a:t>
            </a:r>
          </a:p>
        </p:txBody>
      </p:sp>
      <p:sp>
        <p:nvSpPr>
          <p:cNvPr id="29" name="TextBox 28"/>
          <p:cNvSpPr txBox="1"/>
          <p:nvPr/>
        </p:nvSpPr>
        <p:spPr>
          <a:xfrm>
            <a:off x="9729215" y="3081528"/>
            <a:ext cx="1737360" cy="713232"/>
          </a:xfrm>
          <a:prstGeom prst="rect">
            <a:avLst/>
          </a:prstGeom>
          <a:noFill/>
        </p:spPr>
        <p:txBody>
          <a:bodyPr wrap="square" anchor="t" lIns="45720" rIns="45720" tIns="27432" bIns="27432">
            <a:spAutoFit/>
          </a:bodyPr>
          <a:lstStyle/>
          <a:p>
            <a:pPr algn="l"/>
            <a:r>
              <a:rPr sz="1000" b="0">
                <a:solidFill>
                  <a:srgbClr val="40496B"/>
                </a:solidFill>
                <a:latin typeface="Calibri"/>
              </a:rPr>
              <a:t>Data e valor pagos: vira débito na Conta Corrente.</a:t>
            </a:r>
          </a:p>
        </p:txBody>
      </p:sp>
      <p:sp>
        <p:nvSpPr>
          <p:cNvPr id="30" name="Rounded Rectangle 29"/>
          <p:cNvSpPr/>
          <p:nvPr/>
        </p:nvSpPr>
        <p:spPr>
          <a:xfrm>
            <a:off x="548640" y="4069080"/>
            <a:ext cx="3566160" cy="146304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777240" y="428853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3252" y="4384548"/>
            <a:ext cx="192024" cy="192024"/>
          </a:xfrm>
          <a:prstGeom prst="rect">
            <a:avLst/>
          </a:prstGeom>
        </p:spPr>
      </p:pic>
      <p:sp>
        <p:nvSpPr>
          <p:cNvPr id="33" name="TextBox 32"/>
          <p:cNvSpPr txBox="1"/>
          <p:nvPr/>
        </p:nvSpPr>
        <p:spPr>
          <a:xfrm>
            <a:off x="1280160" y="428853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Atrasou?</a:t>
            </a:r>
          </a:p>
        </p:txBody>
      </p:sp>
      <p:sp>
        <p:nvSpPr>
          <p:cNvPr id="34" name="TextBox 33"/>
          <p:cNvSpPr txBox="1"/>
          <p:nvPr/>
        </p:nvSpPr>
        <p:spPr>
          <a:xfrm>
            <a:off x="777240" y="4782312"/>
            <a:ext cx="3108960" cy="640080"/>
          </a:xfrm>
          <a:prstGeom prst="rect">
            <a:avLst/>
          </a:prstGeom>
          <a:noFill/>
        </p:spPr>
        <p:txBody>
          <a:bodyPr wrap="square" anchor="t" lIns="45720" rIns="45720" tIns="27432" bIns="27432">
            <a:spAutoFit/>
          </a:bodyPr>
          <a:lstStyle/>
          <a:p>
            <a:pPr algn="l"/>
            <a:r>
              <a:rPr sz="1050" b="0">
                <a:solidFill>
                  <a:srgbClr val="40496B"/>
                </a:solidFill>
                <a:latin typeface="Calibri"/>
              </a:rPr>
              <a:t>Multa de 0,33% ao dia (até 20%) + juros Selic + 1%. Ex.: R$ 100 pagos 10 dias depois = R$ 104,30.</a:t>
            </a:r>
          </a:p>
        </p:txBody>
      </p:sp>
      <p:sp>
        <p:nvSpPr>
          <p:cNvPr id="35" name="Rounded Rectangle 34"/>
          <p:cNvSpPr/>
          <p:nvPr/>
        </p:nvSpPr>
        <p:spPr>
          <a:xfrm>
            <a:off x="4311396" y="4069080"/>
            <a:ext cx="3566160" cy="146304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4539996" y="428853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image.png"/>
          <p:cNvPicPr>
            <a:picLocks noChangeAspect="1"/>
          </p:cNvPicPr>
          <p:nvPr/>
        </p:nvPicPr>
        <p:blipFill>
          <a:blip r:embed="rId3"/>
          <a:stretch>
            <a:fillRect/>
          </a:stretch>
        </p:blipFill>
        <p:spPr>
          <a:xfrm>
            <a:off x="4636008" y="4384548"/>
            <a:ext cx="192024" cy="192024"/>
          </a:xfrm>
          <a:prstGeom prst="rect">
            <a:avLst/>
          </a:prstGeom>
        </p:spPr>
      </p:pic>
      <p:sp>
        <p:nvSpPr>
          <p:cNvPr id="38" name="TextBox 37"/>
          <p:cNvSpPr txBox="1"/>
          <p:nvPr/>
        </p:nvSpPr>
        <p:spPr>
          <a:xfrm>
            <a:off x="5042916" y="428853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Menos de R$ 10</a:t>
            </a:r>
          </a:p>
        </p:txBody>
      </p:sp>
      <p:sp>
        <p:nvSpPr>
          <p:cNvPr id="39" name="TextBox 38"/>
          <p:cNvSpPr txBox="1"/>
          <p:nvPr/>
        </p:nvSpPr>
        <p:spPr>
          <a:xfrm>
            <a:off x="4539996" y="4782312"/>
            <a:ext cx="3108960" cy="640080"/>
          </a:xfrm>
          <a:prstGeom prst="rect">
            <a:avLst/>
          </a:prstGeom>
          <a:noFill/>
        </p:spPr>
        <p:txBody>
          <a:bodyPr wrap="square" anchor="t" lIns="45720" rIns="45720" tIns="27432" bIns="27432">
            <a:spAutoFit/>
          </a:bodyPr>
          <a:lstStyle/>
          <a:p>
            <a:pPr algn="l"/>
            <a:r>
              <a:rPr sz="1050" b="0">
                <a:solidFill>
                  <a:srgbClr val="40496B"/>
                </a:solidFill>
                <a:latin typeface="Calibri"/>
              </a:rPr>
              <a:t>Não gera DARF: o valor acumula e entra na guia do mês seguinte.</a:t>
            </a:r>
          </a:p>
        </p:txBody>
      </p:sp>
      <p:sp>
        <p:nvSpPr>
          <p:cNvPr id="40" name="Rounded Rectangle 39"/>
          <p:cNvSpPr/>
          <p:nvPr/>
        </p:nvSpPr>
        <p:spPr>
          <a:xfrm>
            <a:off x="8074152" y="4069080"/>
            <a:ext cx="3566160" cy="146304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8302752" y="428853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8398764" y="4384548"/>
            <a:ext cx="192024" cy="192024"/>
          </a:xfrm>
          <a:prstGeom prst="rect">
            <a:avLst/>
          </a:prstGeom>
        </p:spPr>
      </p:pic>
      <p:sp>
        <p:nvSpPr>
          <p:cNvPr id="43" name="TextBox 42"/>
          <p:cNvSpPr txBox="1"/>
          <p:nvPr/>
        </p:nvSpPr>
        <p:spPr>
          <a:xfrm>
            <a:off x="8805672" y="4288536"/>
            <a:ext cx="2651760" cy="384048"/>
          </a:xfrm>
          <a:prstGeom prst="rect">
            <a:avLst/>
          </a:prstGeom>
          <a:noFill/>
        </p:spPr>
        <p:txBody>
          <a:bodyPr wrap="square" anchor="ctr" lIns="45720" rIns="45720" tIns="27432" bIns="27432">
            <a:spAutoFit/>
          </a:bodyPr>
          <a:lstStyle/>
          <a:p>
            <a:pPr algn="l"/>
            <a:r>
              <a:rPr sz="1350" b="1">
                <a:solidFill>
                  <a:srgbClr val="0D1B3E"/>
                </a:solidFill>
                <a:latin typeface="Calibri"/>
              </a:rPr>
              <a:t>Lembrete no Telegram</a:t>
            </a:r>
          </a:p>
        </p:txBody>
      </p:sp>
      <p:sp>
        <p:nvSpPr>
          <p:cNvPr id="44" name="TextBox 43"/>
          <p:cNvSpPr txBox="1"/>
          <p:nvPr/>
        </p:nvSpPr>
        <p:spPr>
          <a:xfrm>
            <a:off x="8302752" y="4782312"/>
            <a:ext cx="3108960" cy="640080"/>
          </a:xfrm>
          <a:prstGeom prst="rect">
            <a:avLst/>
          </a:prstGeom>
          <a:noFill/>
        </p:spPr>
        <p:txBody>
          <a:bodyPr wrap="square" anchor="t" lIns="45720" rIns="45720" tIns="27432" bIns="27432">
            <a:spAutoFit/>
          </a:bodyPr>
          <a:lstStyle/>
          <a:p>
            <a:pPr algn="l"/>
            <a:r>
              <a:rPr sz="1050" b="0">
                <a:solidFill>
                  <a:srgbClr val="40496B"/>
                </a:solidFill>
                <a:latin typeface="Calibri"/>
              </a:rPr>
              <a:t>5 dias antes do vencimento e, se vencer, com o valor já atualizado.</a:t>
            </a:r>
          </a:p>
        </p:txBody>
      </p:sp>
      <p:sp>
        <p:nvSpPr>
          <p:cNvPr id="45" name="Rounded Rectangle 44"/>
          <p:cNvSpPr/>
          <p:nvPr/>
        </p:nvSpPr>
        <p:spPr>
          <a:xfrm>
            <a:off x="548640" y="5733288"/>
            <a:ext cx="11091672" cy="566928"/>
          </a:xfrm>
          <a:prstGeom prst="roundRect">
            <a:avLst>
              <a:gd name="adj" fmla="val 6000"/>
            </a:avLst>
          </a:prstGeom>
          <a:solidFill>
            <a:srgbClr val="FFF4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31520" y="585215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5"/>
          <a:stretch>
            <a:fillRect/>
          </a:stretch>
        </p:blipFill>
        <p:spPr>
          <a:xfrm>
            <a:off x="813816" y="5934455"/>
            <a:ext cx="164592" cy="164592"/>
          </a:xfrm>
          <a:prstGeom prst="rect">
            <a:avLst/>
          </a:prstGeom>
        </p:spPr>
      </p:pic>
      <p:sp>
        <p:nvSpPr>
          <p:cNvPr id="48" name="TextBox 47"/>
          <p:cNvSpPr txBox="1"/>
          <p:nvPr/>
        </p:nvSpPr>
        <p:spPr>
          <a:xfrm>
            <a:off x="1225296" y="5733288"/>
            <a:ext cx="10232136" cy="566928"/>
          </a:xfrm>
          <a:prstGeom prst="rect">
            <a:avLst/>
          </a:prstGeom>
          <a:noFill/>
        </p:spPr>
        <p:txBody>
          <a:bodyPr wrap="square" anchor="ctr" lIns="45720" rIns="45720" tIns="27432" bIns="27432">
            <a:spAutoFit/>
          </a:bodyPr>
          <a:lstStyle/>
          <a:p>
            <a:pPr algn="l"/>
            <a:r>
              <a:rPr sz="1050" b="0">
                <a:solidFill>
                  <a:srgbClr val="0D1B3E"/>
                </a:solidFill>
                <a:latin typeface="Calibri"/>
              </a:rPr>
              <a:t>O BolsaTrader calcula e lembra, mas não emite a guia oficial nem paga: a DARF com código de barras sai do Sicalc ou do aplicativo da Receita.</a:t>
            </a:r>
          </a:p>
        </p:txBody>
      </p:sp>
      <p:sp>
        <p:nvSpPr>
          <p:cNvPr id="49" name="TextBox 48"/>
          <p:cNvSpPr txBox="1"/>
          <p:nvPr/>
        </p:nvSpPr>
        <p:spPr>
          <a:xfrm>
            <a:off x="548640" y="6473952"/>
            <a:ext cx="7315200" cy="274320"/>
          </a:xfrm>
          <a:prstGeom prst="rect">
            <a:avLst/>
          </a:prstGeom>
          <a:noFill/>
        </p:spPr>
        <p:txBody>
          <a:bodyPr wrap="square" anchor="t" lIns="45720" rIns="45720" tIns="27432" bIns="27432">
            <a:spAutoFit/>
          </a:bodyPr>
          <a:lstStyle/>
          <a:p>
            <a:pPr algn="l"/>
            <a:r>
              <a:rPr sz="900" b="0">
                <a:solidFill>
                  <a:srgbClr val="7C89A8"/>
                </a:solidFill>
                <a:latin typeface="Calibri"/>
              </a:rPr>
              <a:t>BolsaTrader  ·  Manual Operacional do Sistema</a:t>
            </a:r>
          </a:p>
        </p:txBody>
      </p:sp>
      <p:sp>
        <p:nvSpPr>
          <p:cNvPr id="50" name="TextBox 49"/>
          <p:cNvSpPr txBox="1"/>
          <p:nvPr/>
        </p:nvSpPr>
        <p:spPr>
          <a:xfrm>
            <a:off x="10725912" y="6473952"/>
            <a:ext cx="914400" cy="274320"/>
          </a:xfrm>
          <a:prstGeom prst="rect">
            <a:avLst/>
          </a:prstGeom>
          <a:noFill/>
        </p:spPr>
        <p:txBody>
          <a:bodyPr wrap="square" anchor="t" lIns="45720" rIns="45720" tIns="27432" bIns="27432">
            <a:spAutoFit/>
          </a:bodyPr>
          <a:lstStyle/>
          <a:p>
            <a:pPr algn="r"/>
            <a:r>
              <a:rPr sz="900" b="0">
                <a:solidFill>
                  <a:srgbClr val="7C89A8"/>
                </a:solidFill>
                <a:latin typeface="Calibri"/>
              </a:rPr>
              <a:t>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9144000" cy="292608"/>
          </a:xfrm>
          <a:prstGeom prst="rect">
            <a:avLst/>
          </a:prstGeom>
          <a:noFill/>
        </p:spPr>
        <p:txBody>
          <a:bodyPr wrap="square" anchor="t" lIns="45720" rIns="45720" tIns="27432" bIns="27432">
            <a:spAutoFit/>
          </a:bodyPr>
          <a:lstStyle/>
          <a:p>
            <a:pPr algn="l"/>
            <a:r>
              <a:rPr sz="1250" b="1" spc="200">
                <a:solidFill>
                  <a:srgbClr val="00D68F"/>
                </a:solidFill>
                <a:latin typeface="Calibri"/>
              </a:rPr>
              <a:t>23.10 · 23.11  PROVENTOS E EVENTOS</a:t>
            </a:r>
          </a:p>
        </p:txBody>
      </p:sp>
      <p:sp>
        <p:nvSpPr>
          <p:cNvPr id="3" name="TextBox 2"/>
          <p:cNvSpPr txBox="1"/>
          <p:nvPr/>
        </p:nvSpPr>
        <p:spPr>
          <a:xfrm>
            <a:off x="548640" y="749808"/>
            <a:ext cx="11091672" cy="640080"/>
          </a:xfrm>
          <a:prstGeom prst="rect">
            <a:avLst/>
          </a:prstGeom>
          <a:noFill/>
        </p:spPr>
        <p:txBody>
          <a:bodyPr wrap="square" anchor="t" lIns="45720" rIns="45720" tIns="27432" bIns="27432">
            <a:spAutoFit/>
          </a:bodyPr>
          <a:lstStyle/>
          <a:p>
            <a:pPr algn="l"/>
            <a:r>
              <a:rPr sz="3000" b="1">
                <a:solidFill>
                  <a:srgbClr val="0D1B3E"/>
                </a:solidFill>
                <a:latin typeface="Calibri"/>
              </a:rPr>
              <a:t>Proventos e eventos corporativos</a:t>
            </a:r>
          </a:p>
        </p:txBody>
      </p:sp>
      <p:sp>
        <p:nvSpPr>
          <p:cNvPr id="4" name="TextBox 3"/>
          <p:cNvSpPr txBox="1"/>
          <p:nvPr/>
        </p:nvSpPr>
        <p:spPr>
          <a:xfrm>
            <a:off x="548640" y="1463040"/>
            <a:ext cx="5394960" cy="320040"/>
          </a:xfrm>
          <a:prstGeom prst="rect">
            <a:avLst/>
          </a:prstGeom>
          <a:noFill/>
        </p:spPr>
        <p:txBody>
          <a:bodyPr wrap="square" anchor="t" lIns="45720" rIns="45720" tIns="27432" bIns="27432">
            <a:spAutoFit/>
          </a:bodyPr>
          <a:lstStyle/>
          <a:p>
            <a:pPr algn="l"/>
            <a:r>
              <a:rPr sz="1350" b="1">
                <a:solidFill>
                  <a:srgbClr val="0D1B3E"/>
                </a:solidFill>
                <a:latin typeface="Calibri"/>
              </a:rPr>
              <a:t>Proventos</a:t>
            </a:r>
          </a:p>
        </p:txBody>
      </p:sp>
      <p:graphicFrame>
        <p:nvGraphicFramePr>
          <p:cNvPr id="5" name="Table 4"/>
          <p:cNvGraphicFramePr>
            <a:graphicFrameLocks noGrp="1"/>
          </p:cNvGraphicFramePr>
          <p:nvPr/>
        </p:nvGraphicFramePr>
        <p:xfrm>
          <a:off x="548640" y="1828800"/>
          <a:ext cx="5367528" cy="1755648"/>
        </p:xfrm>
        <a:graphic>
          <a:graphicData uri="http://schemas.openxmlformats.org/drawingml/2006/table">
            <a:tbl>
              <a:tblPr firstRow="0" bandRow="0"/>
              <a:tblGrid>
                <a:gridCol w="1737360"/>
                <a:gridCol w="3630168"/>
              </a:tblGrid>
              <a:tr h="438912">
                <a:tc>
                  <a:txBody>
                    <a:bodyPr/>
                    <a:lstStyle/>
                    <a:p>
                      <a:r>
                        <a:rPr sz="1050" b="1">
                          <a:solidFill>
                            <a:srgbClr val="FFFFFF"/>
                          </a:solidFill>
                          <a:latin typeface="Calibri"/>
                        </a:rPr>
                        <a:t>Tipo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c>
                  <a:txBody>
                    <a:bodyPr/>
                    <a:lstStyle/>
                    <a:p>
                      <a:r>
                        <a:rPr sz="1050" b="1">
                          <a:solidFill>
                            <a:srgbClr val="FFFFFF"/>
                          </a:solidFill>
                          <a:latin typeface="Calibri"/>
                        </a:rPr>
                        <a:t>Imposto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r>
              <a:tr h="438912">
                <a:tc>
                  <a:txBody>
                    <a:bodyPr/>
                    <a:lstStyle/>
                    <a:p>
                      <a:r>
                        <a:rPr sz="1000" b="1">
                          <a:solidFill>
                            <a:srgbClr val="0D1B3E"/>
                          </a:solidFill>
                          <a:latin typeface="Calibri"/>
                        </a:rPr>
                        <a:t>Dividendo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Isento até R$ 50 mil/mês da mesma empresa; acima, 10% retido (desde 2026)</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438912">
                <a:tc>
                  <a:txBody>
                    <a:bodyPr/>
                    <a:lstStyle/>
                    <a:p>
                      <a:r>
                        <a:rPr sz="1000" b="1">
                          <a:solidFill>
                            <a:srgbClr val="0D1B3E"/>
                          </a:solidFill>
                          <a:latin typeface="Calibri"/>
                        </a:rPr>
                        <a:t>JCP</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15%, já descontados pela empresa</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438912">
                <a:tc>
                  <a:txBody>
                    <a:bodyPr/>
                    <a:lstStyle/>
                    <a:p>
                      <a:r>
                        <a:rPr sz="1000" b="1">
                          <a:solidFill>
                            <a:srgbClr val="0D1B3E"/>
                          </a:solidFill>
                          <a:latin typeface="Calibri"/>
                        </a:rPr>
                        <a:t>Rendimento de FII</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Isento para pessoa física</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bl>
          </a:graphicData>
        </a:graphic>
      </p:graphicFrame>
      <p:sp>
        <p:nvSpPr>
          <p:cNvPr id="6" name="Rounded Rectangle 5"/>
          <p:cNvSpPr/>
          <p:nvPr/>
        </p:nvSpPr>
        <p:spPr>
          <a:xfrm>
            <a:off x="548640" y="3840480"/>
            <a:ext cx="5367528" cy="150876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405993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73252" y="4155948"/>
            <a:ext cx="192024" cy="192024"/>
          </a:xfrm>
          <a:prstGeom prst="rect">
            <a:avLst/>
          </a:prstGeom>
        </p:spPr>
      </p:pic>
      <p:sp>
        <p:nvSpPr>
          <p:cNvPr id="9" name="TextBox 8"/>
          <p:cNvSpPr txBox="1"/>
          <p:nvPr/>
        </p:nvSpPr>
        <p:spPr>
          <a:xfrm>
            <a:off x="1280160" y="4059936"/>
            <a:ext cx="4453128" cy="384048"/>
          </a:xfrm>
          <a:prstGeom prst="rect">
            <a:avLst/>
          </a:prstGeom>
          <a:noFill/>
        </p:spPr>
        <p:txBody>
          <a:bodyPr wrap="square" anchor="ctr" lIns="45720" rIns="45720" tIns="27432" bIns="27432">
            <a:spAutoFit/>
          </a:bodyPr>
          <a:lstStyle/>
          <a:p>
            <a:pPr algn="l"/>
            <a:r>
              <a:rPr sz="1350" b="1">
                <a:solidFill>
                  <a:srgbClr val="0D1B3E"/>
                </a:solidFill>
                <a:latin typeface="Calibri"/>
              </a:rPr>
              <a:t>Como registrar</a:t>
            </a:r>
          </a:p>
        </p:txBody>
      </p:sp>
      <p:sp>
        <p:nvSpPr>
          <p:cNvPr id="10" name="TextBox 9"/>
          <p:cNvSpPr txBox="1"/>
          <p:nvPr/>
        </p:nvSpPr>
        <p:spPr>
          <a:xfrm>
            <a:off x="777240" y="4553712"/>
            <a:ext cx="4910328" cy="685799"/>
          </a:xfrm>
          <a:prstGeom prst="rect">
            <a:avLst/>
          </a:prstGeom>
          <a:noFill/>
        </p:spPr>
        <p:txBody>
          <a:bodyPr wrap="square" anchor="t" lIns="45720" rIns="45720" tIns="27432" bIns="27432">
            <a:spAutoFit/>
          </a:bodyPr>
          <a:lstStyle/>
          <a:p>
            <a:pPr algn="l"/>
            <a:r>
              <a:rPr sz="1050" b="0">
                <a:solidFill>
                  <a:srgbClr val="40496B"/>
                </a:solidFill>
                <a:latin typeface="Calibri"/>
              </a:rPr>
              <a:t>Ticker, tipo, data e valor bruto (informe da corretora). IR em branco: o sistema calcula. Opcional: crédito do líquido na Conta Corrente.</a:t>
            </a:r>
          </a:p>
        </p:txBody>
      </p:sp>
      <p:sp>
        <p:nvSpPr>
          <p:cNvPr id="11" name="TextBox 10"/>
          <p:cNvSpPr txBox="1"/>
          <p:nvPr/>
        </p:nvSpPr>
        <p:spPr>
          <a:xfrm>
            <a:off x="6281928" y="1463040"/>
            <a:ext cx="5358384" cy="320040"/>
          </a:xfrm>
          <a:prstGeom prst="rect">
            <a:avLst/>
          </a:prstGeom>
          <a:noFill/>
        </p:spPr>
        <p:txBody>
          <a:bodyPr wrap="square" anchor="t" lIns="45720" rIns="45720" tIns="27432" bIns="27432">
            <a:spAutoFit/>
          </a:bodyPr>
          <a:lstStyle/>
          <a:p>
            <a:pPr algn="l"/>
            <a:r>
              <a:rPr sz="1350" b="1">
                <a:solidFill>
                  <a:srgbClr val="0D1B3E"/>
                </a:solidFill>
                <a:latin typeface="Calibri"/>
              </a:rPr>
              <a:t>Eventos corporativos</a:t>
            </a:r>
          </a:p>
        </p:txBody>
      </p:sp>
      <p:graphicFrame>
        <p:nvGraphicFramePr>
          <p:cNvPr id="12" name="Table 11"/>
          <p:cNvGraphicFramePr>
            <a:graphicFrameLocks noGrp="1"/>
          </p:cNvGraphicFramePr>
          <p:nvPr/>
        </p:nvGraphicFramePr>
        <p:xfrm>
          <a:off x="6281928" y="1828800"/>
          <a:ext cx="5358384" cy="1755648"/>
        </p:xfrm>
        <a:graphic>
          <a:graphicData uri="http://schemas.openxmlformats.org/drawingml/2006/table">
            <a:tbl>
              <a:tblPr firstRow="0" bandRow="0"/>
              <a:tblGrid>
                <a:gridCol w="1737360"/>
                <a:gridCol w="3621024"/>
              </a:tblGrid>
              <a:tr h="438912">
                <a:tc>
                  <a:txBody>
                    <a:bodyPr/>
                    <a:lstStyle/>
                    <a:p>
                      <a:r>
                        <a:rPr sz="1050" b="1">
                          <a:solidFill>
                            <a:srgbClr val="FFFFFF"/>
                          </a:solidFill>
                          <a:latin typeface="Calibri"/>
                        </a:rPr>
                        <a:t>Evento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c>
                  <a:txBody>
                    <a:bodyPr/>
                    <a:lstStyle/>
                    <a:p>
                      <a:r>
                        <a:rPr sz="1050" b="1">
                          <a:solidFill>
                            <a:srgbClr val="FFFFFF"/>
                          </a:solidFill>
                          <a:latin typeface="Calibri"/>
                        </a:rPr>
                        <a:t>Exemplo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r>
              <a:tr h="438912">
                <a:tc>
                  <a:txBody>
                    <a:bodyPr/>
                    <a:lstStyle/>
                    <a:p>
                      <a:r>
                        <a:rPr sz="1000" b="1">
                          <a:solidFill>
                            <a:srgbClr val="0D1B3E"/>
                          </a:solidFill>
                          <a:latin typeface="Calibri"/>
                        </a:rPr>
                        <a:t>Desdobramento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1 para 2: 100 ações a R$ 30 viram 200 a R$ 15</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438912">
                <a:tc>
                  <a:txBody>
                    <a:bodyPr/>
                    <a:lstStyle/>
                    <a:p>
                      <a:r>
                        <a:rPr sz="1000" b="1">
                          <a:solidFill>
                            <a:srgbClr val="0D1B3E"/>
                          </a:solidFill>
                          <a:latin typeface="Calibri"/>
                        </a:rPr>
                        <a:t>Grupamento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10 para 1: 100 ações a R$ 3 viram 10 a R$ 30</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438912">
                <a:tc>
                  <a:txBody>
                    <a:bodyPr/>
                    <a:lstStyle/>
                    <a:p>
                      <a:r>
                        <a:rPr sz="1000" b="1">
                          <a:solidFill>
                            <a:srgbClr val="0D1B3E"/>
                          </a:solidFill>
                          <a:latin typeface="Calibri"/>
                        </a:rPr>
                        <a:t>Bonificação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10% a R$ 18,50: +10 ações ao custo informado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bl>
          </a:graphicData>
        </a:graphic>
      </p:graphicFrame>
      <p:sp>
        <p:nvSpPr>
          <p:cNvPr id="13" name="Rounded Rectangle 12"/>
          <p:cNvSpPr/>
          <p:nvPr/>
        </p:nvSpPr>
        <p:spPr>
          <a:xfrm>
            <a:off x="6281928" y="3840480"/>
            <a:ext cx="5358384" cy="1508760"/>
          </a:xfrm>
          <a:prstGeom prst="roundRect">
            <a:avLst>
              <a:gd name="adj" fmla="val 6000"/>
            </a:avLst>
          </a:prstGeom>
          <a:solidFill>
            <a:srgbClr val="F3F6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510528" y="4059936"/>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png"/>
          <p:cNvPicPr>
            <a:picLocks noChangeAspect="1"/>
          </p:cNvPicPr>
          <p:nvPr/>
        </p:nvPicPr>
        <p:blipFill>
          <a:blip r:embed="rId3"/>
          <a:stretch>
            <a:fillRect/>
          </a:stretch>
        </p:blipFill>
        <p:spPr>
          <a:xfrm>
            <a:off x="6606540" y="4155948"/>
            <a:ext cx="192024" cy="192024"/>
          </a:xfrm>
          <a:prstGeom prst="rect">
            <a:avLst/>
          </a:prstGeom>
        </p:spPr>
      </p:pic>
      <p:sp>
        <p:nvSpPr>
          <p:cNvPr id="16" name="TextBox 15"/>
          <p:cNvSpPr txBox="1"/>
          <p:nvPr/>
        </p:nvSpPr>
        <p:spPr>
          <a:xfrm>
            <a:off x="7013448" y="4059936"/>
            <a:ext cx="4443984" cy="384048"/>
          </a:xfrm>
          <a:prstGeom prst="rect">
            <a:avLst/>
          </a:prstGeom>
          <a:noFill/>
        </p:spPr>
        <p:txBody>
          <a:bodyPr wrap="square" anchor="ctr" lIns="45720" rIns="45720" tIns="27432" bIns="27432">
            <a:spAutoFit/>
          </a:bodyPr>
          <a:lstStyle/>
          <a:p>
            <a:pPr algn="l"/>
            <a:r>
              <a:rPr sz="1350" b="1">
                <a:solidFill>
                  <a:srgbClr val="0D1B3E"/>
                </a:solidFill>
                <a:latin typeface="Calibri"/>
              </a:rPr>
              <a:t>O que o sistema faz</a:t>
            </a:r>
          </a:p>
        </p:txBody>
      </p:sp>
      <p:sp>
        <p:nvSpPr>
          <p:cNvPr id="17" name="TextBox 16"/>
          <p:cNvSpPr txBox="1"/>
          <p:nvPr/>
        </p:nvSpPr>
        <p:spPr>
          <a:xfrm>
            <a:off x="6510528" y="4553712"/>
            <a:ext cx="4901184" cy="685799"/>
          </a:xfrm>
          <a:prstGeom prst="rect">
            <a:avLst/>
          </a:prstGeom>
          <a:noFill/>
        </p:spPr>
        <p:txBody>
          <a:bodyPr wrap="square" anchor="t" lIns="45720" rIns="45720" tIns="27432" bIns="27432">
            <a:spAutoFit/>
          </a:bodyPr>
          <a:lstStyle/>
          <a:p>
            <a:pPr algn="l"/>
            <a:r>
              <a:rPr sz="1050" b="0">
                <a:solidFill>
                  <a:srgbClr val="40496B"/>
                </a:solidFill>
                <a:latin typeface="Calibri"/>
              </a:rPr>
              <a:t>Ajusta lotes e preço médio na data ex. Registre antes de novas vendas; para corrigir, use Desfazer.</a:t>
            </a:r>
          </a:p>
        </p:txBody>
      </p:sp>
      <p:sp>
        <p:nvSpPr>
          <p:cNvPr id="18" name="Rounded Rectangle 17"/>
          <p:cNvSpPr/>
          <p:nvPr/>
        </p:nvSpPr>
        <p:spPr>
          <a:xfrm>
            <a:off x="548640" y="5596128"/>
            <a:ext cx="11091672" cy="566928"/>
          </a:xfrm>
          <a:prstGeom prst="roundRect">
            <a:avLst>
              <a:gd name="adj" fmla="val 6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5715000"/>
            <a:ext cx="329184" cy="329184"/>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13816" y="5797296"/>
            <a:ext cx="164592" cy="164592"/>
          </a:xfrm>
          <a:prstGeom prst="rect">
            <a:avLst/>
          </a:prstGeom>
        </p:spPr>
      </p:pic>
      <p:sp>
        <p:nvSpPr>
          <p:cNvPr id="21" name="TextBox 20"/>
          <p:cNvSpPr txBox="1"/>
          <p:nvPr/>
        </p:nvSpPr>
        <p:spPr>
          <a:xfrm>
            <a:off x="1225296" y="5596128"/>
            <a:ext cx="10232136" cy="566928"/>
          </a:xfrm>
          <a:prstGeom prst="rect">
            <a:avLst/>
          </a:prstGeom>
          <a:noFill/>
        </p:spPr>
        <p:txBody>
          <a:bodyPr wrap="square" anchor="ctr" lIns="45720" rIns="45720" tIns="27432" bIns="27432">
            <a:spAutoFit/>
          </a:bodyPr>
          <a:lstStyle/>
          <a:p>
            <a:pPr algn="l"/>
            <a:r>
              <a:rPr sz="1050" b="0">
                <a:solidFill>
                  <a:srgbClr val="0D1B3E"/>
                </a:solidFill>
                <a:latin typeface="Calibri"/>
              </a:rPr>
              <a:t>Proventos não entram na DARF, mas aparecem no relatório da declaração anual — registre-os ao longo do ano ou de uma vez com o informe de rendimentos.</a:t>
            </a:r>
          </a:p>
        </p:txBody>
      </p:sp>
      <p:sp>
        <p:nvSpPr>
          <p:cNvPr id="22" name="TextBox 21"/>
          <p:cNvSpPr txBox="1"/>
          <p:nvPr/>
        </p:nvSpPr>
        <p:spPr>
          <a:xfrm>
            <a:off x="548640" y="6473952"/>
            <a:ext cx="7315200" cy="274320"/>
          </a:xfrm>
          <a:prstGeom prst="rect">
            <a:avLst/>
          </a:prstGeom>
          <a:noFill/>
        </p:spPr>
        <p:txBody>
          <a:bodyPr wrap="square" anchor="t" lIns="45720" rIns="45720" tIns="27432" bIns="27432">
            <a:spAutoFit/>
          </a:bodyPr>
          <a:lstStyle/>
          <a:p>
            <a:pPr algn="l"/>
            <a:r>
              <a:rPr sz="900" b="0">
                <a:solidFill>
                  <a:srgbClr val="7C89A8"/>
                </a:solidFill>
                <a:latin typeface="Calibri"/>
              </a:rPr>
              <a:t>BolsaTrader  ·  Manual Operacional do Sistema</a:t>
            </a:r>
          </a:p>
        </p:txBody>
      </p:sp>
      <p:sp>
        <p:nvSpPr>
          <p:cNvPr id="23" name="TextBox 22"/>
          <p:cNvSpPr txBox="1"/>
          <p:nvPr/>
        </p:nvSpPr>
        <p:spPr>
          <a:xfrm>
            <a:off x="10725912" y="6473952"/>
            <a:ext cx="914400" cy="274320"/>
          </a:xfrm>
          <a:prstGeom prst="rect">
            <a:avLst/>
          </a:prstGeom>
          <a:noFill/>
        </p:spPr>
        <p:txBody>
          <a:bodyPr wrap="square" anchor="t" lIns="45720" rIns="45720" tIns="27432" bIns="27432">
            <a:spAutoFit/>
          </a:bodyPr>
          <a:lstStyle/>
          <a:p>
            <a:pPr algn="r"/>
            <a:r>
              <a:rPr sz="900" b="0">
                <a:solidFill>
                  <a:srgbClr val="7C89A8"/>
                </a:solidFill>
                <a:latin typeface="Calibri"/>
              </a:rPr>
              <a:t>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9144000" cy="292608"/>
          </a:xfrm>
          <a:prstGeom prst="rect">
            <a:avLst/>
          </a:prstGeom>
          <a:noFill/>
        </p:spPr>
        <p:txBody>
          <a:bodyPr wrap="square" anchor="t" lIns="45720" rIns="45720" tIns="27432" bIns="27432">
            <a:spAutoFit/>
          </a:bodyPr>
          <a:lstStyle/>
          <a:p>
            <a:pPr algn="l"/>
            <a:r>
              <a:rPr sz="1250" b="1" spc="200">
                <a:solidFill>
                  <a:srgbClr val="00D68F"/>
                </a:solidFill>
                <a:latin typeface="Calibri"/>
              </a:rPr>
              <a:t>23.12 · 23.13  DECLARAÇÃO ANUAL</a:t>
            </a:r>
          </a:p>
        </p:txBody>
      </p:sp>
      <p:sp>
        <p:nvSpPr>
          <p:cNvPr id="3" name="TextBox 2"/>
          <p:cNvSpPr txBox="1"/>
          <p:nvPr/>
        </p:nvSpPr>
        <p:spPr>
          <a:xfrm>
            <a:off x="548640" y="749808"/>
            <a:ext cx="11091672" cy="640080"/>
          </a:xfrm>
          <a:prstGeom prst="rect">
            <a:avLst/>
          </a:prstGeom>
          <a:noFill/>
        </p:spPr>
        <p:txBody>
          <a:bodyPr wrap="square" anchor="t" lIns="45720" rIns="45720" tIns="27432" bIns="27432">
            <a:spAutoFit/>
          </a:bodyPr>
          <a:lstStyle/>
          <a:p>
            <a:pPr algn="l"/>
            <a:r>
              <a:rPr sz="3000" b="1">
                <a:solidFill>
                  <a:srgbClr val="0D1B3E"/>
                </a:solidFill>
                <a:latin typeface="Calibri"/>
              </a:rPr>
              <a:t>Relatório da declaração e rotina</a:t>
            </a:r>
          </a:p>
        </p:txBody>
      </p:sp>
      <p:sp>
        <p:nvSpPr>
          <p:cNvPr id="4" name="TextBox 3"/>
          <p:cNvSpPr txBox="1"/>
          <p:nvPr/>
        </p:nvSpPr>
        <p:spPr>
          <a:xfrm>
            <a:off x="548640" y="1371600"/>
            <a:ext cx="11091672" cy="502920"/>
          </a:xfrm>
          <a:prstGeom prst="rect">
            <a:avLst/>
          </a:prstGeom>
          <a:noFill/>
        </p:spPr>
        <p:txBody>
          <a:bodyPr wrap="square" anchor="t" lIns="45720" rIns="45720" tIns="27432" bIns="27432">
            <a:spAutoFit/>
          </a:bodyPr>
          <a:lstStyle/>
          <a:p>
            <a:pPr algn="l"/>
            <a:r>
              <a:rPr sz="1150" b="0">
                <a:solidFill>
                  <a:srgbClr val="40496B"/>
                </a:solidFill>
                <a:latin typeface="Calibri"/>
              </a:rPr>
              <a:t>Tela Relatório da declaração (também em Excel e PDF): o que preencher em cada ficha do programa da Receita.</a:t>
            </a:r>
          </a:p>
        </p:txBody>
      </p:sp>
      <p:graphicFrame>
        <p:nvGraphicFramePr>
          <p:cNvPr id="5" name="Table 4"/>
          <p:cNvGraphicFramePr>
            <a:graphicFrameLocks noGrp="1"/>
          </p:cNvGraphicFramePr>
          <p:nvPr/>
        </p:nvGraphicFramePr>
        <p:xfrm>
          <a:off x="548640" y="1965960"/>
          <a:ext cx="6766560" cy="2304288"/>
        </p:xfrm>
        <a:graphic>
          <a:graphicData uri="http://schemas.openxmlformats.org/drawingml/2006/table">
            <a:tbl>
              <a:tblPr firstRow="0" bandRow="0"/>
              <a:tblGrid>
                <a:gridCol w="2468880"/>
                <a:gridCol w="4297680"/>
              </a:tblGrid>
              <a:tr h="384048">
                <a:tc>
                  <a:txBody>
                    <a:bodyPr/>
                    <a:lstStyle/>
                    <a:p>
                      <a:r>
                        <a:rPr sz="1050" b="1">
                          <a:solidFill>
                            <a:srgbClr val="FFFFFF"/>
                          </a:solidFill>
                          <a:latin typeface="Calibri"/>
                        </a:rPr>
                        <a:t>Seção do relatório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c>
                  <a:txBody>
                    <a:bodyPr/>
                    <a:lstStyle/>
                    <a:p>
                      <a:r>
                        <a:rPr sz="1050" b="1">
                          <a:solidFill>
                            <a:srgbClr val="FFFFFF"/>
                          </a:solidFill>
                          <a:latin typeface="Calibri"/>
                        </a:rPr>
                        <a:t>Ficha da declaração</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0D1B3E"/>
                    </a:solidFill>
                  </a:tcPr>
                </a:tc>
              </a:tr>
              <a:tr h="384048">
                <a:tc>
                  <a:txBody>
                    <a:bodyPr/>
                    <a:lstStyle/>
                    <a:p>
                      <a:r>
                        <a:rPr sz="1000" b="1">
                          <a:solidFill>
                            <a:srgbClr val="0D1B3E"/>
                          </a:solidFill>
                          <a:latin typeface="Calibri"/>
                        </a:rPr>
                        <a:t>Bens e Direitos</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Bens e Direitos — custo pelo preço médio em 31/12</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384048">
                <a:tc>
                  <a:txBody>
                    <a:bodyPr/>
                    <a:lstStyle/>
                    <a:p>
                      <a:r>
                        <a:rPr sz="1000" b="1">
                          <a:solidFill>
                            <a:srgbClr val="0D1B3E"/>
                          </a:solidFill>
                          <a:latin typeface="Calibri"/>
                        </a:rPr>
                        <a:t>Rendimentos isentos</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Rendimentos Isentos e Não Tributáveis</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384048">
                <a:tc>
                  <a:txBody>
                    <a:bodyPr/>
                    <a:lstStyle/>
                    <a:p>
                      <a:r>
                        <a:rPr sz="1000" b="1">
                          <a:solidFill>
                            <a:srgbClr val="0D1B3E"/>
                          </a:solidFill>
                          <a:latin typeface="Calibri"/>
                        </a:rPr>
                        <a:t>Tributação exclusiva (JCP)</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Rendimentos Sujeitos à Tributação Exclusiva</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384048">
                <a:tc>
                  <a:txBody>
                    <a:bodyPr/>
                    <a:lstStyle/>
                    <a:p>
                      <a:r>
                        <a:rPr sz="1000" b="1">
                          <a:solidFill>
                            <a:srgbClr val="0D1B3E"/>
                          </a:solidFill>
                          <a:latin typeface="Calibri"/>
                        </a:rPr>
                        <a:t>Renda variável mês a mês</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Renda Variável (comum/day trade e FII)</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r h="384048">
                <a:tc>
                  <a:txBody>
                    <a:bodyPr/>
                    <a:lstStyle/>
                    <a:p>
                      <a:r>
                        <a:rPr sz="1000" b="1">
                          <a:solidFill>
                            <a:srgbClr val="0D1B3E"/>
                          </a:solidFill>
                          <a:latin typeface="Calibri"/>
                        </a:rPr>
                        <a:t>DARFs pagas</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c>
                  <a:txBody>
                    <a:bodyPr/>
                    <a:lstStyle/>
                    <a:p>
                      <a:r>
                        <a:rPr sz="1000" b="0">
                          <a:solidFill>
                            <a:srgbClr val="40496B"/>
                          </a:solidFill>
                          <a:latin typeface="Calibri"/>
                        </a:rPr>
                        <a:t>Renda Variável — imposto pago no mês</a:t>
                      </a:r>
                    </a:p>
                  </a:txBody>
                  <a:tcPr marL="91440" marR="91440" marT="45720" marB="45720" anchor="ctr">
                    <a:lnL w="9525" cap="flat" cmpd="sng" algn="ctr">
                      <a:solidFill>
                        <a:srgbClr val="DCE4F5"/>
                      </a:solidFill>
                      <a:prstDash val="solid"/>
                    </a:lnL>
                    <a:lnR w="9525" cap="flat" cmpd="sng" algn="ctr">
                      <a:solidFill>
                        <a:srgbClr val="DCE4F5"/>
                      </a:solidFill>
                      <a:prstDash val="solid"/>
                    </a:lnR>
                    <a:lnT w="9525" cap="flat" cmpd="sng" algn="ctr">
                      <a:solidFill>
                        <a:srgbClr val="DCE4F5"/>
                      </a:solidFill>
                      <a:prstDash val="solid"/>
                    </a:lnT>
                    <a:lnB w="9525" cap="flat" cmpd="sng" algn="ctr">
                      <a:solidFill>
                        <a:srgbClr val="DCE4F5"/>
                      </a:solidFill>
                      <a:prstDash val="solid"/>
                    </a:lnB>
                    <a:solidFill>
                      <a:srgbClr val="FFFFFF"/>
                    </a:solidFill>
                  </a:tcPr>
                </a:tc>
              </a:tr>
            </a:tbl>
          </a:graphicData>
        </a:graphic>
      </p:graphicFrame>
      <p:sp>
        <p:nvSpPr>
          <p:cNvPr id="6" name="Rounded Rectangle 5"/>
          <p:cNvSpPr/>
          <p:nvPr/>
        </p:nvSpPr>
        <p:spPr>
          <a:xfrm>
            <a:off x="548640" y="4526280"/>
            <a:ext cx="6766560" cy="1005840"/>
          </a:xfrm>
          <a:prstGeom prst="roundRect">
            <a:avLst>
              <a:gd name="adj" fmla="val 6000"/>
            </a:avLst>
          </a:prstGeom>
          <a:solidFill>
            <a:srgbClr val="F3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4745736"/>
            <a:ext cx="384048" cy="38404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73252" y="4841748"/>
            <a:ext cx="192024" cy="192024"/>
          </a:xfrm>
          <a:prstGeom prst="rect">
            <a:avLst/>
          </a:prstGeom>
        </p:spPr>
      </p:pic>
      <p:sp>
        <p:nvSpPr>
          <p:cNvPr id="9" name="TextBox 8"/>
          <p:cNvSpPr txBox="1"/>
          <p:nvPr/>
        </p:nvSpPr>
        <p:spPr>
          <a:xfrm>
            <a:off x="1280160" y="4745736"/>
            <a:ext cx="5852160" cy="384048"/>
          </a:xfrm>
          <a:prstGeom prst="rect">
            <a:avLst/>
          </a:prstGeom>
          <a:noFill/>
        </p:spPr>
        <p:txBody>
          <a:bodyPr wrap="square" anchor="ctr" lIns="45720" rIns="45720" tIns="27432" bIns="27432">
            <a:spAutoFit/>
          </a:bodyPr>
          <a:lstStyle/>
          <a:p>
            <a:pPr algn="l"/>
            <a:r>
              <a:rPr sz="1350" b="1">
                <a:solidFill>
                  <a:srgbClr val="0D1B3E"/>
                </a:solidFill>
                <a:latin typeface="Calibri"/>
              </a:rPr>
              <a:t>Falta só o CNPJ</a:t>
            </a:r>
          </a:p>
        </p:txBody>
      </p:sp>
      <p:sp>
        <p:nvSpPr>
          <p:cNvPr id="10" name="TextBox 9"/>
          <p:cNvSpPr txBox="1"/>
          <p:nvPr/>
        </p:nvSpPr>
        <p:spPr>
          <a:xfrm>
            <a:off x="777240" y="5239512"/>
            <a:ext cx="6309360" cy="182880"/>
          </a:xfrm>
          <a:prstGeom prst="rect">
            <a:avLst/>
          </a:prstGeom>
          <a:noFill/>
        </p:spPr>
        <p:txBody>
          <a:bodyPr wrap="square" anchor="t" lIns="45720" rIns="45720" tIns="27432" bIns="27432">
            <a:spAutoFit/>
          </a:bodyPr>
          <a:lstStyle/>
          <a:p>
            <a:pPr algn="l"/>
            <a:r>
              <a:rPr sz="1050" b="0">
                <a:solidFill>
                  <a:srgbClr val="40496B"/>
                </a:solidFill>
                <a:latin typeface="Calibri"/>
              </a:rPr>
              <a:t>O sistema não guarda o CNPJ das empresas e da corretora: ele está no informe de rendimentos.</a:t>
            </a:r>
          </a:p>
        </p:txBody>
      </p:sp>
      <p:sp>
        <p:nvSpPr>
          <p:cNvPr id="11" name="TextBox 10"/>
          <p:cNvSpPr txBox="1"/>
          <p:nvPr/>
        </p:nvSpPr>
        <p:spPr>
          <a:xfrm>
            <a:off x="7680960" y="1920240"/>
            <a:ext cx="3959352" cy="320040"/>
          </a:xfrm>
          <a:prstGeom prst="rect">
            <a:avLst/>
          </a:prstGeom>
          <a:noFill/>
        </p:spPr>
        <p:txBody>
          <a:bodyPr wrap="square" anchor="t" lIns="45720" rIns="45720" tIns="27432" bIns="27432">
            <a:spAutoFit/>
          </a:bodyPr>
          <a:lstStyle/>
          <a:p>
            <a:pPr algn="l"/>
            <a:r>
              <a:rPr sz="1350" b="1">
                <a:solidFill>
                  <a:srgbClr val="0D1B3E"/>
                </a:solidFill>
                <a:latin typeface="Calibri"/>
              </a:rPr>
              <a:t>Rotina recomendada</a:t>
            </a:r>
          </a:p>
        </p:txBody>
      </p:sp>
      <p:sp>
        <p:nvSpPr>
          <p:cNvPr id="12" name="Oval 11"/>
          <p:cNvSpPr/>
          <p:nvPr/>
        </p:nvSpPr>
        <p:spPr>
          <a:xfrm>
            <a:off x="7680960" y="2368296"/>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3"/>
          <a:stretch>
            <a:fillRect/>
          </a:stretch>
        </p:blipFill>
        <p:spPr>
          <a:xfrm>
            <a:off x="7776972" y="2464308"/>
            <a:ext cx="192024" cy="192024"/>
          </a:xfrm>
          <a:prstGeom prst="rect">
            <a:avLst/>
          </a:prstGeom>
        </p:spPr>
      </p:pic>
      <p:sp>
        <p:nvSpPr>
          <p:cNvPr id="14" name="TextBox 13"/>
          <p:cNvSpPr txBox="1"/>
          <p:nvPr/>
        </p:nvSpPr>
        <p:spPr>
          <a:xfrm>
            <a:off x="8211312" y="2331720"/>
            <a:ext cx="3429000" cy="274320"/>
          </a:xfrm>
          <a:prstGeom prst="rect">
            <a:avLst/>
          </a:prstGeom>
          <a:noFill/>
        </p:spPr>
        <p:txBody>
          <a:bodyPr wrap="square" anchor="t" lIns="45720" rIns="45720" tIns="27432" bIns="27432">
            <a:spAutoFit/>
          </a:bodyPr>
          <a:lstStyle/>
          <a:p>
            <a:pPr algn="l"/>
            <a:r>
              <a:rPr sz="1250" b="1">
                <a:solidFill>
                  <a:srgbClr val="0D1B3E"/>
                </a:solidFill>
                <a:latin typeface="Calibri"/>
              </a:rPr>
              <a:t>A cada venda</a:t>
            </a:r>
          </a:p>
        </p:txBody>
      </p:sp>
      <p:sp>
        <p:nvSpPr>
          <p:cNvPr id="15" name="TextBox 14"/>
          <p:cNvSpPr txBox="1"/>
          <p:nvPr/>
        </p:nvSpPr>
        <p:spPr>
          <a:xfrm>
            <a:off x="8211312" y="2606039"/>
            <a:ext cx="3429000" cy="502920"/>
          </a:xfrm>
          <a:prstGeom prst="rect">
            <a:avLst/>
          </a:prstGeom>
          <a:noFill/>
        </p:spPr>
        <p:txBody>
          <a:bodyPr wrap="square" anchor="t" lIns="45720" rIns="45720" tIns="27432" bIns="27432">
            <a:spAutoFit/>
          </a:bodyPr>
          <a:lstStyle/>
          <a:p>
            <a:pPr algn="l"/>
            <a:r>
              <a:rPr sz="1000" b="0">
                <a:solidFill>
                  <a:srgbClr val="40496B"/>
                </a:solidFill>
                <a:latin typeface="Calibri"/>
              </a:rPr>
              <a:t>Taxas preenchidas e simulador conferido.</a:t>
            </a:r>
          </a:p>
        </p:txBody>
      </p:sp>
      <p:sp>
        <p:nvSpPr>
          <p:cNvPr id="16" name="Oval 15"/>
          <p:cNvSpPr/>
          <p:nvPr/>
        </p:nvSpPr>
        <p:spPr>
          <a:xfrm>
            <a:off x="7680960" y="3172968"/>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4"/>
          <a:stretch>
            <a:fillRect/>
          </a:stretch>
        </p:blipFill>
        <p:spPr>
          <a:xfrm>
            <a:off x="7776972" y="3268979"/>
            <a:ext cx="192024" cy="192024"/>
          </a:xfrm>
          <a:prstGeom prst="rect">
            <a:avLst/>
          </a:prstGeom>
        </p:spPr>
      </p:pic>
      <p:sp>
        <p:nvSpPr>
          <p:cNvPr id="18" name="TextBox 17"/>
          <p:cNvSpPr txBox="1"/>
          <p:nvPr/>
        </p:nvSpPr>
        <p:spPr>
          <a:xfrm>
            <a:off x="8211312" y="3136391"/>
            <a:ext cx="3429000" cy="274320"/>
          </a:xfrm>
          <a:prstGeom prst="rect">
            <a:avLst/>
          </a:prstGeom>
          <a:noFill/>
        </p:spPr>
        <p:txBody>
          <a:bodyPr wrap="square" anchor="t" lIns="45720" rIns="45720" tIns="27432" bIns="27432">
            <a:spAutoFit/>
          </a:bodyPr>
          <a:lstStyle/>
          <a:p>
            <a:pPr algn="l"/>
            <a:r>
              <a:rPr sz="1250" b="1">
                <a:solidFill>
                  <a:srgbClr val="0D1B3E"/>
                </a:solidFill>
                <a:latin typeface="Calibri"/>
              </a:rPr>
              <a:t>Começo do mês</a:t>
            </a:r>
          </a:p>
        </p:txBody>
      </p:sp>
      <p:sp>
        <p:nvSpPr>
          <p:cNvPr id="19" name="TextBox 18"/>
          <p:cNvSpPr txBox="1"/>
          <p:nvPr/>
        </p:nvSpPr>
        <p:spPr>
          <a:xfrm>
            <a:off x="8211312" y="3410711"/>
            <a:ext cx="3429000" cy="502920"/>
          </a:xfrm>
          <a:prstGeom prst="rect">
            <a:avLst/>
          </a:prstGeom>
          <a:noFill/>
        </p:spPr>
        <p:txBody>
          <a:bodyPr wrap="square" anchor="t" lIns="45720" rIns="45720" tIns="27432" bIns="27432">
            <a:spAutoFit/>
          </a:bodyPr>
          <a:lstStyle/>
          <a:p>
            <a:pPr algn="l"/>
            <a:r>
              <a:rPr sz="1000" b="0">
                <a:solidFill>
                  <a:srgbClr val="40496B"/>
                </a:solidFill>
                <a:latin typeface="Calibri"/>
              </a:rPr>
              <a:t>Abra o painel; se houver DARF, pague até o último dia útil.</a:t>
            </a:r>
          </a:p>
        </p:txBody>
      </p:sp>
      <p:sp>
        <p:nvSpPr>
          <p:cNvPr id="20" name="Oval 19"/>
          <p:cNvSpPr/>
          <p:nvPr/>
        </p:nvSpPr>
        <p:spPr>
          <a:xfrm>
            <a:off x="7680960" y="3977639"/>
            <a:ext cx="384048" cy="384048"/>
          </a:xfrm>
          <a:prstGeom prst="ellipse">
            <a:avLst/>
          </a:prstGeom>
          <a:solidFill>
            <a:srgbClr val="00D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5"/>
          <a:stretch>
            <a:fillRect/>
          </a:stretch>
        </p:blipFill>
        <p:spPr>
          <a:xfrm>
            <a:off x="7776972" y="4073652"/>
            <a:ext cx="192024" cy="192024"/>
          </a:xfrm>
          <a:prstGeom prst="rect">
            <a:avLst/>
          </a:prstGeom>
        </p:spPr>
      </p:pic>
      <p:sp>
        <p:nvSpPr>
          <p:cNvPr id="22" name="TextBox 21"/>
          <p:cNvSpPr txBox="1"/>
          <p:nvPr/>
        </p:nvSpPr>
        <p:spPr>
          <a:xfrm>
            <a:off x="8211312" y="3941063"/>
            <a:ext cx="3429000" cy="274320"/>
          </a:xfrm>
          <a:prstGeom prst="rect">
            <a:avLst/>
          </a:prstGeom>
          <a:noFill/>
        </p:spPr>
        <p:txBody>
          <a:bodyPr wrap="square" anchor="t" lIns="45720" rIns="45720" tIns="27432" bIns="27432">
            <a:spAutoFit/>
          </a:bodyPr>
          <a:lstStyle/>
          <a:p>
            <a:pPr algn="l"/>
            <a:r>
              <a:rPr sz="1250" b="1">
                <a:solidFill>
                  <a:srgbClr val="0D1B3E"/>
                </a:solidFill>
                <a:latin typeface="Calibri"/>
              </a:rPr>
              <a:t>Depois de pagar</a:t>
            </a:r>
          </a:p>
        </p:txBody>
      </p:sp>
      <p:sp>
        <p:nvSpPr>
          <p:cNvPr id="23" name="TextBox 22"/>
          <p:cNvSpPr txBox="1"/>
          <p:nvPr/>
        </p:nvSpPr>
        <p:spPr>
          <a:xfrm>
            <a:off x="8211312" y="4215383"/>
            <a:ext cx="3429000" cy="502920"/>
          </a:xfrm>
          <a:prstGeom prst="rect">
            <a:avLst/>
          </a:prstGeom>
          <a:noFill/>
        </p:spPr>
        <p:txBody>
          <a:bodyPr wrap="square" anchor="t" lIns="45720" rIns="45720" tIns="27432" bIns="27432">
            <a:spAutoFit/>
          </a:bodyPr>
          <a:lstStyle/>
          <a:p>
            <a:pPr algn="l"/>
            <a:r>
              <a:rPr sz="1000" b="0">
                <a:solidFill>
                  <a:srgbClr val="40496B"/>
                </a:solidFill>
                <a:latin typeface="Calibri"/>
              </a:rPr>
              <a:t>Marque a DARF como paga no sistema.</a:t>
            </a:r>
          </a:p>
        </p:txBody>
      </p:sp>
      <p:sp>
        <p:nvSpPr>
          <p:cNvPr id="24" name="Oval 23"/>
          <p:cNvSpPr/>
          <p:nvPr/>
        </p:nvSpPr>
        <p:spPr>
          <a:xfrm>
            <a:off x="7680960" y="4782312"/>
            <a:ext cx="384048" cy="384048"/>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age.png"/>
          <p:cNvPicPr>
            <a:picLocks noChangeAspect="1"/>
          </p:cNvPicPr>
          <p:nvPr/>
        </p:nvPicPr>
        <p:blipFill>
          <a:blip r:embed="rId6"/>
          <a:stretch>
            <a:fillRect/>
          </a:stretch>
        </p:blipFill>
        <p:spPr>
          <a:xfrm>
            <a:off x="7776972" y="4878324"/>
            <a:ext cx="192024" cy="192024"/>
          </a:xfrm>
          <a:prstGeom prst="rect">
            <a:avLst/>
          </a:prstGeom>
        </p:spPr>
      </p:pic>
      <p:sp>
        <p:nvSpPr>
          <p:cNvPr id="26" name="TextBox 25"/>
          <p:cNvSpPr txBox="1"/>
          <p:nvPr/>
        </p:nvSpPr>
        <p:spPr>
          <a:xfrm>
            <a:off x="8211312" y="4745736"/>
            <a:ext cx="3429000" cy="274320"/>
          </a:xfrm>
          <a:prstGeom prst="rect">
            <a:avLst/>
          </a:prstGeom>
          <a:noFill/>
        </p:spPr>
        <p:txBody>
          <a:bodyPr wrap="square" anchor="t" lIns="45720" rIns="45720" tIns="27432" bIns="27432">
            <a:spAutoFit/>
          </a:bodyPr>
          <a:lstStyle/>
          <a:p>
            <a:pPr algn="l"/>
            <a:r>
              <a:rPr sz="1250" b="1">
                <a:solidFill>
                  <a:srgbClr val="0D1B3E"/>
                </a:solidFill>
                <a:latin typeface="Calibri"/>
              </a:rPr>
              <a:t>Março</a:t>
            </a:r>
          </a:p>
        </p:txBody>
      </p:sp>
      <p:sp>
        <p:nvSpPr>
          <p:cNvPr id="27" name="TextBox 26"/>
          <p:cNvSpPr txBox="1"/>
          <p:nvPr/>
        </p:nvSpPr>
        <p:spPr>
          <a:xfrm>
            <a:off x="8211312" y="5020055"/>
            <a:ext cx="3429000" cy="502920"/>
          </a:xfrm>
          <a:prstGeom prst="rect">
            <a:avLst/>
          </a:prstGeom>
          <a:noFill/>
        </p:spPr>
        <p:txBody>
          <a:bodyPr wrap="square" anchor="t" lIns="45720" rIns="45720" tIns="27432" bIns="27432">
            <a:spAutoFit/>
          </a:bodyPr>
          <a:lstStyle/>
          <a:p>
            <a:pPr algn="l"/>
            <a:r>
              <a:rPr sz="1000" b="0">
                <a:solidFill>
                  <a:srgbClr val="40496B"/>
                </a:solidFill>
                <a:latin typeface="Calibri"/>
              </a:rPr>
              <a:t>Gere o relatório do ano anterior e declare.</a:t>
            </a:r>
          </a:p>
        </p:txBody>
      </p:sp>
      <p:sp>
        <p:nvSpPr>
          <p:cNvPr id="28" name="Rounded Rectangle 27"/>
          <p:cNvSpPr/>
          <p:nvPr/>
        </p:nvSpPr>
        <p:spPr>
          <a:xfrm>
            <a:off x="548640" y="5733288"/>
            <a:ext cx="11091672" cy="566928"/>
          </a:xfrm>
          <a:prstGeom prst="roundRect">
            <a:avLst>
              <a:gd name="adj" fmla="val 6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731520" y="5852159"/>
            <a:ext cx="329184" cy="329184"/>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7"/>
          <a:stretch>
            <a:fillRect/>
          </a:stretch>
        </p:blipFill>
        <p:spPr>
          <a:xfrm>
            <a:off x="813816" y="5934455"/>
            <a:ext cx="164592" cy="164592"/>
          </a:xfrm>
          <a:prstGeom prst="rect">
            <a:avLst/>
          </a:prstGeom>
        </p:spPr>
      </p:pic>
      <p:sp>
        <p:nvSpPr>
          <p:cNvPr id="31" name="TextBox 30"/>
          <p:cNvSpPr txBox="1"/>
          <p:nvPr/>
        </p:nvSpPr>
        <p:spPr>
          <a:xfrm>
            <a:off x="1225296" y="5733288"/>
            <a:ext cx="10232136" cy="566928"/>
          </a:xfrm>
          <a:prstGeom prst="rect">
            <a:avLst/>
          </a:prstGeom>
          <a:noFill/>
        </p:spPr>
        <p:txBody>
          <a:bodyPr wrap="square" anchor="ctr" lIns="45720" rIns="45720" tIns="27432" bIns="27432">
            <a:spAutoFit/>
          </a:bodyPr>
          <a:lstStyle/>
          <a:p>
            <a:pPr algn="l"/>
            <a:r>
              <a:rPr sz="1050" b="0">
                <a:solidFill>
                  <a:srgbClr val="0D1B3E"/>
                </a:solidFill>
                <a:latin typeface="Calibri"/>
              </a:rPr>
              <a:t>Dúvidas? O manual traz o capítulo 23 inteiro em linguagem simples, com exemplos e perguntas frequentes sobre o Imposto de Renda.</a:t>
            </a:r>
          </a:p>
        </p:txBody>
      </p:sp>
      <p:sp>
        <p:nvSpPr>
          <p:cNvPr id="32" name="TextBox 31"/>
          <p:cNvSpPr txBox="1"/>
          <p:nvPr/>
        </p:nvSpPr>
        <p:spPr>
          <a:xfrm>
            <a:off x="548640" y="6473952"/>
            <a:ext cx="7315200" cy="274320"/>
          </a:xfrm>
          <a:prstGeom prst="rect">
            <a:avLst/>
          </a:prstGeom>
          <a:noFill/>
        </p:spPr>
        <p:txBody>
          <a:bodyPr wrap="square" anchor="t" lIns="45720" rIns="45720" tIns="27432" bIns="27432">
            <a:spAutoFit/>
          </a:bodyPr>
          <a:lstStyle/>
          <a:p>
            <a:pPr algn="l"/>
            <a:r>
              <a:rPr sz="900" b="0">
                <a:solidFill>
                  <a:srgbClr val="7C89A8"/>
                </a:solidFill>
                <a:latin typeface="Calibri"/>
              </a:rPr>
              <a:t>BolsaTrader  ·  Manual Operacional do Sistema</a:t>
            </a:r>
          </a:p>
        </p:txBody>
      </p:sp>
      <p:sp>
        <p:nvSpPr>
          <p:cNvPr id="33" name="TextBox 32"/>
          <p:cNvSpPr txBox="1"/>
          <p:nvPr/>
        </p:nvSpPr>
        <p:spPr>
          <a:xfrm>
            <a:off x="10725912" y="6473952"/>
            <a:ext cx="914400" cy="274320"/>
          </a:xfrm>
          <a:prstGeom prst="rect">
            <a:avLst/>
          </a:prstGeom>
          <a:noFill/>
        </p:spPr>
        <p:txBody>
          <a:bodyPr wrap="square" anchor="t" lIns="45720" rIns="45720" tIns="27432" bIns="27432">
            <a:spAutoFit/>
          </a:bodyPr>
          <a:lstStyle/>
          <a:p>
            <a:pPr algn="r"/>
            <a:r>
              <a:rPr sz="900" b="0">
                <a:solidFill>
                  <a:srgbClr val="7C89A8"/>
                </a:solidFill>
                <a:latin typeface="Calibri"/>
              </a:rPr>
              <a:t>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BolsaTrader — Manual Operacional do Sistema</dc:title>
  <dc:subject>PptxGenJS Presentation</dc:subject>
  <dc:creator>BolsaTrader</dc:creator>
  <cp:lastModifiedBy>BolsaTrader</cp:lastModifiedBy>
  <cp:revision>1</cp:revision>
  <dcterms:created xsi:type="dcterms:W3CDTF">2026-09-22T15:41:23Z</dcterms:created>
  <dcterms:modified xsi:type="dcterms:W3CDTF">2026-09-22T15:41:23Z</dcterms:modified>
</cp:coreProperties>
</file>
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81" r:id="rId32"/>
    <p:sldId id="261" r:id="rId7"/>
    <p:sldId id="280" r:id="rId31"/>
    <p:sldId id="262" r:id="rId8"/>
    <p:sldId id="263" r:id="rId9"/>
    <p:sldId id="264" r:id="rId10"/>
    <p:sldId id="265" r:id="rId11"/>
    <p:sldId id="266" r:id="rId12"/>
    <p:sldId id="267" r:id="rId13"/>
    <p:sldId id="285" r:id="rId36"/>
    <p:sldId id="268" r:id="rId14"/>
    <p:sldId id="269" r:id="rId15"/>
    <p:sldId id="270" r:id="rId16"/>
    <p:sldId id="271" r:id="rId17"/>
    <p:sldId id="272" r:id="rId18"/>
    <p:sldId id="279" r:id="rId30"/>
    <p:sldId id="273" r:id="rId19"/>
    <p:sldId id="274" r:id="rId20"/>
    <p:sldId id="278" r:id="rId29"/>
    <p:sldId id="282" r:id="rId33"/>
    <p:sldId id="283" r:id="rId34"/>
    <p:sldId id="275" r:id="rId21"/>
    <p:sldId id="284" r:id="rId35"/>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4.xml"/><Relationship Id="rId30" Type="http://schemas.openxmlformats.org/officeDocument/2006/relationships/slide" Target="slides/slide21.xml"/><Relationship Id="rId31" Type="http://schemas.openxmlformats.org/officeDocument/2006/relationships/slide" Target="slides/slide8.xml"/><Relationship Id="rId32" Type="http://schemas.openxmlformats.org/officeDocument/2006/relationships/slide" Target="slides/slide6.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8.xml"/><Relationship Id="rId3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slideLayout" Target="../slideLayouts/slideLayout1.xml"/><Relationship Id="rId1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6264D"/>
          </a:solidFill>
          <a:ln/>
        </p:spPr>
        <p:txBody>
          <a:bodyPr/>
          <a:p/>
        </p:txBody>
      </p:sp>
      <p:sp>
        <p:nvSpPr>
          <p:cNvPr id="3" name="Shape 1"/>
          <p:cNvSpPr/>
          <p:nvPr/>
        </p:nvSpPr>
        <p:spPr>
          <a:xfrm>
            <a:off x="9509760" y="-1463040"/>
            <a:ext cx="4754880" cy="4754880"/>
          </a:xfrm>
          <a:prstGeom prst="ellipse">
            <a:avLst/>
          </a:prstGeom>
          <a:solidFill>
            <a:srgbClr val="081226"/>
          </a:solidFill>
          <a:ln/>
        </p:spPr>
        <p:txBody>
          <a:bodyPr/>
          <a:p/>
        </p:txBody>
      </p:sp>
      <p:sp>
        <p:nvSpPr>
          <p:cNvPr id="4" name="Shape 2"/>
          <p:cNvSpPr/>
          <p:nvPr/>
        </p:nvSpPr>
        <p:spPr>
          <a:xfrm>
            <a:off x="10515600" y="4206240"/>
            <a:ext cx="2926080" cy="2926080"/>
          </a:xfrm>
          <a:prstGeom prst="ellipse">
            <a:avLst/>
          </a:prstGeom>
          <a:solidFill>
            <a:srgbClr val="081226"/>
          </a:solidFill>
          <a:ln/>
        </p:spPr>
        <p:txBody>
          <a:bodyPr/>
          <a:p/>
        </p:txBody>
      </p:sp>
      <p:sp>
        <p:nvSpPr>
          <p:cNvPr id="5" name="Shape 3"/>
          <p:cNvSpPr/>
          <p:nvPr/>
        </p:nvSpPr>
        <p:spPr>
          <a:xfrm>
            <a:off x="8732520" y="2788920"/>
            <a:ext cx="1234440" cy="1234440"/>
          </a:xfrm>
          <a:prstGeom prst="ellipse">
            <a:avLst/>
          </a:prstGeom>
          <a:solidFill>
            <a:srgbClr val="00D68F"/>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043416" y="3099816"/>
            <a:ext cx="612648" cy="612648"/>
          </a:xfrm>
          <a:prstGeom prst="rect">
            <a:avLst/>
          </a:prstGeom>
        </p:spPr>
      </p:pic>
      <p:sp>
        <p:nvSpPr>
          <p:cNvPr id="7" name="Text 4"/>
          <p:cNvSpPr/>
          <p:nvPr/>
        </p:nvSpPr>
        <p:spPr>
          <a:xfrm>
            <a:off x="548640" y="2084832"/>
            <a:ext cx="7498080" cy="457200"/>
          </a:xfrm>
          <a:prstGeom prst="rect">
            <a:avLst/>
          </a:prstGeom>
          <a:noFill/>
          <a:ln/>
        </p:spPr>
        <p:txBody>
          <a:bodyPr wrap="square" lIns="0" tIns="0" rIns="0" bIns="0" rtlCol="0" anchor="ctr"/>
          <a:lstStyle/>
          <a:p>
            <a:pPr indent="0" marL="0">
              <a:buNone/>
            </a:pPr>
            <a:r>
              <a:rPr lang="en-US" sz="1600" b="1" spc="300" kern="0" dirty="0">
                <a:solidFill>
                  <a:srgbClr val="00D68F"/>
                </a:solidFill>
                <a:latin typeface="Calibri" pitchFamily="34" charset="0"/>
                <a:ea typeface="Calibri" pitchFamily="34" charset="-122"/>
                <a:cs typeface="Calibri" pitchFamily="34" charset="-120"/>
              </a:rPr>
              <a:t>⚡ BOLSATRADER</a:t>
            </a:r>
            <a:endParaRPr lang="en-US" sz="1600" dirty="0"/>
          </a:p>
        </p:txBody>
      </p:sp>
      <p:sp>
        <p:nvSpPr>
          <p:cNvPr id="8" name="Text 5"/>
          <p:cNvSpPr/>
          <p:nvPr/>
        </p:nvSpPr>
        <p:spPr>
          <a:xfrm>
            <a:off x="548640" y="2514600"/>
            <a:ext cx="7498080" cy="1371600"/>
          </a:xfrm>
          <a:prstGeom prst="rect">
            <a:avLst/>
          </a:prstGeom>
          <a:noFill/>
          <a:ln/>
        </p:spPr>
        <p:txBody>
          <a:bodyPr wrap="square" lIns="0" tIns="0" rIns="0" bIns="0" rtlCol="0" anchor="ctr"/>
          <a:lstStyle/>
          <a:p>
            <a:pPr indent="0" marL="0">
              <a:lnSpc>
                <a:spcPct val="102000"/>
              </a:lnSpc>
              <a:buNone/>
            </a:pPr>
            <a:r>
              <a:rPr lang="en-US" sz="4200" b="1" dirty="0">
                <a:solidFill>
                  <a:srgbClr val="FFFFFF"/>
                </a:solidFill>
                <a:latin typeface="Calibri" pitchFamily="34" charset="0"/>
                <a:ea typeface="Calibri" pitchFamily="34" charset="-122"/>
                <a:cs typeface="Calibri" pitchFamily="34" charset="-120"/>
              </a:rPr>
              <a:t>Manual Operacional do Sistema</a:t>
            </a:r>
            <a:endParaRPr lang="en-US" sz="4200" dirty="0"/>
          </a:p>
        </p:txBody>
      </p:sp>
      <p:sp>
        <p:nvSpPr>
          <p:cNvPr id="9" name="Text 6"/>
          <p:cNvSpPr/>
          <p:nvPr/>
        </p:nvSpPr>
        <p:spPr>
          <a:xfrm>
            <a:off x="548640" y="3611880"/>
            <a:ext cx="6949440" cy="777240"/>
          </a:xfrm>
          <a:prstGeom prst="rect">
            <a:avLst/>
          </a:prstGeom>
          <a:noFill/>
          <a:ln/>
        </p:spPr>
        <p:txBody>
          <a:bodyPr wrap="square" lIns="0" tIns="0" rIns="0" bIns="0" rtlCol="0" anchor="ctr"/>
          <a:lstStyle/>
          <a:p>
            <a:pPr indent="0" marL="0">
              <a:lnSpc>
                <a:spcPct val="125000"/>
              </a:lnSpc>
              <a:buNone/>
            </a:pPr>
            <a:r>
              <a:rPr lang="en-US" sz="1450" dirty="0">
                <a:solidFill>
                  <a:srgbClr val="CADCFC"/>
                </a:solidFill>
                <a:latin typeface="Calibri" pitchFamily="34" charset="0"/>
                <a:ea typeface="Calibri" pitchFamily="34" charset="-122"/>
                <a:cs typeface="Calibri" pitchFamily="34" charset="-120"/>
              </a:rPr>
              <a:t>Guia completo de uso de todas as telas e funcionalidades da plataforma de acompanhamento de carteira na B3</a:t>
            </a:r>
            <a:endParaRPr lang="en-US" sz="1450" dirty="0"/>
          </a:p>
        </p:txBody>
      </p:sp>
      <p:sp>
        <p:nvSpPr>
          <p:cNvPr id="10" name="Text 7"/>
          <p:cNvSpPr/>
          <p:nvPr/>
        </p:nvSpPr>
        <p:spPr>
          <a:xfrm>
            <a:off x="548640" y="4892040"/>
            <a:ext cx="6400800" cy="292608"/>
          </a:xfrm>
          <a:prstGeom prst="rect">
            <a:avLst/>
          </a:prstGeom>
          <a:noFill/>
          <a:ln/>
        </p:spPr>
        <p:txBody>
          <a:bodyPr wrap="square" lIns="0" tIns="0" rIns="0" bIns="0" rtlCol="0" anchor="ctr"/>
          <a:lstStyle/>
          <a:p>
            <a:pPr indent="0" marL="0">
              <a:buNone/>
            </a:pPr>
            <a:r>
              <a:rPr lang="en-US" sz="1150" dirty="0">
                <a:solidFill>
                  <a:srgbClr val="8FA3CE"/>
                </a:solidFill>
                <a:latin typeface="Calibri" pitchFamily="34" charset="0"/>
                <a:ea typeface="Calibri" pitchFamily="34" charset="-122"/>
                <a:cs typeface="Calibri" pitchFamily="34" charset="-120"/>
              </a:rPr>
              <a:t>Versão do documento  ·  10/2026 (revisão 14/10/2026)</a:t>
            </a:r>
            <a:pPr indent="0" marL="0">
              <a:buNone/>
            </a:pPr>
            <a:endParaRPr lang="en-US" sz="1150" dirty="0"/>
          </a:p>
        </p:txBody>
      </p:sp>
      <p:sp>
        <p:nvSpPr>
          <p:cNvPr id="11" name="Shape 8"/>
          <p:cNvSpPr/>
          <p:nvPr/>
        </p:nvSpPr>
        <p:spPr>
          <a:xfrm>
            <a:off x="548640" y="5349240"/>
            <a:ext cx="6035040" cy="566928"/>
          </a:xfrm>
          <a:prstGeom prst="roundRect">
            <a:avLst>
              <a:gd name="adj" fmla="val 12903"/>
            </a:avLst>
          </a:prstGeom>
          <a:solidFill>
            <a:srgbClr val="081226"/>
          </a:solidFill>
          <a:ln w="12700">
            <a:solidFill>
              <a:srgbClr val="2A3A66"/>
            </a:solidFill>
            <a:prstDash val="solid"/>
          </a:ln>
        </p:spPr>
        <p:txBody>
          <a:bodyPr/>
          <a:p/>
        </p:txBody>
      </p:sp>
      <p:sp>
        <p:nvSpPr>
          <p:cNvPr id="12" name="Shape 9"/>
          <p:cNvSpPr/>
          <p:nvPr/>
        </p:nvSpPr>
        <p:spPr>
          <a:xfrm>
            <a:off x="694944" y="5477256"/>
            <a:ext cx="310896" cy="310896"/>
          </a:xfrm>
          <a:prstGeom prst="ellipse">
            <a:avLst/>
          </a:prstGeom>
          <a:solidFill>
            <a:srgbClr val="E1495A"/>
          </a:solidFill>
          <a:ln/>
        </p:spPr>
        <p:txBody>
          <a:bodyPr/>
          <a:p/>
        </p:txBody>
      </p:sp>
      <p:pic>
        <p:nvPicPr>
          <p:cNvPr id="13" name="Image 1" descr="C:\Users\PC ANTONIO\AppData\Roaming\Claude\scratch-workspaces\f0f5d1bc-bf72-4611-a8ea-e50e459a0a45\08c0c592-3fff-44bf-a144-086c85aaeea0\scratch-2026-09-22-98642c\icons\shield.png">    </p:cNvPr>
          <p:cNvPicPr>
            <a:picLocks noChangeAspect="1"/>
          </p:cNvPicPr>
          <p:nvPr/>
        </p:nvPicPr>
        <p:blipFill>
          <a:blip r:embed="rId2"/>
          <a:stretch>
            <a:fillRect/>
          </a:stretch>
        </p:blipFill>
        <p:spPr>
          <a:xfrm>
            <a:off x="757123" y="5539435"/>
            <a:ext cx="186538" cy="186538"/>
          </a:xfrm>
          <a:prstGeom prst="rect">
            <a:avLst/>
          </a:prstGeom>
        </p:spPr>
      </p:pic>
      <p:sp>
        <p:nvSpPr>
          <p:cNvPr id="14" name="Text 10"/>
          <p:cNvSpPr/>
          <p:nvPr/>
        </p:nvSpPr>
        <p:spPr>
          <a:xfrm>
            <a:off x="1133856" y="5349240"/>
            <a:ext cx="5358384" cy="56692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Uso educacional — não constitui recomendação de investimento</a:t>
            </a:r>
            <a:endParaRPr lang="en-US" sz="10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3E"/>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00  </a:t>
            </a:r>
            <a:pPr indent="0" marL="0">
              <a:buNone/>
            </a:pPr>
            <a:r>
              <a:rPr lang="en-US" sz="1250" b="1" spc="200" kern="0" dirty="0">
                <a:solidFill>
                  <a:srgbClr val="8FA3CE"/>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O que vamos percorrer</a:t>
            </a:r>
            <a:endParaRPr lang="en-US" sz="3000" dirty="0"/>
          </a:p>
        </p:txBody>
      </p:sp>
      <p:sp>
        <p:nvSpPr>
          <p:cNvPr id="4" name="Text 2"/>
          <p:cNvSpPr/>
          <p:nvPr/>
        </p:nvSpPr>
        <p:spPr>
          <a:xfrm>
            <a:off x="548640"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01</a:t>
            </a:r>
            <a:endParaRPr lang="en-US" sz="1700" dirty="0"/>
          </a:p>
        </p:txBody>
      </p:sp>
      <p:sp>
        <p:nvSpPr>
          <p:cNvPr id="5" name="Text 3"/>
          <p:cNvSpPr/>
          <p:nvPr/>
        </p:nvSpPr>
        <p:spPr>
          <a:xfrm>
            <a:off x="1097280"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Visão geral do sistema</a:t>
            </a:r>
            <a:endParaRPr lang="en-US" sz="1350" dirty="0"/>
          </a:p>
        </p:txBody>
      </p:sp>
      <p:sp>
        <p:nvSpPr>
          <p:cNvPr id="6" name="Text 4"/>
          <p:cNvSpPr/>
          <p:nvPr/>
        </p:nvSpPr>
        <p:spPr>
          <a:xfrm>
            <a:off x="548640"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02</a:t>
            </a:r>
            <a:endParaRPr lang="en-US" sz="1700" dirty="0"/>
          </a:p>
        </p:txBody>
      </p:sp>
      <p:sp>
        <p:nvSpPr>
          <p:cNvPr id="7" name="Text 5"/>
          <p:cNvSpPr/>
          <p:nvPr/>
        </p:nvSpPr>
        <p:spPr>
          <a:xfrm>
            <a:off x="1097280"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Público-alvo e convenções</a:t>
            </a:r>
            <a:endParaRPr lang="en-US" sz="1350" dirty="0"/>
          </a:p>
        </p:txBody>
      </p:sp>
      <p:sp>
        <p:nvSpPr>
          <p:cNvPr id="8" name="Text 6"/>
          <p:cNvSpPr/>
          <p:nvPr/>
        </p:nvSpPr>
        <p:spPr>
          <a:xfrm>
            <a:off x="548640"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03</a:t>
            </a:r>
            <a:endParaRPr lang="en-US" sz="1700" dirty="0"/>
          </a:p>
        </p:txBody>
      </p:sp>
      <p:sp>
        <p:nvSpPr>
          <p:cNvPr id="9" name="Text 7"/>
          <p:cNvSpPr/>
          <p:nvPr/>
        </p:nvSpPr>
        <p:spPr>
          <a:xfrm>
            <a:off x="1097280"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Acesso ao sistema e segurança</a:t>
            </a:r>
            <a:endParaRPr lang="en-US" sz="1350" dirty="0"/>
          </a:p>
        </p:txBody>
      </p:sp>
      <p:sp>
        <p:nvSpPr>
          <p:cNvPr id="10" name="Text 8"/>
          <p:cNvSpPr/>
          <p:nvPr/>
        </p:nvSpPr>
        <p:spPr>
          <a:xfrm>
            <a:off x="548640"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04</a:t>
            </a:r>
            <a:endParaRPr lang="en-US" sz="1700" dirty="0"/>
          </a:p>
        </p:txBody>
      </p:sp>
      <p:sp>
        <p:nvSpPr>
          <p:cNvPr id="11" name="Text 9"/>
          <p:cNvSpPr/>
          <p:nvPr/>
        </p:nvSpPr>
        <p:spPr>
          <a:xfrm>
            <a:off x="1097280"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Navegação, menu e comando de voz</a:t>
            </a:r>
            <a:endParaRPr lang="en-US" sz="1350" dirty="0"/>
          </a:p>
        </p:txBody>
      </p:sp>
      <p:sp>
        <p:nvSpPr>
          <p:cNvPr id="12" name="Text 10"/>
          <p:cNvSpPr/>
          <p:nvPr/>
        </p:nvSpPr>
        <p:spPr>
          <a:xfrm>
            <a:off x="548640"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05</a:t>
            </a:r>
            <a:endParaRPr lang="en-US" sz="1700" dirty="0"/>
          </a:p>
        </p:txBody>
      </p:sp>
      <p:sp>
        <p:nvSpPr>
          <p:cNvPr id="13" name="Text 11"/>
          <p:cNvSpPr/>
          <p:nvPr/>
        </p:nvSpPr>
        <p:spPr>
          <a:xfrm>
            <a:off x="1097280"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Painel de controle (dashboard)</a:t>
            </a:r>
            <a:endParaRPr lang="en-US" sz="1350" dirty="0"/>
          </a:p>
        </p:txBody>
      </p:sp>
      <p:sp>
        <p:nvSpPr>
          <p:cNvPr id="14" name="Text 12"/>
          <p:cNvSpPr/>
          <p:nvPr/>
        </p:nvSpPr>
        <p:spPr>
          <a:xfrm>
            <a:off x="548640"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06</a:t>
            </a:r>
            <a:endParaRPr lang="en-US" sz="1700" dirty="0"/>
          </a:p>
        </p:txBody>
      </p:sp>
      <p:sp>
        <p:nvSpPr>
          <p:cNvPr id="15" name="Text 13"/>
          <p:cNvSpPr/>
          <p:nvPr/>
        </p:nvSpPr>
        <p:spPr>
          <a:xfrm>
            <a:off x="1097280"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Minhas operações (compra/venda)</a:t>
            </a:r>
            <a:endParaRPr lang="en-US" sz="1350" dirty="0"/>
          </a:p>
        </p:txBody>
      </p:sp>
      <p:sp>
        <p:nvSpPr>
          <p:cNvPr id="16" name="Text 14"/>
          <p:cNvSpPr/>
          <p:nvPr/>
        </p:nvSpPr>
        <p:spPr>
          <a:xfrm>
            <a:off x="6370168"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07</a:t>
            </a:r>
            <a:endParaRPr lang="en-US" sz="1700" dirty="0"/>
          </a:p>
        </p:txBody>
      </p:sp>
      <p:sp>
        <p:nvSpPr>
          <p:cNvPr id="17" name="Text 15"/>
          <p:cNvSpPr/>
          <p:nvPr/>
        </p:nvSpPr>
        <p:spPr>
          <a:xfrm>
            <a:off x="6918808"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Posições em carteira e risco</a:t>
            </a:r>
            <a:endParaRPr lang="en-US" sz="1350" dirty="0"/>
          </a:p>
        </p:txBody>
      </p:sp>
      <p:sp>
        <p:nvSpPr>
          <p:cNvPr id="18" name="Text 16"/>
          <p:cNvSpPr/>
          <p:nvPr/>
        </p:nvSpPr>
        <p:spPr>
          <a:xfrm>
            <a:off x="6370168"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08</a:t>
            </a:r>
            <a:endParaRPr lang="en-US" sz="1700" dirty="0"/>
          </a:p>
        </p:txBody>
      </p:sp>
      <p:sp>
        <p:nvSpPr>
          <p:cNvPr id="19" name="Text 17"/>
          <p:cNvSpPr/>
          <p:nvPr/>
        </p:nvSpPr>
        <p:spPr>
          <a:xfrm>
            <a:off x="6918808"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Robô consultor e backtesting</a:t>
            </a:r>
            <a:endParaRPr lang="en-US" sz="1350" dirty="0"/>
          </a:p>
        </p:txBody>
      </p:sp>
      <p:sp>
        <p:nvSpPr>
          <p:cNvPr id="20" name="Text 18"/>
          <p:cNvSpPr/>
          <p:nvPr/>
        </p:nvSpPr>
        <p:spPr>
          <a:xfrm>
            <a:off x="6370168"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09</a:t>
            </a:r>
            <a:endParaRPr lang="en-US" sz="1700" dirty="0"/>
          </a:p>
        </p:txBody>
      </p:sp>
      <p:sp>
        <p:nvSpPr>
          <p:cNvPr id="21" name="Text 19"/>
          <p:cNvSpPr/>
          <p:nvPr/>
        </p:nvSpPr>
        <p:spPr>
          <a:xfrm>
            <a:off x="6918808"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Análise de mercado e scanner técnico</a:t>
            </a:r>
            <a:endParaRPr lang="en-US" sz="1350" dirty="0"/>
          </a:p>
        </p:txBody>
      </p:sp>
      <p:sp>
        <p:nvSpPr>
          <p:cNvPr id="22" name="Text 20"/>
          <p:cNvSpPr/>
          <p:nvPr/>
        </p:nvSpPr>
        <p:spPr>
          <a:xfrm>
            <a:off x="6370168"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10</a:t>
            </a:r>
            <a:endParaRPr lang="en-US" sz="1700" dirty="0"/>
          </a:p>
        </p:txBody>
      </p:sp>
      <p:sp>
        <p:nvSpPr>
          <p:cNvPr id="23" name="Text 21"/>
          <p:cNvSpPr/>
          <p:nvPr/>
        </p:nvSpPr>
        <p:spPr>
          <a:xfrm>
            <a:off x="6918808"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Histórico, cotações, IFR e registros</a:t>
            </a:r>
            <a:endParaRPr lang="en-US" sz="1350" dirty="0"/>
          </a:p>
        </p:txBody>
      </p:sp>
      <p:sp>
        <p:nvSpPr>
          <p:cNvPr id="24" name="Text 22"/>
          <p:cNvSpPr/>
          <p:nvPr/>
        </p:nvSpPr>
        <p:spPr>
          <a:xfrm>
            <a:off x="6370168"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11</a:t>
            </a:r>
            <a:endParaRPr lang="en-US" sz="1700" dirty="0"/>
          </a:p>
        </p:txBody>
      </p:sp>
      <p:sp>
        <p:nvSpPr>
          <p:cNvPr id="25" name="Text 23"/>
          <p:cNvSpPr/>
          <p:nvPr/>
        </p:nvSpPr>
        <p:spPr>
          <a:xfrm>
            <a:off x="6918808"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Notícias, TradingView, alertas e WhatsApp</a:t>
            </a:r>
            <a:endParaRPr lang="en-US" sz="1350" dirty="0"/>
          </a:p>
        </p:txBody>
      </p:sp>
      <p:sp>
        <p:nvSpPr>
          <p:cNvPr id="26" name="Text 24"/>
          <p:cNvSpPr/>
          <p:nvPr/>
        </p:nvSpPr>
        <p:spPr>
          <a:xfrm>
            <a:off x="6370168"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12</a:t>
            </a:r>
            <a:endParaRPr lang="en-US" sz="1700" dirty="0"/>
          </a:p>
        </p:txBody>
      </p:sp>
      <p:sp>
        <p:nvSpPr>
          <p:cNvPr id="27" name="Text 25"/>
          <p:cNvSpPr/>
          <p:nvPr/>
        </p:nvSpPr>
        <p:spPr>
          <a:xfrm>
            <a:off x="6918808"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Conta corrente, cripto, apoio à decisão e configurações</a:t>
            </a:r>
            <a:endParaRPr lang="en-US" sz="1350" dirty="0"/>
          </a:p>
        </p:txBody>
      </p:sp>
      <p:sp>
        <p:nvSpPr>
          <p:cNvPr id="28" name="Text 2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9" name="Text 2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  </a:t>
            </a:r>
            <a:pPr indent="0" marL="0">
              <a:buNone/>
            </a:pPr>
            <a:r>
              <a:rPr lang="en-US" sz="1250" b="1" spc="200" kern="0" dirty="0">
                <a:solidFill>
                  <a:srgbClr val="00D68F"/>
                </a:solidFill>
                <a:latin typeface="Calibri" pitchFamily="34" charset="0"/>
                <a:ea typeface="Calibri" pitchFamily="34" charset="-122"/>
                <a:cs typeface="Calibri" pitchFamily="34" charset="-120"/>
              </a:rPr>
              <a:t>VISÃO GERAL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O que é o BolsaTrader</a:t>
            </a:r>
            <a:endParaRPr lang="en-US" sz="3000" dirty="0"/>
          </a:p>
        </p:txBody>
      </p:sp>
      <p:sp>
        <p:nvSpPr>
          <p:cNvPr id="4" name="Text 2"/>
          <p:cNvSpPr/>
          <p:nvPr/>
        </p:nvSpPr>
        <p:spPr>
          <a:xfrm>
            <a:off x="548640" y="1417320"/>
            <a:ext cx="11094415" cy="685800"/>
          </a:xfrm>
          <a:prstGeom prst="rect">
            <a:avLst/>
          </a:prstGeom>
          <a:noFill/>
          <a:ln/>
        </p:spPr>
        <p:txBody>
          <a:bodyPr wrap="square" lIns="0" tIns="0" rIns="0" bIns="0" rtlCol="0" anchor="ctr"/>
          <a:lstStyle/>
          <a:p>
            <a:pPr indent="0" marL="0">
              <a:lnSpc>
                <a:spcPct val="125000"/>
              </a:lnSpc>
              <a:buNone/>
            </a:pPr>
            <a:r>
              <a:rPr lang="en-US" sz="1300" dirty="0">
                <a:solidFill>
                  <a:srgbClr val="40496B"/>
                </a:solidFill>
                <a:latin typeface="Calibri" pitchFamily="34" charset="0"/>
                <a:ea typeface="Calibri" pitchFamily="34" charset="-122"/>
                <a:cs typeface="Calibri" pitchFamily="34" charset="-120"/>
              </a:rPr>
              <a:t>Sistema web de acompanhamento de compra e venda de ações da B3. Registra operações, calcula lucro/perda automaticamente, acompanha cotações diárias, compara o desempenho da carteira com o mercado e conta com um robô consultor que analisa indicadores técnicos.</a:t>
            </a:r>
            <a:endParaRPr lang="en-US" sz="1300" dirty="0"/>
          </a:p>
        </p:txBody>
      </p:sp>
      <p:sp>
        <p:nvSpPr>
          <p:cNvPr id="5" name="Shape 3"/>
          <p:cNvSpPr/>
          <p:nvPr/>
        </p:nvSpPr>
        <p:spPr>
          <a:xfrm>
            <a:off x="548640"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56946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wallet.png">    </p:cNvPr>
          <p:cNvPicPr>
            <a:picLocks noChangeAspect="1"/>
          </p:cNvPicPr>
          <p:nvPr/>
        </p:nvPicPr>
        <p:blipFill>
          <a:blip r:embed="rId1"/>
          <a:stretch>
            <a:fillRect/>
          </a:stretch>
        </p:blipFill>
        <p:spPr>
          <a:xfrm>
            <a:off x="923544" y="2688336"/>
            <a:ext cx="219456" cy="219456"/>
          </a:xfrm>
          <a:prstGeom prst="rect">
            <a:avLst/>
          </a:prstGeom>
        </p:spPr>
      </p:pic>
      <p:sp>
        <p:nvSpPr>
          <p:cNvPr id="8" name="Text 5"/>
          <p:cNvSpPr/>
          <p:nvPr/>
        </p:nvSpPr>
        <p:spPr>
          <a:xfrm>
            <a:off x="1426464"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Registro de operações</a:t>
            </a:r>
            <a:endParaRPr lang="en-US" sz="1350" dirty="0"/>
          </a:p>
        </p:txBody>
      </p:sp>
      <p:sp>
        <p:nvSpPr>
          <p:cNvPr id="9" name="Text 6"/>
          <p:cNvSpPr/>
          <p:nvPr/>
        </p:nvSpPr>
        <p:spPr>
          <a:xfrm>
            <a:off x="804672"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Compras, vendas e reservas de intenção de compra, com cálculo automático de lucro/perda por lote.</a:t>
            </a:r>
            <a:endParaRPr lang="en-US" sz="1050" dirty="0"/>
          </a:p>
        </p:txBody>
      </p:sp>
      <p:sp>
        <p:nvSpPr>
          <p:cNvPr id="10" name="Shape 7"/>
          <p:cNvSpPr/>
          <p:nvPr/>
        </p:nvSpPr>
        <p:spPr>
          <a:xfrm>
            <a:off x="6278728"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56946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6653632" y="2688336"/>
            <a:ext cx="219456" cy="219456"/>
          </a:xfrm>
          <a:prstGeom prst="rect">
            <a:avLst/>
          </a:prstGeom>
        </p:spPr>
      </p:pic>
      <p:sp>
        <p:nvSpPr>
          <p:cNvPr id="13" name="Text 9"/>
          <p:cNvSpPr/>
          <p:nvPr/>
        </p:nvSpPr>
        <p:spPr>
          <a:xfrm>
            <a:off x="7156552"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Cotações diárias</a:t>
            </a:r>
            <a:endParaRPr lang="en-US" sz="1350" dirty="0"/>
          </a:p>
        </p:txBody>
      </p:sp>
      <p:sp>
        <p:nvSpPr>
          <p:cNvPr id="14" name="Text 10"/>
          <p:cNvSpPr/>
          <p:nvPr/>
        </p:nvSpPr>
        <p:spPr>
          <a:xfrm>
            <a:off x="6534760"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Acompanhamento automático dos preços dos ativos comprados e reservados, com histórico e gráficos.</a:t>
            </a:r>
            <a:endParaRPr lang="en-US" sz="1050" dirty="0"/>
          </a:p>
        </p:txBody>
      </p:sp>
      <p:sp>
        <p:nvSpPr>
          <p:cNvPr id="15" name="Shape 11"/>
          <p:cNvSpPr/>
          <p:nvPr/>
        </p:nvSpPr>
        <p:spPr>
          <a:xfrm>
            <a:off x="548640"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416552"/>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pieChart.png">    </p:cNvPr>
          <p:cNvPicPr>
            <a:picLocks noChangeAspect="1"/>
          </p:cNvPicPr>
          <p:nvPr/>
        </p:nvPicPr>
        <p:blipFill>
          <a:blip r:embed="rId3"/>
          <a:stretch>
            <a:fillRect/>
          </a:stretch>
        </p:blipFill>
        <p:spPr>
          <a:xfrm>
            <a:off x="923544" y="4535424"/>
            <a:ext cx="219456" cy="219456"/>
          </a:xfrm>
          <a:prstGeom prst="rect">
            <a:avLst/>
          </a:prstGeom>
        </p:spPr>
      </p:pic>
      <p:sp>
        <p:nvSpPr>
          <p:cNvPr id="18" name="Text 13"/>
          <p:cNvSpPr/>
          <p:nvPr/>
        </p:nvSpPr>
        <p:spPr>
          <a:xfrm>
            <a:off x="1426464"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Carteira x mercado</a:t>
            </a:r>
            <a:endParaRPr lang="en-US" sz="1350" dirty="0"/>
          </a:p>
        </p:txBody>
      </p:sp>
      <p:sp>
        <p:nvSpPr>
          <p:cNvPr id="19" name="Text 14"/>
          <p:cNvSpPr/>
          <p:nvPr/>
        </p:nvSpPr>
        <p:spPr>
          <a:xfrm>
            <a:off x="804672"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o retorno da carteira com o Ibovespa e o CDI acumulado no mesmo período.</a:t>
            </a:r>
            <a:endParaRPr lang="en-US" sz="1050" dirty="0"/>
          </a:p>
        </p:txBody>
      </p:sp>
      <p:sp>
        <p:nvSpPr>
          <p:cNvPr id="20" name="Shape 15"/>
          <p:cNvSpPr/>
          <p:nvPr/>
        </p:nvSpPr>
        <p:spPr>
          <a:xfrm>
            <a:off x="6278728"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6"/>
          <p:cNvSpPr/>
          <p:nvPr/>
        </p:nvSpPr>
        <p:spPr>
          <a:xfrm>
            <a:off x="6534760" y="4416552"/>
            <a:ext cx="457200" cy="457200"/>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robot.png">    </p:cNvPr>
          <p:cNvPicPr>
            <a:picLocks noChangeAspect="1"/>
          </p:cNvPicPr>
          <p:nvPr/>
        </p:nvPicPr>
        <p:blipFill>
          <a:blip r:embed="rId4"/>
          <a:stretch>
            <a:fillRect/>
          </a:stretch>
        </p:blipFill>
        <p:spPr>
          <a:xfrm>
            <a:off x="6653632" y="4535424"/>
            <a:ext cx="219456" cy="219456"/>
          </a:xfrm>
          <a:prstGeom prst="rect">
            <a:avLst/>
          </a:prstGeom>
        </p:spPr>
      </p:pic>
      <p:sp>
        <p:nvSpPr>
          <p:cNvPr id="23" name="Text 17"/>
          <p:cNvSpPr/>
          <p:nvPr/>
        </p:nvSpPr>
        <p:spPr>
          <a:xfrm>
            <a:off x="7156552"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Robô consultor</a:t>
            </a:r>
            <a:endParaRPr lang="en-US" sz="1350" dirty="0"/>
          </a:p>
        </p:txBody>
      </p:sp>
      <p:sp>
        <p:nvSpPr>
          <p:cNvPr id="24" name="Text 18"/>
          <p:cNvSpPr/>
          <p:nvPr/>
        </p:nvSpPr>
        <p:spPr>
          <a:xfrm>
            <a:off x="6534760"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Analisa tendência, RSI e MACD e sugere sinais de compra/venda, com reserva automática.</a:t>
            </a:r>
            <a:endParaRPr lang="en-US" sz="1050" dirty="0"/>
          </a:p>
        </p:txBody>
      </p:sp>
      <p:sp>
        <p:nvSpPr>
          <p:cNvPr id="25" name="Shape 19"/>
          <p:cNvSpPr/>
          <p:nvPr/>
        </p:nvSpPr>
        <p:spPr>
          <a:xfrm>
            <a:off x="548640" y="5870448"/>
            <a:ext cx="11094415" cy="548640"/>
          </a:xfrm>
          <a:prstGeom prst="roundRect">
            <a:avLst>
              <a:gd name="adj" fmla="val 13333"/>
            </a:avLst>
          </a:prstGeom>
          <a:solidFill>
            <a:srgbClr val="FDECEE"/>
          </a:solidFill>
          <a:ln/>
        </p:spPr>
        <p:txBody>
          <a:bodyPr/>
          <a:p/>
        </p:txBody>
      </p:sp>
      <p:sp>
        <p:nvSpPr>
          <p:cNvPr id="26" name="Shape 20"/>
          <p:cNvSpPr/>
          <p:nvPr/>
        </p:nvSpPr>
        <p:spPr>
          <a:xfrm>
            <a:off x="731520" y="5980176"/>
            <a:ext cx="329184" cy="329184"/>
          </a:xfrm>
          <a:prstGeom prst="ellipse">
            <a:avLst/>
          </a:prstGeom>
          <a:solidFill>
            <a:srgbClr val="E1495A"/>
          </a:solidFill>
          <a:ln/>
        </p:spPr>
        <p:txBody>
          <a:bodyPr/>
          <a:p/>
        </p:txBody>
      </p:sp>
      <p:pic>
        <p:nvPicPr>
          <p:cNvPr id="27" name="Image 4" descr="C:\Users\PC ANTONIO\AppData\Roaming\Claude\scratch-workspaces\f0f5d1bc-bf72-4611-a8ea-e50e459a0a45\08c0c592-3fff-44bf-a144-086c85aaeea0\scratch-2026-09-22-98642c\icons\alert.png">    </p:cNvPr>
          <p:cNvPicPr>
            <a:picLocks noChangeAspect="1"/>
          </p:cNvPicPr>
          <p:nvPr/>
        </p:nvPicPr>
        <p:blipFill>
          <a:blip r:embed="rId5"/>
          <a:stretch>
            <a:fillRect/>
          </a:stretch>
        </p:blipFill>
        <p:spPr>
          <a:xfrm>
            <a:off x="803940" y="6052596"/>
            <a:ext cx="184343" cy="184343"/>
          </a:xfrm>
          <a:prstGeom prst="rect">
            <a:avLst/>
          </a:prstGeom>
        </p:spPr>
      </p:pic>
      <p:sp>
        <p:nvSpPr>
          <p:cNvPr id="28" name="Text 21"/>
          <p:cNvSpPr/>
          <p:nvPr/>
        </p:nvSpPr>
        <p:spPr>
          <a:xfrm>
            <a:off x="1225296" y="5961888"/>
            <a:ext cx="10234879" cy="3657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Nenhuma informação, sinal ou indicador do sistema constitui recomendação de investimento. Decisões de compra e venda são de inteira responsabilidade do usuário.</a:t>
            </a:r>
            <a:endParaRPr lang="en-US" sz="1050" dirty="0"/>
          </a:p>
        </p:txBody>
      </p:sp>
      <p:sp>
        <p:nvSpPr>
          <p:cNvPr id="29"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01.1  </a:t>
            </a:r>
            <a:pPr indent="0" marL="0">
              <a:buNone/>
            </a:pPr>
            <a:r>
              <a:rPr lang="en-US" sz="1250" b="1" spc="200" kern="0" dirty="0">
                <a:solidFill>
                  <a:srgbClr val="00D68F"/>
                </a:solidFill>
                <a:latin typeface="Calibri" pitchFamily="34" charset="0"/>
                <a:ea typeface="Calibri" pitchFamily="34" charset="-122"/>
                <a:cs typeface="Calibri" pitchFamily="34" charset="-120"/>
              </a:rPr>
              <a:t>ESCOPO DO MANUAL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Público-alvo e convenções do documento</a:t>
            </a:r>
            <a:endParaRPr lang="en-US" sz="3000" dirty="0"/>
          </a:p>
        </p:txBody>
      </p:sp>
      <p:sp>
        <p:nvSpPr>
          <p:cNvPr id="4" name="Shape 2"/>
          <p:cNvSpPr/>
          <p:nvPr/>
        </p:nvSpPr>
        <p:spPr>
          <a:xfrm>
            <a:off x="548640"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83794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users.png">    </p:cNvPr>
          <p:cNvPicPr>
            <a:picLocks noChangeAspect="1"/>
          </p:cNvPicPr>
          <p:nvPr/>
        </p:nvPicPr>
        <p:blipFill>
          <a:blip r:embed="rId1"/>
          <a:stretch>
            <a:fillRect/>
          </a:stretch>
        </p:blipFill>
        <p:spPr>
          <a:xfrm>
            <a:off x="923544" y="1956816"/>
            <a:ext cx="219456" cy="219456"/>
          </a:xfrm>
          <a:prstGeom prst="rect">
            <a:avLst/>
          </a:prstGeom>
        </p:spPr>
      </p:pic>
      <p:sp>
        <p:nvSpPr>
          <p:cNvPr id="7" name="Text 4"/>
          <p:cNvSpPr/>
          <p:nvPr/>
        </p:nvSpPr>
        <p:spPr>
          <a:xfrm>
            <a:off x="1426464"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Para quem é este manual</a:t>
            </a:r>
            <a:endParaRPr lang="en-US" sz="1450" dirty="0"/>
          </a:p>
        </p:txBody>
      </p:sp>
      <p:sp>
        <p:nvSpPr>
          <p:cNvPr id="8" name="Text 5"/>
          <p:cNvSpPr/>
          <p:nvPr/>
        </p:nvSpPr>
        <p:spPr>
          <a:xfrm>
            <a:off x="804672"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Investidores pessoa física que usam o BolsaTrader para organizar a própria carteira de ações. Não é necessário conhecimento técnico de programação para acompanhar o conteúdo.</a:t>
            </a:r>
            <a:endParaRPr lang="en-US" sz="1150" dirty="0"/>
          </a:p>
        </p:txBody>
      </p:sp>
      <p:sp>
        <p:nvSpPr>
          <p:cNvPr id="9" name="Shape 6"/>
          <p:cNvSpPr/>
          <p:nvPr/>
        </p:nvSpPr>
        <p:spPr>
          <a:xfrm>
            <a:off x="6278728"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83794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fileText.png">    </p:cNvPr>
          <p:cNvPicPr>
            <a:picLocks noChangeAspect="1"/>
          </p:cNvPicPr>
          <p:nvPr/>
        </p:nvPicPr>
        <p:blipFill>
          <a:blip r:embed="rId2"/>
          <a:stretch>
            <a:fillRect/>
          </a:stretch>
        </p:blipFill>
        <p:spPr>
          <a:xfrm>
            <a:off x="6653632" y="1956816"/>
            <a:ext cx="219456" cy="219456"/>
          </a:xfrm>
          <a:prstGeom prst="rect">
            <a:avLst/>
          </a:prstGeom>
        </p:spPr>
      </p:pic>
      <p:sp>
        <p:nvSpPr>
          <p:cNvPr id="12" name="Text 8"/>
          <p:cNvSpPr/>
          <p:nvPr/>
        </p:nvSpPr>
        <p:spPr>
          <a:xfrm>
            <a:off x="7156552"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Escopo operacional</a:t>
            </a:r>
            <a:endParaRPr lang="en-US" sz="1450" dirty="0"/>
          </a:p>
        </p:txBody>
      </p:sp>
      <p:sp>
        <p:nvSpPr>
          <p:cNvPr id="13" name="Text 9"/>
          <p:cNvSpPr/>
          <p:nvPr/>
        </p:nvSpPr>
        <p:spPr>
          <a:xfrm>
            <a:off x="6534760"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Este manual descreve exclusivamente o uso das telas e funcionalidades no dia a dia. Instalação, configuração de servidor e implantação ficam no manual técnico, à parte.</a:t>
            </a:r>
            <a:endParaRPr lang="en-US" sz="1150" dirty="0"/>
          </a:p>
        </p:txBody>
      </p:sp>
      <p:sp>
        <p:nvSpPr>
          <p:cNvPr id="14" name="Text 10"/>
          <p:cNvSpPr/>
          <p:nvPr/>
        </p:nvSpPr>
        <p:spPr>
          <a:xfrm>
            <a:off x="548640" y="3886200"/>
            <a:ext cx="7315200" cy="365760"/>
          </a:xfrm>
          <a:prstGeom prst="rect">
            <a:avLst/>
          </a:prstGeom>
          <a:noFill/>
          <a:ln/>
        </p:spPr>
        <p:txBody>
          <a:bodyPr wrap="square" lIns="0" tIns="0" rIns="0" bIns="0" rtlCol="0" anchor="ctr"/>
          <a:lstStyle/>
          <a:p>
            <a:pPr indent="0" marL="0">
              <a:buNone/>
            </a:pPr>
            <a:r>
              <a:rPr lang="en-US" sz="1600" b="1" dirty="0">
                <a:solidFill>
                  <a:srgbClr val="0D1B3E"/>
                </a:solidFill>
                <a:latin typeface="Calibri" pitchFamily="34" charset="0"/>
                <a:ea typeface="Calibri" pitchFamily="34" charset="-122"/>
                <a:cs typeface="Calibri" pitchFamily="34" charset="-120"/>
              </a:rPr>
              <a:t>Convenções usadas neste documento</a:t>
            </a:r>
            <a:endParaRPr lang="en-US" sz="1600" dirty="0"/>
          </a:p>
        </p:txBody>
      </p:sp>
      <p:sp>
        <p:nvSpPr>
          <p:cNvPr id="15" name="Shape 11"/>
          <p:cNvSpPr/>
          <p:nvPr/>
        </p:nvSpPr>
        <p:spPr>
          <a:xfrm>
            <a:off x="548640" y="4434840"/>
            <a:ext cx="384048" cy="384048"/>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book.png">    </p:cNvPr>
          <p:cNvPicPr>
            <a:picLocks noChangeAspect="1"/>
          </p:cNvPicPr>
          <p:nvPr/>
        </p:nvPicPr>
        <p:blipFill>
          <a:blip r:embed="rId3"/>
          <a:stretch>
            <a:fillRect/>
          </a:stretch>
        </p:blipFill>
        <p:spPr>
          <a:xfrm>
            <a:off x="640812" y="4527012"/>
            <a:ext cx="199705" cy="199705"/>
          </a:xfrm>
          <a:prstGeom prst="rect">
            <a:avLst/>
          </a:prstGeom>
        </p:spPr>
      </p:pic>
      <p:sp>
        <p:nvSpPr>
          <p:cNvPr id="17" name="Text 12"/>
          <p:cNvSpPr/>
          <p:nvPr/>
        </p:nvSpPr>
        <p:spPr>
          <a:xfrm>
            <a:off x="1078992"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Negrito</a:t>
            </a:r>
            <a:endParaRPr lang="en-US" sz="1250" dirty="0"/>
          </a:p>
        </p:txBody>
      </p:sp>
      <p:sp>
        <p:nvSpPr>
          <p:cNvPr id="18" name="Text 13"/>
          <p:cNvSpPr/>
          <p:nvPr/>
        </p:nvSpPr>
        <p:spPr>
          <a:xfrm>
            <a:off x="1078992"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Indica o nome exato de um botão, campo ou aba clicável na tela.</a:t>
            </a:r>
            <a:endParaRPr lang="en-US" sz="1000" dirty="0"/>
          </a:p>
        </p:txBody>
      </p:sp>
      <p:sp>
        <p:nvSpPr>
          <p:cNvPr id="19" name="Shape 14"/>
          <p:cNvSpPr/>
          <p:nvPr/>
        </p:nvSpPr>
        <p:spPr>
          <a:xfrm>
            <a:off x="4368698" y="4434840"/>
            <a:ext cx="384048" cy="384048"/>
          </a:xfrm>
          <a:prstGeom prst="ellipse">
            <a:avLst/>
          </a:prstGeom>
          <a:solidFill>
            <a:srgbClr val="0D1B3E"/>
          </a:solidFill>
          <a:ln/>
        </p:spPr>
        <p:txBody>
          <a:bodyPr/>
          <a:p/>
        </p:txBody>
      </p:sp>
      <p:pic>
        <p:nvPicPr>
          <p:cNvPr id="20" name="Image 3" descr="C:\Users\PC ANTONIO\AppData\Roaming\Claude\scratch-workspaces\f0f5d1bc-bf72-4611-a8ea-e50e459a0a45\08c0c592-3fff-44bf-a144-086c85aaeea0\scratch-2026-09-22-98642c\icons\alert.png">    </p:cNvPr>
          <p:cNvPicPr>
            <a:picLocks noChangeAspect="1"/>
          </p:cNvPicPr>
          <p:nvPr/>
        </p:nvPicPr>
        <p:blipFill>
          <a:blip r:embed="rId4"/>
          <a:stretch>
            <a:fillRect/>
          </a:stretch>
        </p:blipFill>
        <p:spPr>
          <a:xfrm>
            <a:off x="4460870" y="4527012"/>
            <a:ext cx="199705" cy="199705"/>
          </a:xfrm>
          <a:prstGeom prst="rect">
            <a:avLst/>
          </a:prstGeom>
        </p:spPr>
      </p:pic>
      <p:sp>
        <p:nvSpPr>
          <p:cNvPr id="21" name="Text 15"/>
          <p:cNvSpPr/>
          <p:nvPr/>
        </p:nvSpPr>
        <p:spPr>
          <a:xfrm>
            <a:off x="4899050"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Caixas sombreadas</a:t>
            </a:r>
            <a:endParaRPr lang="en-US" sz="1250" dirty="0"/>
          </a:p>
        </p:txBody>
      </p:sp>
      <p:sp>
        <p:nvSpPr>
          <p:cNvPr id="22" name="Text 16"/>
          <p:cNvSpPr/>
          <p:nvPr/>
        </p:nvSpPr>
        <p:spPr>
          <a:xfrm>
            <a:off x="4899050"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Trazem avisos, observações importantes ou alertas de atenção.</a:t>
            </a:r>
            <a:endParaRPr lang="en-US" sz="1000" dirty="0"/>
          </a:p>
        </p:txBody>
      </p:sp>
      <p:sp>
        <p:nvSpPr>
          <p:cNvPr id="23" name="Shape 17"/>
          <p:cNvSpPr/>
          <p:nvPr/>
        </p:nvSpPr>
        <p:spPr>
          <a:xfrm>
            <a:off x="8188757" y="4434840"/>
            <a:ext cx="384048" cy="384048"/>
          </a:xfrm>
          <a:prstGeom prst="ellipse">
            <a:avLst/>
          </a:prstGeom>
          <a:solidFill>
            <a:srgbClr val="0D1B3E"/>
          </a:solidFill>
          <a:ln/>
        </p:spPr>
        <p:txBody>
          <a:bodyPr/>
          <a:p/>
        </p:txBody>
      </p:sp>
      <p:pic>
        <p:nvPicPr>
          <p:cNvPr id="24" name="Image 4" descr="C:\Users\PC ANTONIO\AppData\Roaming\Claude\scratch-workspaces\f0f5d1bc-bf72-4611-a8ea-e50e459a0a45\08c0c592-3fff-44bf-a144-086c85aaeea0\scratch-2026-09-22-98642c\icons\fileText.png">    </p:cNvPr>
          <p:cNvPicPr>
            <a:picLocks noChangeAspect="1"/>
          </p:cNvPicPr>
          <p:nvPr/>
        </p:nvPicPr>
        <p:blipFill>
          <a:blip r:embed="rId5"/>
          <a:stretch>
            <a:fillRect/>
          </a:stretch>
        </p:blipFill>
        <p:spPr>
          <a:xfrm>
            <a:off x="8280928" y="4527012"/>
            <a:ext cx="199705" cy="199705"/>
          </a:xfrm>
          <a:prstGeom prst="rect">
            <a:avLst/>
          </a:prstGeom>
        </p:spPr>
      </p:pic>
      <p:sp>
        <p:nvSpPr>
          <p:cNvPr id="25" name="Text 18"/>
          <p:cNvSpPr/>
          <p:nvPr/>
        </p:nvSpPr>
        <p:spPr>
          <a:xfrm>
            <a:off x="8719109"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Aspas</a:t>
            </a:r>
            <a:endParaRPr lang="en-US" sz="1250" dirty="0"/>
          </a:p>
        </p:txBody>
      </p:sp>
      <p:sp>
        <p:nvSpPr>
          <p:cNvPr id="26" name="Text 19"/>
          <p:cNvSpPr/>
          <p:nvPr/>
        </p:nvSpPr>
        <p:spPr>
          <a:xfrm>
            <a:off x="8719109"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Reproduzem o texto exato que aparece na tela do sistema.</a:t>
            </a:r>
            <a:endParaRPr lang="en-US" sz="1000" dirty="0"/>
          </a:p>
        </p:txBody>
      </p:sp>
      <p:sp>
        <p:nvSpPr>
          <p:cNvPr id="27"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  </a:t>
            </a:r>
            <a:pPr indent="0" marL="0">
              <a:buNone/>
            </a:pPr>
            <a:r>
              <a:rPr lang="en-US" sz="1250" b="1" spc="200" kern="0" dirty="0">
                <a:solidFill>
                  <a:srgbClr val="00D68F"/>
                </a:solidFill>
                <a:latin typeface="Calibri" pitchFamily="34" charset="0"/>
                <a:ea typeface="Calibri" pitchFamily="34" charset="-122"/>
                <a:cs typeface="Calibri" pitchFamily="34" charset="-120"/>
              </a:rPr>
              <a:t>PRIMEIROS PASSOS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Acesso ao sistema</a:t>
            </a:r>
            <a:endParaRPr lang="en-US" sz="3000" dirty="0"/>
          </a:p>
        </p:txBody>
      </p:sp>
      <p:sp>
        <p:nvSpPr>
          <p:cNvPr id="4" name="Shape 2"/>
          <p:cNvSpPr/>
          <p:nvPr/>
        </p:nvSpPr>
        <p:spPr>
          <a:xfrm>
            <a:off x="548640" y="1600200"/>
            <a:ext cx="384048" cy="384048"/>
          </a:xfrm>
          <a:prstGeom prst="ellipse">
            <a:avLst/>
          </a:prstGeom>
          <a:solidFill>
            <a:srgbClr val="0D1B3E"/>
          </a:solidFill>
          <a:ln/>
        </p:spPr>
        <p:txBody>
          <a:bodyPr/>
          <a:p/>
        </p:txBody>
      </p:sp>
      <p:pic>
        <p:nvPicPr>
          <p:cNvPr id="5" name="Image 0" descr="C:\Users\PC ANTONIO\AppData\Roaming\Claude\scratch-workspaces\f0f5d1bc-bf72-4611-a8ea-e50e459a0a45\08c0c592-3fff-44bf-a144-086c85aaeea0\scratch-2026-09-22-98642c\icons\logIn.png">    </p:cNvPr>
          <p:cNvPicPr>
            <a:picLocks noChangeAspect="1"/>
          </p:cNvPicPr>
          <p:nvPr/>
        </p:nvPicPr>
        <p:blipFill>
          <a:blip r:embed="rId1"/>
          <a:stretch>
            <a:fillRect/>
          </a:stretch>
        </p:blipFill>
        <p:spPr>
          <a:xfrm>
            <a:off x="640812" y="1692372"/>
            <a:ext cx="199705" cy="199705"/>
          </a:xfrm>
          <a:prstGeom prst="rect">
            <a:avLst/>
          </a:prstGeom>
        </p:spPr>
      </p:pic>
      <p:sp>
        <p:nvSpPr>
          <p:cNvPr id="6" name="Text 3"/>
          <p:cNvSpPr/>
          <p:nvPr/>
        </p:nvSpPr>
        <p:spPr>
          <a:xfrm>
            <a:off x="1078992"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Criar uma conta</a:t>
            </a:r>
            <a:endParaRPr lang="en-US" sz="1250" dirty="0"/>
          </a:p>
        </p:txBody>
      </p:sp>
      <p:sp>
        <p:nvSpPr>
          <p:cNvPr id="7" name="Text 4"/>
          <p:cNvSpPr/>
          <p:nvPr/>
        </p:nvSpPr>
        <p:spPr>
          <a:xfrm>
            <a:off x="1078992"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Feito por um administrador, pelo item "Cadastrar Usuário" (cadastro aberto ao público só se ele liberar). Cada usuário só enxerga as próprias operações, posições, alertas e reservas.</a:t>
            </a:r>
            <a:endParaRPr lang="en-US" sz="1000" dirty="0"/>
          </a:p>
        </p:txBody>
      </p:sp>
      <p:sp>
        <p:nvSpPr>
          <p:cNvPr id="8" name="Shape 5"/>
          <p:cNvSpPr/>
          <p:nvPr/>
        </p:nvSpPr>
        <p:spPr>
          <a:xfrm>
            <a:off x="6278728" y="1600200"/>
            <a:ext cx="384048" cy="384048"/>
          </a:xfrm>
          <a:prstGeom prst="ellipse">
            <a:avLst/>
          </a:prstGeom>
          <a:solidFill>
            <a:srgbClr val="0D1B3E"/>
          </a:solidFill>
          <a:ln/>
        </p:spPr>
        <p:txBody>
          <a:bodyPr/>
          <a:p/>
        </p:txBody>
      </p:sp>
      <p:pic>
        <p:nvPicPr>
          <p:cNvPr id="9" name="Image 1" descr="C:\Users\PC ANTONIO\AppData\Roaming\Claude\scratch-workspaces\f0f5d1bc-bf72-4611-a8ea-e50e459a0a45\08c0c592-3fff-44bf-a144-086c85aaeea0\scratch-2026-09-22-98642c\icons\user.png">    </p:cNvPr>
          <p:cNvPicPr>
            <a:picLocks noChangeAspect="1"/>
          </p:cNvPicPr>
          <p:nvPr/>
        </p:nvPicPr>
        <p:blipFill>
          <a:blip r:embed="rId2"/>
          <a:stretch>
            <a:fillRect/>
          </a:stretch>
        </p:blipFill>
        <p:spPr>
          <a:xfrm>
            <a:off x="6370899" y="1692372"/>
            <a:ext cx="199705" cy="199705"/>
          </a:xfrm>
          <a:prstGeom prst="rect">
            <a:avLst/>
          </a:prstGeom>
        </p:spPr>
      </p:pic>
      <p:sp>
        <p:nvSpPr>
          <p:cNvPr id="10" name="Text 6"/>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Entrar (login)</a:t>
            </a:r>
            <a:endParaRPr lang="en-US" sz="1250" dirty="0"/>
          </a:p>
        </p:txBody>
      </p:sp>
      <p:sp>
        <p:nvSpPr>
          <p:cNvPr id="11" name="Text 7"/>
          <p:cNvSpPr/>
          <p:nvPr/>
        </p:nvSpPr>
        <p:spPr>
          <a:xfrm>
            <a:off x="6809080"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Informe usuário e senha; o sistema abre no Painel. Esqueceu? Link "Esqueci minha senha". 5 senhas erradas seguidas bloqueiam o login por 15 minutos.</a:t>
            </a:r>
            <a:endParaRPr lang="en-US" sz="1000" dirty="0"/>
          </a:p>
        </p:txBody>
      </p:sp>
      <p:sp>
        <p:nvSpPr>
          <p:cNvPr id="12" name="Shape 8"/>
          <p:cNvSpPr/>
          <p:nvPr/>
        </p:nvSpPr>
        <p:spPr>
          <a:xfrm>
            <a:off x="548640" y="2651760"/>
            <a:ext cx="384048" cy="384048"/>
          </a:xfrm>
          <a:prstGeom prst="ellipse">
            <a:avLst/>
          </a:prstGeom>
          <a:solidFill>
            <a:srgbClr val="0D1B3E"/>
          </a:solidFill>
          <a:ln/>
        </p:spPr>
        <p:txBody>
          <a:bodyPr/>
          <a:p/>
        </p:txBody>
      </p:sp>
      <p:pic>
        <p:nvPicPr>
          <p:cNvPr id="13" name="Image 2" descr="C:\Users\PC ANTONIO\AppData\Roaming\Claude\scratch-workspaces\f0f5d1bc-bf72-4611-a8ea-e50e459a0a45\08c0c592-3fff-44bf-a144-086c85aaeea0\scratch-2026-09-22-98642c\icons\gear.png">    </p:cNvPr>
          <p:cNvPicPr>
            <a:picLocks noChangeAspect="1"/>
          </p:cNvPicPr>
          <p:nvPr/>
        </p:nvPicPr>
        <p:blipFill>
          <a:blip r:embed="rId3"/>
          <a:stretch>
            <a:fillRect/>
          </a:stretch>
        </p:blipFill>
        <p:spPr>
          <a:xfrm>
            <a:off x="640812" y="2743932"/>
            <a:ext cx="199705" cy="199705"/>
          </a:xfrm>
          <a:prstGeom prst="rect">
            <a:avLst/>
          </a:prstGeom>
        </p:spPr>
      </p:pic>
      <p:sp>
        <p:nvSpPr>
          <p:cNvPr id="14" name="Text 9"/>
          <p:cNvSpPr/>
          <p:nvPr/>
        </p:nvSpPr>
        <p:spPr>
          <a:xfrm>
            <a:off x="1078992"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 Conta</a:t>
            </a:r>
            <a:endParaRPr lang="en-US" sz="1250" dirty="0"/>
          </a:p>
        </p:txBody>
      </p:sp>
      <p:sp>
        <p:nvSpPr>
          <p:cNvPr id="15" name="Text 10"/>
          <p:cNvSpPr/>
          <p:nvPr/>
        </p:nvSpPr>
        <p:spPr>
          <a:xfrm>
            <a:off x="1078992"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WhatsApp, bot do Telegram e dados da corretora (gravados criptografados), mais o botão 🔑 Alterar senha.</a:t>
            </a:r>
            <a:endParaRPr lang="en-US" sz="1000" dirty="0"/>
          </a:p>
        </p:txBody>
      </p:sp>
      <p:sp>
        <p:nvSpPr>
          <p:cNvPr id="16" name="Shape 11"/>
          <p:cNvSpPr/>
          <p:nvPr/>
        </p:nvSpPr>
        <p:spPr>
          <a:xfrm>
            <a:off x="6278728" y="2651760"/>
            <a:ext cx="384048" cy="384048"/>
          </a:xfrm>
          <a:prstGeom prst="ellipse">
            <a:avLst/>
          </a:prstGeom>
          <a:solidFill>
            <a:srgbClr val="0D1B3E"/>
          </a:solidFill>
          <a:ln/>
        </p:spPr>
        <p:txBody>
          <a:bodyPr/>
          <a:p/>
        </p:txBody>
      </p:sp>
      <p:pic>
        <p:nvPicPr>
          <p:cNvPr id="17" name="Image 3" descr="C:\Users\PC ANTONIO\AppData\Roaming\Claude\scratch-workspaces\f0f5d1bc-bf72-4611-a8ea-e50e459a0a45\08c0c592-3fff-44bf-a144-086c85aaeea0\scratch-2026-09-22-98642c\icons\lock.png">    </p:cNvPr>
          <p:cNvPicPr>
            <a:picLocks noChangeAspect="1"/>
          </p:cNvPicPr>
          <p:nvPr/>
        </p:nvPicPr>
        <p:blipFill>
          <a:blip r:embed="rId4"/>
          <a:stretch>
            <a:fillRect/>
          </a:stretch>
        </p:blipFill>
        <p:spPr>
          <a:xfrm>
            <a:off x="6370899" y="2743932"/>
            <a:ext cx="199705" cy="199705"/>
          </a:xfrm>
          <a:prstGeom prst="rect">
            <a:avLst/>
          </a:prstGeom>
        </p:spPr>
      </p:pic>
      <p:sp>
        <p:nvSpPr>
          <p:cNvPr id="18" name="Text 12"/>
          <p:cNvSpPr/>
          <p:nvPr/>
        </p:nvSpPr>
        <p:spPr>
          <a:xfrm>
            <a:off x="6809080"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Sair</a:t>
            </a:r>
            <a:endParaRPr lang="en-US" sz="1250" dirty="0"/>
          </a:p>
        </p:txBody>
      </p:sp>
      <p:sp>
        <p:nvSpPr>
          <p:cNvPr id="19" name="Text 13"/>
          <p:cNvSpPr/>
          <p:nvPr/>
        </p:nvSpPr>
        <p:spPr>
          <a:xfrm>
            <a:off x="6809080"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Botão no canto superior direito da barra de navegação, encerra a sessão a qualquer momento.</a:t>
            </a:r>
            <a:endParaRPr lang="en-US" sz="1000" dirty="0"/>
          </a:p>
        </p:txBody>
      </p:sp>
      <p:sp>
        <p:nvSpPr>
          <p:cNvPr id="20" name="Shape 14"/>
          <p:cNvSpPr/>
          <p:nvPr/>
        </p:nvSpPr>
        <p:spPr>
          <a:xfrm>
            <a:off x="548640" y="3977640"/>
            <a:ext cx="11094415"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5"/>
          <p:cNvSpPr/>
          <p:nvPr/>
        </p:nvSpPr>
        <p:spPr>
          <a:xfrm>
            <a:off x="804672" y="4215384"/>
            <a:ext cx="457200" cy="457200"/>
          </a:xfrm>
          <a:prstGeom prst="ellipse">
            <a:avLst/>
          </a:prstGeom>
          <a:solidFill>
            <a:srgbClr val="00D68F"/>
          </a:solidFill>
          <a:ln/>
        </p:spPr>
        <p:txBody>
          <a:bodyPr/>
          <a:p/>
        </p:txBody>
      </p:sp>
      <p:pic>
        <p:nvPicPr>
          <p:cNvPr id="22" name="Image 4" descr="C:\Users\PC ANTONIO\AppData\Roaming\Claude\scratch-workspaces\f0f5d1bc-bf72-4611-a8ea-e50e459a0a45\08c0c592-3fff-44bf-a144-086c85aaeea0\scratch-2026-09-22-98642c\icons\smartphone.png">    </p:cNvPr>
          <p:cNvPicPr>
            <a:picLocks noChangeAspect="1"/>
          </p:cNvPicPr>
          <p:nvPr/>
        </p:nvPicPr>
        <p:blipFill>
          <a:blip r:embed="rId5"/>
          <a:stretch>
            <a:fillRect/>
          </a:stretch>
        </p:blipFill>
        <p:spPr>
          <a:xfrm>
            <a:off x="923544" y="4334256"/>
            <a:ext cx="219456" cy="219456"/>
          </a:xfrm>
          <a:prstGeom prst="rect">
            <a:avLst/>
          </a:prstGeom>
        </p:spPr>
      </p:pic>
      <p:sp>
        <p:nvSpPr>
          <p:cNvPr id="23" name="Text 16"/>
          <p:cNvSpPr/>
          <p:nvPr/>
        </p:nvSpPr>
        <p:spPr>
          <a:xfrm>
            <a:off x="1426464" y="41605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Instalar como aplicativo (PWA)</a:t>
            </a:r>
            <a:endParaRPr lang="en-US" sz="1500" dirty="0"/>
          </a:p>
        </p:txBody>
      </p:sp>
      <p:sp>
        <p:nvSpPr>
          <p:cNvPr id="24" name="Text 17"/>
          <p:cNvSpPr/>
          <p:nvPr/>
        </p:nvSpPr>
        <p:spPr>
          <a:xfrm>
            <a:off x="804672" y="4800600"/>
            <a:ext cx="10582351" cy="42976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O BolsaTrader pode ser instalado como um app no computador ou celular, sem loja de aplicativos. Quando o navegador permite, aparece o botão "⬇ Instalar app" — clique e confirme para abrir o sistema como um app independente, com ícone próprio.</a:t>
            </a:r>
            <a:endParaRPr lang="en-US" sz="1150" dirty="0"/>
          </a:p>
        </p:txBody>
      </p:sp>
      <p:sp>
        <p:nvSpPr>
          <p:cNvPr id="25" name="Shape 18"/>
          <p:cNvSpPr/>
          <p:nvPr/>
        </p:nvSpPr>
        <p:spPr>
          <a:xfrm>
            <a:off x="548640" y="5623560"/>
            <a:ext cx="11094415" cy="685800"/>
          </a:xfrm>
          <a:prstGeom prst="roundRect">
            <a:avLst>
              <a:gd name="adj" fmla="val 10667"/>
            </a:avLst>
          </a:prstGeom>
          <a:solidFill>
            <a:srgbClr val="EAF0FB"/>
          </a:solidFill>
          <a:ln/>
        </p:spPr>
        <p:txBody>
          <a:bodyPr/>
          <a:p/>
        </p:txBody>
      </p:sp>
      <p:sp>
        <p:nvSpPr>
          <p:cNvPr id="26" name="Shape 19"/>
          <p:cNvSpPr/>
          <p:nvPr/>
        </p:nvSpPr>
        <p:spPr>
          <a:xfrm>
            <a:off x="731520" y="5801868"/>
            <a:ext cx="329184" cy="329184"/>
          </a:xfrm>
          <a:prstGeom prst="ellipse">
            <a:avLst/>
          </a:prstGeom>
          <a:solidFill>
            <a:srgbClr val="0D1B3E"/>
          </a:solidFill>
          <a:ln/>
        </p:spPr>
        <p:txBody>
          <a:bodyPr/>
          <a:p/>
        </p:txBody>
      </p:sp>
      <p:pic>
        <p:nvPicPr>
          <p:cNvPr id="27" name="Image 5" descr="C:\Users\PC ANTONIO\AppData\Roaming\Claude\scratch-workspaces\f0f5d1bc-bf72-4611-a8ea-e50e459a0a45\08c0c592-3fff-44bf-a144-086c85aaeea0\scratch-2026-09-22-98642c\icons\info.png">    </p:cNvPr>
          <p:cNvPicPr>
            <a:picLocks noChangeAspect="1"/>
          </p:cNvPicPr>
          <p:nvPr/>
        </p:nvPicPr>
        <p:blipFill>
          <a:blip r:embed="rId6"/>
          <a:stretch>
            <a:fillRect/>
          </a:stretch>
        </p:blipFill>
        <p:spPr>
          <a:xfrm>
            <a:off x="803940" y="5874288"/>
            <a:ext cx="184343" cy="184343"/>
          </a:xfrm>
          <a:prstGeom prst="rect">
            <a:avLst/>
          </a:prstGeom>
        </p:spPr>
      </p:pic>
      <p:sp>
        <p:nvSpPr>
          <p:cNvPr id="28" name="Text 20"/>
          <p:cNvSpPr/>
          <p:nvPr/>
        </p:nvSpPr>
        <p:spPr>
          <a:xfrm>
            <a:off x="1225296" y="57150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A instalação como app exige que o site esteja em HTTPS (conexão segura). Sem HTTPS configurado, o botão de instalação pode não aparecer — limitação do navegador, não do BolsaTrader.</a:t>
            </a:r>
            <a:endParaRPr lang="en-US" sz="1050" dirty="0"/>
          </a:p>
        </p:txBody>
      </p:sp>
      <p:sp>
        <p:nvSpPr>
          <p:cNvPr id="29"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02.1  </a:t>
            </a:r>
            <a:pPr indent="0" marL="0">
              <a:buNone/>
            </a:pPr>
            <a:r>
              <a:rPr lang="en-US" sz="1250" b="1" spc="200" kern="0" dirty="0">
                <a:solidFill>
                  <a:srgbClr val="00D68F"/>
                </a:solidFill>
                <a:latin typeface="Calibri" pitchFamily="34" charset="0"/>
                <a:ea typeface="Calibri" pitchFamily="34" charset="-122"/>
                <a:cs typeface="Calibri" pitchFamily="34" charset="-120"/>
              </a:rPr>
              <a:t>SEGURANÇA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Senha, perfis de acesso e proteção dos dados</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Esqueceu a senha? O link "Esqueci minha senha", na tela de login, envia por e-mail um link válido por 2 horas. Já logado, troque a senha em Minha Conta → 🔑 Alterar senha.</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Login protegido e dados sensíveis criptografados</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Depois de 5 senhas erradas seguidas, o login fica bloqueado por 15 minutos — mesmo com a senha certa. Login, senha e assinatura da corretora e o token do Telegram ficam gravados criptografados no banco.</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Perfis de acesso</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Usuário — a própria carteira e todas as telas de uso</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também cadastra novos usuários</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gerencia as fontes de notícias e lê o WhatsApp</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Superusuário — o único que vê "Limpar dados do sistema"</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"Limpar dados do sistema" apaga os dados de TODOS os usuários e não pode ser desfeito — só o superusuário vê o botão e confirma com a própria senha.</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  </a:t>
            </a:r>
            <a:pPr indent="0" marL="0">
              <a:buNone/>
            </a:pPr>
            <a:r>
              <a:rPr lang="en-US" sz="1250" b="1" spc="200" kern="0" dirty="0">
                <a:solidFill>
                  <a:srgbClr val="00D68F"/>
                </a:solidFill>
                <a:latin typeface="Calibri" pitchFamily="34" charset="0"/>
                <a:ea typeface="Calibri" pitchFamily="34" charset="-122"/>
                <a:cs typeface="Calibri" pitchFamily="34" charset="-120"/>
              </a:rPr>
              <a:t>NAVEGAÇÃO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Navegação geral e menu principal</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 barra superior dá acesso direto às principais telas. A tela "Menu" reúne todas as áreas do sistema em cartões com ícone e descrição:</a:t>
            </a:r>
            <a:endParaRPr lang="en-US" sz="1150" dirty="0"/>
          </a:p>
        </p:txBody>
      </p:sp>
      <p:sp>
        <p:nvSpPr>
          <p:cNvPr id="5" name="Shape 3"/>
          <p:cNvSpPr/>
          <p:nvPr/>
        </p:nvSpPr>
        <p:spPr>
          <a:xfrm>
            <a:off x="548640" y="1874520"/>
            <a:ext cx="2622728" cy="896112"/>
          </a:xfrm>
          <a:prstGeom prst="roundRect">
            <a:avLst>
              <a:gd name="adj" fmla="val 7143"/>
            </a:avLst>
          </a:prstGeom>
          <a:solidFill>
            <a:srgbClr val="F3F6FC"/>
          </a:solidFill>
          <a:ln/>
        </p:spPr>
        <p:txBody>
          <a:bodyPr/>
          <a:p/>
        </p:txBody>
      </p:sp>
      <p:sp>
        <p:nvSpPr>
          <p:cNvPr id="6" name="Shape 4"/>
          <p:cNvSpPr/>
          <p:nvPr/>
        </p:nvSpPr>
        <p:spPr>
          <a:xfrm>
            <a:off x="676656" y="2002536"/>
            <a:ext cx="310896" cy="310896"/>
          </a:xfrm>
          <a:prstGeom prst="ellipse">
            <a:avLst/>
          </a:prstGeom>
          <a:solidFill>
            <a:srgbClr val="00D68F"/>
          </a:solidFill>
          <a:ln/>
        </p:spPr>
        <p:txBody>
          <a:bodyPr/>
          <a:p/>
        </p:txBody>
      </p:sp>
      <p:pic>
        <p:nvPicPr>
          <p:cNvPr id="7"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745053" y="2070933"/>
            <a:ext cx="174102" cy="174102"/>
          </a:xfrm>
          <a:prstGeom prst="rect">
            <a:avLst/>
          </a:prstGeom>
        </p:spPr>
      </p:pic>
      <p:sp>
        <p:nvSpPr>
          <p:cNvPr id="8" name="Text 5"/>
          <p:cNvSpPr/>
          <p:nvPr/>
        </p:nvSpPr>
        <p:spPr>
          <a:xfrm>
            <a:off x="676656"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Painel</a:t>
            </a:r>
            <a:endParaRPr lang="en-US" sz="1050" dirty="0"/>
          </a:p>
        </p:txBody>
      </p:sp>
      <p:sp>
        <p:nvSpPr>
          <p:cNvPr id="9" name="Text 6"/>
          <p:cNvSpPr/>
          <p:nvPr/>
        </p:nvSpPr>
        <p:spPr>
          <a:xfrm>
            <a:off x="676656"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Resumo geral, lucro/perda e alertas.</a:t>
            </a:r>
            <a:endParaRPr lang="en-US" sz="830" dirty="0"/>
          </a:p>
        </p:txBody>
      </p:sp>
      <p:sp>
        <p:nvSpPr>
          <p:cNvPr id="10" name="Shape 7"/>
          <p:cNvSpPr/>
          <p:nvPr/>
        </p:nvSpPr>
        <p:spPr>
          <a:xfrm>
            <a:off x="3372536" y="1874520"/>
            <a:ext cx="2622728" cy="896112"/>
          </a:xfrm>
          <a:prstGeom prst="roundRect">
            <a:avLst>
              <a:gd name="adj" fmla="val 7143"/>
            </a:avLst>
          </a:prstGeom>
          <a:solidFill>
            <a:srgbClr val="F3F6FC"/>
          </a:solidFill>
          <a:ln/>
        </p:spPr>
        <p:txBody>
          <a:bodyPr/>
          <a:p/>
        </p:txBody>
      </p:sp>
      <p:sp>
        <p:nvSpPr>
          <p:cNvPr id="11" name="Shape 8"/>
          <p:cNvSpPr/>
          <p:nvPr/>
        </p:nvSpPr>
        <p:spPr>
          <a:xfrm>
            <a:off x="3500552" y="2002536"/>
            <a:ext cx="310896" cy="310896"/>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wallet.png">    </p:cNvPr>
          <p:cNvPicPr>
            <a:picLocks noChangeAspect="1"/>
          </p:cNvPicPr>
          <p:nvPr/>
        </p:nvPicPr>
        <p:blipFill>
          <a:blip r:embed="rId2"/>
          <a:stretch>
            <a:fillRect/>
          </a:stretch>
        </p:blipFill>
        <p:spPr>
          <a:xfrm>
            <a:off x="3568949" y="2070933"/>
            <a:ext cx="174102" cy="174102"/>
          </a:xfrm>
          <a:prstGeom prst="rect">
            <a:avLst/>
          </a:prstGeom>
        </p:spPr>
      </p:pic>
      <p:sp>
        <p:nvSpPr>
          <p:cNvPr id="13" name="Text 9"/>
          <p:cNvSpPr/>
          <p:nvPr/>
        </p:nvSpPr>
        <p:spPr>
          <a:xfrm>
            <a:off x="3500552"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Compra/Venda</a:t>
            </a:r>
            <a:endParaRPr lang="en-US" sz="1050" dirty="0"/>
          </a:p>
        </p:txBody>
      </p:sp>
      <p:sp>
        <p:nvSpPr>
          <p:cNvPr id="14" name="Text 10"/>
          <p:cNvSpPr/>
          <p:nvPr/>
        </p:nvSpPr>
        <p:spPr>
          <a:xfrm>
            <a:off x="3500552"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Registrar nova operação.</a:t>
            </a:r>
            <a:endParaRPr lang="en-US" sz="830" dirty="0"/>
          </a:p>
        </p:txBody>
      </p:sp>
      <p:sp>
        <p:nvSpPr>
          <p:cNvPr id="15" name="Shape 11"/>
          <p:cNvSpPr/>
          <p:nvPr/>
        </p:nvSpPr>
        <p:spPr>
          <a:xfrm>
            <a:off x="6196432" y="1874520"/>
            <a:ext cx="2622728" cy="896112"/>
          </a:xfrm>
          <a:prstGeom prst="roundRect">
            <a:avLst>
              <a:gd name="adj" fmla="val 7143"/>
            </a:avLst>
          </a:prstGeom>
          <a:solidFill>
            <a:srgbClr val="F3F6FC"/>
          </a:solidFill>
          <a:ln/>
        </p:spPr>
        <p:txBody>
          <a:bodyPr/>
          <a:p/>
        </p:txBody>
      </p:sp>
      <p:sp>
        <p:nvSpPr>
          <p:cNvPr id="16" name="Shape 12"/>
          <p:cNvSpPr/>
          <p:nvPr/>
        </p:nvSpPr>
        <p:spPr>
          <a:xfrm>
            <a:off x="6324448" y="2002536"/>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fileText.png">    </p:cNvPr>
          <p:cNvPicPr>
            <a:picLocks noChangeAspect="1"/>
          </p:cNvPicPr>
          <p:nvPr/>
        </p:nvPicPr>
        <p:blipFill>
          <a:blip r:embed="rId3"/>
          <a:stretch>
            <a:fillRect/>
          </a:stretch>
        </p:blipFill>
        <p:spPr>
          <a:xfrm>
            <a:off x="6392845" y="2070933"/>
            <a:ext cx="174102" cy="174102"/>
          </a:xfrm>
          <a:prstGeom prst="rect">
            <a:avLst/>
          </a:prstGeom>
        </p:spPr>
      </p:pic>
      <p:sp>
        <p:nvSpPr>
          <p:cNvPr id="18" name="Text 13"/>
          <p:cNvSpPr/>
          <p:nvPr/>
        </p:nvSpPr>
        <p:spPr>
          <a:xfrm>
            <a:off x="6324448"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Operações</a:t>
            </a:r>
            <a:endParaRPr lang="en-US" sz="1050" dirty="0"/>
          </a:p>
        </p:txBody>
      </p:sp>
      <p:sp>
        <p:nvSpPr>
          <p:cNvPr id="19" name="Text 14"/>
          <p:cNvSpPr/>
          <p:nvPr/>
        </p:nvSpPr>
        <p:spPr>
          <a:xfrm>
            <a:off x="6324448"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Histórico de compras e vendas.</a:t>
            </a:r>
            <a:endParaRPr lang="en-US" sz="830" dirty="0"/>
          </a:p>
        </p:txBody>
      </p:sp>
      <p:sp>
        <p:nvSpPr>
          <p:cNvPr id="20" name="Shape 15"/>
          <p:cNvSpPr/>
          <p:nvPr/>
        </p:nvSpPr>
        <p:spPr>
          <a:xfrm>
            <a:off x="9020327" y="1874520"/>
            <a:ext cx="2622728" cy="896112"/>
          </a:xfrm>
          <a:prstGeom prst="roundRect">
            <a:avLst>
              <a:gd name="adj" fmla="val 7143"/>
            </a:avLst>
          </a:prstGeom>
          <a:solidFill>
            <a:srgbClr val="F3F6FC"/>
          </a:solidFill>
          <a:ln/>
        </p:spPr>
        <p:txBody>
          <a:bodyPr/>
          <a:p/>
        </p:txBody>
      </p:sp>
      <p:sp>
        <p:nvSpPr>
          <p:cNvPr id="21" name="Shape 16"/>
          <p:cNvSpPr/>
          <p:nvPr/>
        </p:nvSpPr>
        <p:spPr>
          <a:xfrm>
            <a:off x="9148343" y="2002536"/>
            <a:ext cx="310896" cy="310896"/>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9216741" y="2070933"/>
            <a:ext cx="174102" cy="174102"/>
          </a:xfrm>
          <a:prstGeom prst="rect">
            <a:avLst/>
          </a:prstGeom>
        </p:spPr>
      </p:pic>
      <p:sp>
        <p:nvSpPr>
          <p:cNvPr id="23" name="Text 17"/>
          <p:cNvSpPr/>
          <p:nvPr/>
        </p:nvSpPr>
        <p:spPr>
          <a:xfrm>
            <a:off x="9148343"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Posições</a:t>
            </a:r>
            <a:endParaRPr lang="en-US" sz="1050" dirty="0"/>
          </a:p>
        </p:txBody>
      </p:sp>
      <p:sp>
        <p:nvSpPr>
          <p:cNvPr id="24" name="Text 18"/>
          <p:cNvSpPr/>
          <p:nvPr/>
        </p:nvSpPr>
        <p:spPr>
          <a:xfrm>
            <a:off x="9148343"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médio e lucro/perda.</a:t>
            </a:r>
            <a:endParaRPr lang="en-US" sz="830" dirty="0"/>
          </a:p>
        </p:txBody>
      </p:sp>
      <p:sp>
        <p:nvSpPr>
          <p:cNvPr id="25" name="Shape 19"/>
          <p:cNvSpPr/>
          <p:nvPr/>
        </p:nvSpPr>
        <p:spPr>
          <a:xfrm>
            <a:off x="548640" y="2898648"/>
            <a:ext cx="2622728" cy="896112"/>
          </a:xfrm>
          <a:prstGeom prst="roundRect">
            <a:avLst>
              <a:gd name="adj" fmla="val 7143"/>
            </a:avLst>
          </a:prstGeom>
          <a:solidFill>
            <a:srgbClr val="F3F6FC"/>
          </a:solidFill>
          <a:ln/>
        </p:spPr>
        <p:txBody>
          <a:bodyPr/>
          <a:p/>
        </p:txBody>
      </p:sp>
      <p:sp>
        <p:nvSpPr>
          <p:cNvPr id="26" name="Shape 20"/>
          <p:cNvSpPr/>
          <p:nvPr/>
        </p:nvSpPr>
        <p:spPr>
          <a:xfrm>
            <a:off x="676656" y="3026664"/>
            <a:ext cx="310896" cy="310896"/>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search.png">    </p:cNvPr>
          <p:cNvPicPr>
            <a:picLocks noChangeAspect="1"/>
          </p:cNvPicPr>
          <p:nvPr/>
        </p:nvPicPr>
        <p:blipFill>
          <a:blip r:embed="rId5"/>
          <a:stretch>
            <a:fillRect/>
          </a:stretch>
        </p:blipFill>
        <p:spPr>
          <a:xfrm>
            <a:off x="745053" y="3095061"/>
            <a:ext cx="174102" cy="174102"/>
          </a:xfrm>
          <a:prstGeom prst="rect">
            <a:avLst/>
          </a:prstGeom>
        </p:spPr>
      </p:pic>
      <p:sp>
        <p:nvSpPr>
          <p:cNvPr id="28" name="Text 21"/>
          <p:cNvSpPr/>
          <p:nvPr/>
        </p:nvSpPr>
        <p:spPr>
          <a:xfrm>
            <a:off x="676656"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Análise de Mercado</a:t>
            </a:r>
            <a:endParaRPr lang="en-US" sz="1050" dirty="0"/>
          </a:p>
        </p:txBody>
      </p:sp>
      <p:sp>
        <p:nvSpPr>
          <p:cNvPr id="29" name="Text 22"/>
          <p:cNvSpPr/>
          <p:nvPr/>
        </p:nvSpPr>
        <p:spPr>
          <a:xfrm>
            <a:off x="676656"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Sinais de alta ou baixa.</a:t>
            </a:r>
            <a:endParaRPr lang="en-US" sz="830" dirty="0"/>
          </a:p>
        </p:txBody>
      </p:sp>
      <p:sp>
        <p:nvSpPr>
          <p:cNvPr id="30" name="Shape 23"/>
          <p:cNvSpPr/>
          <p:nvPr/>
        </p:nvSpPr>
        <p:spPr>
          <a:xfrm>
            <a:off x="3372536" y="2898648"/>
            <a:ext cx="2622728" cy="896112"/>
          </a:xfrm>
          <a:prstGeom prst="roundRect">
            <a:avLst>
              <a:gd name="adj" fmla="val 7143"/>
            </a:avLst>
          </a:prstGeom>
          <a:solidFill>
            <a:srgbClr val="F3F6FC"/>
          </a:solidFill>
          <a:ln/>
        </p:spPr>
        <p:txBody>
          <a:bodyPr/>
          <a:p/>
        </p:txBody>
      </p:sp>
      <p:sp>
        <p:nvSpPr>
          <p:cNvPr id="31" name="Shape 24"/>
          <p:cNvSpPr/>
          <p:nvPr/>
        </p:nvSpPr>
        <p:spPr>
          <a:xfrm>
            <a:off x="3500552" y="3026664"/>
            <a:ext cx="310896" cy="310896"/>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target.png">    </p:cNvPr>
          <p:cNvPicPr>
            <a:picLocks noChangeAspect="1"/>
          </p:cNvPicPr>
          <p:nvPr/>
        </p:nvPicPr>
        <p:blipFill>
          <a:blip r:embed="rId6"/>
          <a:stretch>
            <a:fillRect/>
          </a:stretch>
        </p:blipFill>
        <p:spPr>
          <a:xfrm>
            <a:off x="3568949" y="3095061"/>
            <a:ext cx="174102" cy="174102"/>
          </a:xfrm>
          <a:prstGeom prst="rect">
            <a:avLst/>
          </a:prstGeom>
        </p:spPr>
      </p:pic>
      <p:sp>
        <p:nvSpPr>
          <p:cNvPr id="33" name="Text 25"/>
          <p:cNvSpPr/>
          <p:nvPr/>
        </p:nvSpPr>
        <p:spPr>
          <a:xfrm>
            <a:off x="3500552"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Backtesting</a:t>
            </a:r>
            <a:endParaRPr lang="en-US" sz="1050" dirty="0"/>
          </a:p>
        </p:txBody>
      </p:sp>
      <p:sp>
        <p:nvSpPr>
          <p:cNvPr id="34" name="Text 26"/>
          <p:cNvSpPr/>
          <p:nvPr/>
        </p:nvSpPr>
        <p:spPr>
          <a:xfrm>
            <a:off x="3500552"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Taxa de acerto do robô.</a:t>
            </a:r>
            <a:endParaRPr lang="en-US" sz="830" dirty="0"/>
          </a:p>
        </p:txBody>
      </p:sp>
      <p:sp>
        <p:nvSpPr>
          <p:cNvPr id="35" name="Shape 27"/>
          <p:cNvSpPr/>
          <p:nvPr/>
        </p:nvSpPr>
        <p:spPr>
          <a:xfrm>
            <a:off x="6196432" y="2898648"/>
            <a:ext cx="2622728" cy="896112"/>
          </a:xfrm>
          <a:prstGeom prst="roundRect">
            <a:avLst>
              <a:gd name="adj" fmla="val 7143"/>
            </a:avLst>
          </a:prstGeom>
          <a:solidFill>
            <a:srgbClr val="F3F6FC"/>
          </a:solidFill>
          <a:ln/>
        </p:spPr>
        <p:txBody>
          <a:bodyPr/>
          <a:p/>
        </p:txBody>
      </p:sp>
      <p:sp>
        <p:nvSpPr>
          <p:cNvPr id="36" name="Shape 28"/>
          <p:cNvSpPr/>
          <p:nvPr/>
        </p:nvSpPr>
        <p:spPr>
          <a:xfrm>
            <a:off x="6324448" y="3026664"/>
            <a:ext cx="310896" cy="310896"/>
          </a:xfrm>
          <a:prstGeom prst="ellipse">
            <a:avLst/>
          </a:prstGeom>
          <a:solidFill>
            <a:srgbClr val="00D68F"/>
          </a:solidFill>
          <a:ln/>
        </p:spPr>
        <p:txBody>
          <a:bodyPr/>
          <a:p/>
        </p:txBody>
      </p:sp>
      <p:pic>
        <p:nvPicPr>
          <p:cNvPr id="37" name="Image 6" descr="C:\Users\PC ANTONIO\AppData\Roaming\Claude\scratch-workspaces\f0f5d1bc-bf72-4611-a8ea-e50e459a0a45\08c0c592-3fff-44bf-a144-086c85aaeea0\scratch-2026-09-22-98642c\icons\trendUp.png">    </p:cNvPr>
          <p:cNvPicPr>
            <a:picLocks noChangeAspect="1"/>
          </p:cNvPicPr>
          <p:nvPr/>
        </p:nvPicPr>
        <p:blipFill>
          <a:blip r:embed="rId7"/>
          <a:stretch>
            <a:fillRect/>
          </a:stretch>
        </p:blipFill>
        <p:spPr>
          <a:xfrm>
            <a:off x="6392845" y="3095061"/>
            <a:ext cx="174102" cy="174102"/>
          </a:xfrm>
          <a:prstGeom prst="rect">
            <a:avLst/>
          </a:prstGeom>
        </p:spPr>
      </p:pic>
      <p:sp>
        <p:nvSpPr>
          <p:cNvPr id="38" name="Text 29"/>
          <p:cNvSpPr/>
          <p:nvPr/>
        </p:nvSpPr>
        <p:spPr>
          <a:xfrm>
            <a:off x="6324448"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e Gráfico</a:t>
            </a:r>
            <a:endParaRPr lang="en-US" sz="1050" dirty="0"/>
          </a:p>
        </p:txBody>
      </p:sp>
      <p:sp>
        <p:nvSpPr>
          <p:cNvPr id="39" name="Text 30"/>
          <p:cNvSpPr/>
          <p:nvPr/>
        </p:nvSpPr>
        <p:spPr>
          <a:xfrm>
            <a:off x="6324448"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Cotações e gráfico por ativo.</a:t>
            </a:r>
            <a:endParaRPr lang="en-US" sz="830" dirty="0"/>
          </a:p>
        </p:txBody>
      </p:sp>
      <p:sp>
        <p:nvSpPr>
          <p:cNvPr id="40" name="Shape 31"/>
          <p:cNvSpPr/>
          <p:nvPr/>
        </p:nvSpPr>
        <p:spPr>
          <a:xfrm>
            <a:off x="9020327" y="2898648"/>
            <a:ext cx="2622728" cy="896112"/>
          </a:xfrm>
          <a:prstGeom prst="roundRect">
            <a:avLst>
              <a:gd name="adj" fmla="val 7143"/>
            </a:avLst>
          </a:prstGeom>
          <a:solidFill>
            <a:srgbClr val="F3F6FC"/>
          </a:solidFill>
          <a:ln/>
        </p:spPr>
        <p:txBody>
          <a:bodyPr/>
          <a:p/>
        </p:txBody>
      </p:sp>
      <p:sp>
        <p:nvSpPr>
          <p:cNvPr id="41" name="Shape 32"/>
          <p:cNvSpPr/>
          <p:nvPr/>
        </p:nvSpPr>
        <p:spPr>
          <a:xfrm>
            <a:off x="9148343" y="3026664"/>
            <a:ext cx="310896" cy="310896"/>
          </a:xfrm>
          <a:prstGeom prst="ellipse">
            <a:avLst/>
          </a:prstGeom>
          <a:solidFill>
            <a:srgbClr val="0D1B3E"/>
          </a:solidFill>
          <a:ln/>
        </p:spPr>
        <p:txBody>
          <a:bodyPr/>
          <a:p/>
        </p:txBody>
      </p:sp>
      <p:pic>
        <p:nvPicPr>
          <p:cNvPr id="42" name="Image 7" descr="C:\Users\PC ANTONIO\AppData\Roaming\Claude\scratch-workspaces\f0f5d1bc-bf72-4611-a8ea-e50e459a0a45\08c0c592-3fff-44bf-a144-086c85aaeea0\scratch-2026-09-22-98642c\icons\bell.png">    </p:cNvPr>
          <p:cNvPicPr>
            <a:picLocks noChangeAspect="1"/>
          </p:cNvPicPr>
          <p:nvPr/>
        </p:nvPicPr>
        <p:blipFill>
          <a:blip r:embed="rId8"/>
          <a:stretch>
            <a:fillRect/>
          </a:stretch>
        </p:blipFill>
        <p:spPr>
          <a:xfrm>
            <a:off x="9216741" y="3095061"/>
            <a:ext cx="174102" cy="174102"/>
          </a:xfrm>
          <a:prstGeom prst="rect">
            <a:avLst/>
          </a:prstGeom>
        </p:spPr>
      </p:pic>
      <p:sp>
        <p:nvSpPr>
          <p:cNvPr id="43" name="Text 33"/>
          <p:cNvSpPr/>
          <p:nvPr/>
        </p:nvSpPr>
        <p:spPr>
          <a:xfrm>
            <a:off x="9148343"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Avisos e Lembretes</a:t>
            </a:r>
            <a:endParaRPr lang="en-US" sz="1050" dirty="0"/>
          </a:p>
        </p:txBody>
      </p:sp>
      <p:sp>
        <p:nvSpPr>
          <p:cNvPr id="44" name="Text 34"/>
          <p:cNvSpPr/>
          <p:nvPr/>
        </p:nvSpPr>
        <p:spPr>
          <a:xfrm>
            <a:off x="9148343"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Metas atingidas e tendências.</a:t>
            </a:r>
            <a:endParaRPr lang="en-US" sz="830" dirty="0"/>
          </a:p>
        </p:txBody>
      </p:sp>
      <p:sp>
        <p:nvSpPr>
          <p:cNvPr id="45" name="Shape 35"/>
          <p:cNvSpPr/>
          <p:nvPr/>
        </p:nvSpPr>
        <p:spPr>
          <a:xfrm>
            <a:off x="548640" y="3922776"/>
            <a:ext cx="2622728" cy="896112"/>
          </a:xfrm>
          <a:prstGeom prst="roundRect">
            <a:avLst>
              <a:gd name="adj" fmla="val 7143"/>
            </a:avLst>
          </a:prstGeom>
          <a:solidFill>
            <a:srgbClr val="F3F6FC"/>
          </a:solidFill>
          <a:ln/>
        </p:spPr>
        <p:txBody>
          <a:bodyPr/>
          <a:p/>
        </p:txBody>
      </p:sp>
      <p:sp>
        <p:nvSpPr>
          <p:cNvPr id="46" name="Shape 36"/>
          <p:cNvSpPr/>
          <p:nvPr/>
        </p:nvSpPr>
        <p:spPr>
          <a:xfrm>
            <a:off x="676656" y="4050792"/>
            <a:ext cx="310896" cy="310896"/>
          </a:xfrm>
          <a:prstGeom prst="ellipse">
            <a:avLst/>
          </a:prstGeom>
          <a:solidFill>
            <a:srgbClr val="0D1B3E"/>
          </a:solidFill>
          <a:ln/>
        </p:spPr>
        <p:txBody>
          <a:bodyPr/>
          <a:p/>
        </p:txBody>
      </p:sp>
      <p:pic>
        <p:nvPicPr>
          <p:cNvPr id="47" name="Image 8" descr="C:\Users\PC ANTONIO\AppData\Roaming\Claude\scratch-workspaces\f0f5d1bc-bf72-4611-a8ea-e50e459a0a45\08c0c592-3fff-44bf-a144-086c85aaeea0\scratch-2026-09-22-98642c\icons\whatsapp.png">    </p:cNvPr>
          <p:cNvPicPr>
            <a:picLocks noChangeAspect="1"/>
          </p:cNvPicPr>
          <p:nvPr/>
        </p:nvPicPr>
        <p:blipFill>
          <a:blip r:embed="rId9"/>
          <a:stretch>
            <a:fillRect/>
          </a:stretch>
        </p:blipFill>
        <p:spPr>
          <a:xfrm>
            <a:off x="745053" y="4119189"/>
            <a:ext cx="174102" cy="174102"/>
          </a:xfrm>
          <a:prstGeom prst="rect">
            <a:avLst/>
          </a:prstGeom>
        </p:spPr>
      </p:pic>
      <p:sp>
        <p:nvSpPr>
          <p:cNvPr id="48" name="Text 37"/>
          <p:cNvSpPr/>
          <p:nvPr/>
        </p:nvSpPr>
        <p:spPr>
          <a:xfrm>
            <a:off x="676656"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Mensagens WhatsApp</a:t>
            </a:r>
            <a:endParaRPr lang="en-US" sz="1050" dirty="0"/>
          </a:p>
        </p:txBody>
      </p:sp>
      <p:sp>
        <p:nvSpPr>
          <p:cNvPr id="49" name="Text 38"/>
          <p:cNvSpPr/>
          <p:nvPr/>
        </p:nvSpPr>
        <p:spPr>
          <a:xfrm>
            <a:off x="676656"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Recebidas pelo contato oficial.</a:t>
            </a:r>
            <a:endParaRPr lang="en-US" sz="830" dirty="0"/>
          </a:p>
        </p:txBody>
      </p:sp>
      <p:sp>
        <p:nvSpPr>
          <p:cNvPr id="50" name="Shape 39"/>
          <p:cNvSpPr/>
          <p:nvPr/>
        </p:nvSpPr>
        <p:spPr>
          <a:xfrm>
            <a:off x="3372536" y="3922776"/>
            <a:ext cx="2622728" cy="896112"/>
          </a:xfrm>
          <a:prstGeom prst="roundRect">
            <a:avLst>
              <a:gd name="adj" fmla="val 7143"/>
            </a:avLst>
          </a:prstGeom>
          <a:solidFill>
            <a:srgbClr val="F3F6FC"/>
          </a:solidFill>
          <a:ln/>
        </p:spPr>
        <p:txBody>
          <a:bodyPr/>
          <a:p/>
        </p:txBody>
      </p:sp>
      <p:sp>
        <p:nvSpPr>
          <p:cNvPr id="51" name="Shape 40"/>
          <p:cNvSpPr/>
          <p:nvPr/>
        </p:nvSpPr>
        <p:spPr>
          <a:xfrm>
            <a:off x="3500552" y="4050792"/>
            <a:ext cx="310896" cy="310896"/>
          </a:xfrm>
          <a:prstGeom prst="ellipse">
            <a:avLst/>
          </a:prstGeom>
          <a:solidFill>
            <a:srgbClr val="00D68F"/>
          </a:solidFill>
          <a:ln/>
        </p:spPr>
        <p:txBody>
          <a:bodyPr/>
          <a:p/>
        </p:txBody>
      </p:sp>
      <p:pic>
        <p:nvPicPr>
          <p:cNvPr id="52" name="Image 9" descr="C:\Users\PC ANTONIO\AppData\Roaming\Claude\scratch-workspaces\f0f5d1bc-bf72-4611-a8ea-e50e459a0a45\08c0c592-3fff-44bf-a144-086c85aaeea0\scratch-2026-09-22-98642c\icons\list.png">    </p:cNvPr>
          <p:cNvPicPr>
            <a:picLocks noChangeAspect="1"/>
          </p:cNvPicPr>
          <p:nvPr/>
        </p:nvPicPr>
        <p:blipFill>
          <a:blip r:embed="rId10"/>
          <a:stretch>
            <a:fillRect/>
          </a:stretch>
        </p:blipFill>
        <p:spPr>
          <a:xfrm>
            <a:off x="3568949" y="4119189"/>
            <a:ext cx="174102" cy="174102"/>
          </a:xfrm>
          <a:prstGeom prst="rect">
            <a:avLst/>
          </a:prstGeom>
        </p:spPr>
      </p:pic>
      <p:sp>
        <p:nvSpPr>
          <p:cNvPr id="53" name="Text 41"/>
          <p:cNvSpPr/>
          <p:nvPr/>
        </p:nvSpPr>
        <p:spPr>
          <a:xfrm>
            <a:off x="3500552"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Detalhes de Cotações</a:t>
            </a:r>
            <a:endParaRPr lang="en-US" sz="1050" dirty="0"/>
          </a:p>
        </p:txBody>
      </p:sp>
      <p:sp>
        <p:nvSpPr>
          <p:cNvPr id="54" name="Text 42"/>
          <p:cNvSpPr/>
          <p:nvPr/>
        </p:nvSpPr>
        <p:spPr>
          <a:xfrm>
            <a:off x="3500552"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volume e 52 semanas.</a:t>
            </a:r>
            <a:endParaRPr lang="en-US" sz="830" dirty="0"/>
          </a:p>
        </p:txBody>
      </p:sp>
      <p:sp>
        <p:nvSpPr>
          <p:cNvPr id="55" name="Shape 43"/>
          <p:cNvSpPr/>
          <p:nvPr/>
        </p:nvSpPr>
        <p:spPr>
          <a:xfrm>
            <a:off x="6196432" y="3922776"/>
            <a:ext cx="2622728" cy="896112"/>
          </a:xfrm>
          <a:prstGeom prst="roundRect">
            <a:avLst>
              <a:gd name="adj" fmla="val 7143"/>
            </a:avLst>
          </a:prstGeom>
          <a:solidFill>
            <a:srgbClr val="F3F6FC"/>
          </a:solidFill>
          <a:ln/>
        </p:spPr>
        <p:txBody>
          <a:bodyPr/>
          <a:p/>
        </p:txBody>
      </p:sp>
      <p:sp>
        <p:nvSpPr>
          <p:cNvPr id="56" name="Shape 44"/>
          <p:cNvSpPr/>
          <p:nvPr/>
        </p:nvSpPr>
        <p:spPr>
          <a:xfrm>
            <a:off x="6324448" y="4050792"/>
            <a:ext cx="310896" cy="310896"/>
          </a:xfrm>
          <a:prstGeom prst="ellipse">
            <a:avLst/>
          </a:prstGeom>
          <a:solidFill>
            <a:srgbClr val="0D1B3E"/>
          </a:solidFill>
          <a:ln/>
        </p:spPr>
        <p:txBody>
          <a:bodyPr/>
          <a:p/>
        </p:txBody>
      </p:sp>
      <p:pic>
        <p:nvPicPr>
          <p:cNvPr id="57" name="Image 10" descr="C:\Users\PC ANTONIO\AppData\Roaming\Claude\scratch-workspaces\f0f5d1bc-bf72-4611-a8ea-e50e459a0a45\08c0c592-3fff-44bf-a144-086c85aaeea0\scratch-2026-09-22-98642c\icons\building.png">    </p:cNvPr>
          <p:cNvPicPr>
            <a:picLocks noChangeAspect="1"/>
          </p:cNvPicPr>
          <p:nvPr/>
        </p:nvPicPr>
        <p:blipFill>
          <a:blip r:embed="rId11"/>
          <a:stretch>
            <a:fillRect/>
          </a:stretch>
        </p:blipFill>
        <p:spPr>
          <a:xfrm>
            <a:off x="6392845" y="4119189"/>
            <a:ext cx="174102" cy="174102"/>
          </a:xfrm>
          <a:prstGeom prst="rect">
            <a:avLst/>
          </a:prstGeom>
        </p:spPr>
      </p:pic>
      <p:sp>
        <p:nvSpPr>
          <p:cNvPr id="58" name="Text 45"/>
          <p:cNvSpPr/>
          <p:nvPr/>
        </p:nvSpPr>
        <p:spPr>
          <a:xfrm>
            <a:off x="6324448"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Ações da B3</a:t>
            </a:r>
            <a:endParaRPr lang="en-US" sz="1050" dirty="0"/>
          </a:p>
        </p:txBody>
      </p:sp>
      <p:sp>
        <p:nvSpPr>
          <p:cNvPr id="59" name="Text 46"/>
          <p:cNvSpPr/>
          <p:nvPr/>
        </p:nvSpPr>
        <p:spPr>
          <a:xfrm>
            <a:off x="6324448"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Catálogo completo de ações.</a:t>
            </a:r>
            <a:endParaRPr lang="en-US" sz="830" dirty="0"/>
          </a:p>
        </p:txBody>
      </p:sp>
      <p:sp>
        <p:nvSpPr>
          <p:cNvPr id="60" name="Shape 47"/>
          <p:cNvSpPr/>
          <p:nvPr/>
        </p:nvSpPr>
        <p:spPr>
          <a:xfrm>
            <a:off x="9020327" y="3922776"/>
            <a:ext cx="2622728" cy="896112"/>
          </a:xfrm>
          <a:prstGeom prst="roundRect">
            <a:avLst>
              <a:gd name="adj" fmla="val 7143"/>
            </a:avLst>
          </a:prstGeom>
          <a:solidFill>
            <a:srgbClr val="F3F6FC"/>
          </a:solidFill>
          <a:ln/>
        </p:spPr>
        <p:txBody>
          <a:bodyPr/>
          <a:p/>
        </p:txBody>
      </p:sp>
      <p:sp>
        <p:nvSpPr>
          <p:cNvPr id="61" name="Shape 48"/>
          <p:cNvSpPr/>
          <p:nvPr/>
        </p:nvSpPr>
        <p:spPr>
          <a:xfrm>
            <a:off x="9148343" y="4050792"/>
            <a:ext cx="310896" cy="310896"/>
          </a:xfrm>
          <a:prstGeom prst="ellipse">
            <a:avLst/>
          </a:prstGeom>
          <a:solidFill>
            <a:srgbClr val="0D1B3E"/>
          </a:solidFill>
          <a:ln/>
        </p:spPr>
        <p:txBody>
          <a:bodyPr/>
          <a:p/>
        </p:txBody>
      </p:sp>
      <p:pic>
        <p:nvPicPr>
          <p:cNvPr id="62" name="Image 11" descr="C:\Users\PC ANTONIO\AppData\Roaming\Claude\scratch-workspaces\f0f5d1bc-bf72-4611-a8ea-e50e459a0a45\08c0c592-3fff-44bf-a144-086c85aaeea0\scratch-2026-09-22-98642c\icons\news.png">    </p:cNvPr>
          <p:cNvPicPr>
            <a:picLocks noChangeAspect="1"/>
          </p:cNvPicPr>
          <p:nvPr/>
        </p:nvPicPr>
        <p:blipFill>
          <a:blip r:embed="rId12"/>
          <a:stretch>
            <a:fillRect/>
          </a:stretch>
        </p:blipFill>
        <p:spPr>
          <a:xfrm>
            <a:off x="9216741" y="4119189"/>
            <a:ext cx="174102" cy="174102"/>
          </a:xfrm>
          <a:prstGeom prst="rect">
            <a:avLst/>
          </a:prstGeom>
        </p:spPr>
      </p:pic>
      <p:sp>
        <p:nvSpPr>
          <p:cNvPr id="63" name="Text 49"/>
          <p:cNvSpPr/>
          <p:nvPr/>
        </p:nvSpPr>
        <p:spPr>
          <a:xfrm>
            <a:off x="9148343"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Notícias do Mercado</a:t>
            </a:r>
            <a:endParaRPr lang="en-US" sz="1050" dirty="0"/>
          </a:p>
        </p:txBody>
      </p:sp>
      <p:sp>
        <p:nvSpPr>
          <p:cNvPr id="64" name="Text 50"/>
          <p:cNvSpPr/>
          <p:nvPr/>
        </p:nvSpPr>
        <p:spPr>
          <a:xfrm>
            <a:off x="9148343"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Manchetes das fontes configuradas.</a:t>
            </a:r>
            <a:endParaRPr lang="en-US" sz="830" dirty="0"/>
          </a:p>
        </p:txBody>
      </p:sp>
      <p:sp>
        <p:nvSpPr>
          <p:cNvPr id="65" name="Shape 51"/>
          <p:cNvSpPr/>
          <p:nvPr/>
        </p:nvSpPr>
        <p:spPr>
          <a:xfrm>
            <a:off x="548640" y="4946904"/>
            <a:ext cx="2622728" cy="896112"/>
          </a:xfrm>
          <a:prstGeom prst="roundRect">
            <a:avLst>
              <a:gd name="adj" fmla="val 7143"/>
            </a:avLst>
          </a:prstGeom>
          <a:solidFill>
            <a:srgbClr val="F3F6FC"/>
          </a:solidFill>
          <a:ln/>
        </p:spPr>
        <p:txBody>
          <a:bodyPr/>
          <a:p/>
        </p:txBody>
      </p:sp>
      <p:sp>
        <p:nvSpPr>
          <p:cNvPr id="66" name="Shape 52"/>
          <p:cNvSpPr/>
          <p:nvPr/>
        </p:nvSpPr>
        <p:spPr>
          <a:xfrm>
            <a:off x="676656" y="5074920"/>
            <a:ext cx="310896" cy="310896"/>
          </a:xfrm>
          <a:prstGeom prst="ellipse">
            <a:avLst/>
          </a:prstGeom>
          <a:solidFill>
            <a:srgbClr val="00D68F"/>
          </a:solidFill>
          <a:ln/>
        </p:spPr>
        <p:txBody>
          <a:bodyPr/>
          <a:p/>
        </p:txBody>
      </p:sp>
      <p:pic>
        <p:nvPicPr>
          <p:cNvPr id="67" name="Image 12" descr="C:\Users\PC ANTONIO\AppData\Roaming\Claude\scratch-workspaces\f0f5d1bc-bf72-4611-a8ea-e50e459a0a45\08c0c592-3fff-44bf-a144-086c85aaeea0\scratch-2026-09-22-98642c\icons\tv.png">    </p:cNvPr>
          <p:cNvPicPr>
            <a:picLocks noChangeAspect="1"/>
          </p:cNvPicPr>
          <p:nvPr/>
        </p:nvPicPr>
        <p:blipFill>
          <a:blip r:embed="rId13"/>
          <a:stretch>
            <a:fillRect/>
          </a:stretch>
        </p:blipFill>
        <p:spPr>
          <a:xfrm>
            <a:off x="745053" y="5143317"/>
            <a:ext cx="174102" cy="174102"/>
          </a:xfrm>
          <a:prstGeom prst="rect">
            <a:avLst/>
          </a:prstGeom>
        </p:spPr>
      </p:pic>
      <p:sp>
        <p:nvSpPr>
          <p:cNvPr id="68" name="Text 53"/>
          <p:cNvSpPr/>
          <p:nvPr/>
        </p:nvSpPr>
        <p:spPr>
          <a:xfrm>
            <a:off x="676656"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TradingView</a:t>
            </a:r>
            <a:endParaRPr lang="en-US" sz="1050" dirty="0"/>
          </a:p>
        </p:txBody>
      </p:sp>
      <p:sp>
        <p:nvSpPr>
          <p:cNvPr id="69" name="Text 54"/>
          <p:cNvSpPr/>
          <p:nvPr/>
        </p:nvSpPr>
        <p:spPr>
          <a:xfrm>
            <a:off x="676656"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Gráfico avançado embutido.</a:t>
            </a:r>
            <a:endParaRPr lang="en-US" sz="830" dirty="0"/>
          </a:p>
        </p:txBody>
      </p:sp>
      <p:sp>
        <p:nvSpPr>
          <p:cNvPr id="70" name="Shape 55"/>
          <p:cNvSpPr/>
          <p:nvPr/>
        </p:nvSpPr>
        <p:spPr>
          <a:xfrm>
            <a:off x="3372536" y="4946904"/>
            <a:ext cx="2622728" cy="896112"/>
          </a:xfrm>
          <a:prstGeom prst="roundRect">
            <a:avLst>
              <a:gd name="adj" fmla="val 7143"/>
            </a:avLst>
          </a:prstGeom>
          <a:solidFill>
            <a:srgbClr val="F3F6FC"/>
          </a:solidFill>
          <a:ln/>
        </p:spPr>
        <p:txBody>
          <a:bodyPr/>
          <a:p/>
        </p:txBody>
      </p:sp>
      <p:sp>
        <p:nvSpPr>
          <p:cNvPr id="71" name="Shape 56"/>
          <p:cNvSpPr/>
          <p:nvPr/>
        </p:nvSpPr>
        <p:spPr>
          <a:xfrm>
            <a:off x="3500552" y="5074920"/>
            <a:ext cx="310896" cy="310896"/>
          </a:xfrm>
          <a:prstGeom prst="ellipse">
            <a:avLst/>
          </a:prstGeom>
          <a:solidFill>
            <a:srgbClr val="0D1B3E"/>
          </a:solidFill>
          <a:ln/>
        </p:spPr>
        <p:txBody>
          <a:bodyPr/>
          <a:p/>
        </p:txBody>
      </p:sp>
      <p:pic>
        <p:nvPicPr>
          <p:cNvPr id="72" name="Image 13" descr="C:\Users\PC ANTONIO\AppData\Roaming\Claude\scratch-workspaces\f0f5d1bc-bf72-4611-a8ea-e50e459a0a45\08c0c592-3fff-44bf-a144-086c85aaeea0\scratch-2026-09-22-98642c\icons\clock.png">    </p:cNvPr>
          <p:cNvPicPr>
            <a:picLocks noChangeAspect="1"/>
          </p:cNvPicPr>
          <p:nvPr/>
        </p:nvPicPr>
        <p:blipFill>
          <a:blip r:embed="rId14"/>
          <a:stretch>
            <a:fillRect/>
          </a:stretch>
        </p:blipFill>
        <p:spPr>
          <a:xfrm>
            <a:off x="3568949" y="5143317"/>
            <a:ext cx="174102" cy="174102"/>
          </a:xfrm>
          <a:prstGeom prst="rect">
            <a:avLst/>
          </a:prstGeom>
        </p:spPr>
      </p:pic>
      <p:sp>
        <p:nvSpPr>
          <p:cNvPr id="73" name="Text 57"/>
          <p:cNvSpPr/>
          <p:nvPr/>
        </p:nvSpPr>
        <p:spPr>
          <a:xfrm>
            <a:off x="3500552"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de Atualizações</a:t>
            </a:r>
            <a:endParaRPr lang="en-US" sz="1050" dirty="0"/>
          </a:p>
        </p:txBody>
      </p:sp>
      <p:sp>
        <p:nvSpPr>
          <p:cNvPr id="74" name="Text 58"/>
          <p:cNvSpPr/>
          <p:nvPr/>
        </p:nvSpPr>
        <p:spPr>
          <a:xfrm>
            <a:off x="3500552"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Registro de cada atualização.</a:t>
            </a:r>
            <a:endParaRPr lang="en-US" sz="830" dirty="0"/>
          </a:p>
        </p:txBody>
      </p:sp>
      <p:sp>
        <p:nvSpPr>
          <p:cNvPr id="75" name="Shape 59"/>
          <p:cNvSpPr/>
          <p:nvPr/>
        </p:nvSpPr>
        <p:spPr>
          <a:xfrm>
            <a:off x="6196432" y="4946904"/>
            <a:ext cx="2622728" cy="896112"/>
          </a:xfrm>
          <a:prstGeom prst="roundRect">
            <a:avLst>
              <a:gd name="adj" fmla="val 7143"/>
            </a:avLst>
          </a:prstGeom>
          <a:solidFill>
            <a:srgbClr val="F3F6FC"/>
          </a:solidFill>
          <a:ln/>
        </p:spPr>
        <p:txBody>
          <a:bodyPr/>
          <a:p/>
        </p:txBody>
      </p:sp>
      <p:sp>
        <p:nvSpPr>
          <p:cNvPr id="76" name="Shape 60"/>
          <p:cNvSpPr/>
          <p:nvPr/>
        </p:nvSpPr>
        <p:spPr>
          <a:xfrm>
            <a:off x="6324448" y="5074920"/>
            <a:ext cx="310896" cy="310896"/>
          </a:xfrm>
          <a:prstGeom prst="ellipse">
            <a:avLst/>
          </a:prstGeom>
          <a:solidFill>
            <a:srgbClr val="0D1B3E"/>
          </a:solidFill>
          <a:ln/>
        </p:spPr>
        <p:txBody>
          <a:bodyPr/>
          <a:p/>
        </p:txBody>
      </p:sp>
      <p:pic>
        <p:nvPicPr>
          <p:cNvPr id="77" name="Image 14" descr="C:\Users\PC ANTONIO\AppData\Roaming\Claude\scratch-workspaces\f0f5d1bc-bf72-4611-a8ea-e50e459a0a45\08c0c592-3fff-44bf-a144-086c85aaeea0\scratch-2026-09-22-98642c\icons\dollar.png">    </p:cNvPr>
          <p:cNvPicPr>
            <a:picLocks noChangeAspect="1"/>
          </p:cNvPicPr>
          <p:nvPr/>
        </p:nvPicPr>
        <p:blipFill>
          <a:blip r:embed="rId15"/>
          <a:stretch>
            <a:fillRect/>
          </a:stretch>
        </p:blipFill>
        <p:spPr>
          <a:xfrm>
            <a:off x="6392845" y="5143317"/>
            <a:ext cx="174102" cy="174102"/>
          </a:xfrm>
          <a:prstGeom prst="rect">
            <a:avLst/>
          </a:prstGeom>
        </p:spPr>
      </p:pic>
      <p:sp>
        <p:nvSpPr>
          <p:cNvPr id="78" name="Text 61"/>
          <p:cNvSpPr/>
          <p:nvPr/>
        </p:nvSpPr>
        <p:spPr>
          <a:xfrm>
            <a:off x="6324448"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Conta Corrente</a:t>
            </a:r>
            <a:endParaRPr lang="en-US" sz="1050" dirty="0"/>
          </a:p>
        </p:txBody>
      </p:sp>
      <p:sp>
        <p:nvSpPr>
          <p:cNvPr id="79" name="Text 62"/>
          <p:cNvSpPr/>
          <p:nvPr/>
        </p:nvSpPr>
        <p:spPr>
          <a:xfrm>
            <a:off x="6324448"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Saldo, débitos e créditos.</a:t>
            </a:r>
            <a:endParaRPr lang="en-US" sz="830" dirty="0"/>
          </a:p>
        </p:txBody>
      </p:sp>
      <p:sp>
        <p:nvSpPr>
          <p:cNvPr id="80" name="Shape 63"/>
          <p:cNvSpPr/>
          <p:nvPr/>
        </p:nvSpPr>
        <p:spPr>
          <a:xfrm>
            <a:off x="9020327" y="4946904"/>
            <a:ext cx="2622728" cy="896112"/>
          </a:xfrm>
          <a:prstGeom prst="roundRect">
            <a:avLst>
              <a:gd name="adj" fmla="val 7143"/>
            </a:avLst>
          </a:prstGeom>
          <a:solidFill>
            <a:srgbClr val="F3F6FC"/>
          </a:solidFill>
          <a:ln/>
        </p:spPr>
        <p:txBody>
          <a:bodyPr/>
          <a:p/>
        </p:txBody>
      </p:sp>
      <p:sp>
        <p:nvSpPr>
          <p:cNvPr id="81" name="Shape 64"/>
          <p:cNvSpPr/>
          <p:nvPr/>
        </p:nvSpPr>
        <p:spPr>
          <a:xfrm>
            <a:off x="9148343" y="5074920"/>
            <a:ext cx="310896" cy="310896"/>
          </a:xfrm>
          <a:prstGeom prst="ellipse">
            <a:avLst/>
          </a:prstGeom>
          <a:solidFill>
            <a:srgbClr val="00D68F"/>
          </a:solidFill>
          <a:ln/>
        </p:spPr>
        <p:txBody>
          <a:bodyPr/>
          <a:p/>
        </p:txBody>
      </p:sp>
      <p:pic>
        <p:nvPicPr>
          <p:cNvPr id="82" name="Image 15" descr="C:\Users\PC ANTONIO\AppData\Roaming\Claude\scratch-workspaces\f0f5d1bc-bf72-4611-a8ea-e50e459a0a45\08c0c592-3fff-44bf-a144-086c85aaeea0\scratch-2026-09-22-98642c\icons\activity.png">    </p:cNvPr>
          <p:cNvPicPr>
            <a:picLocks noChangeAspect="1"/>
          </p:cNvPicPr>
          <p:nvPr/>
        </p:nvPicPr>
        <p:blipFill>
          <a:blip r:embed="rId16"/>
          <a:stretch>
            <a:fillRect/>
          </a:stretch>
        </p:blipFill>
        <p:spPr>
          <a:xfrm>
            <a:off x="9216741" y="5143317"/>
            <a:ext cx="174102" cy="174102"/>
          </a:xfrm>
          <a:prstGeom prst="rect">
            <a:avLst/>
          </a:prstGeom>
        </p:spPr>
      </p:pic>
      <p:sp>
        <p:nvSpPr>
          <p:cNvPr id="83" name="Text 65"/>
          <p:cNvSpPr/>
          <p:nvPr/>
        </p:nvSpPr>
        <p:spPr>
          <a:xfrm>
            <a:off x="9148343"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Scanner Técnico</a:t>
            </a:r>
            <a:endParaRPr lang="en-US" sz="1050" dirty="0"/>
          </a:p>
        </p:txBody>
      </p:sp>
      <p:sp>
        <p:nvSpPr>
          <p:cNvPr id="84" name="Text 66"/>
          <p:cNvSpPr/>
          <p:nvPr/>
        </p:nvSpPr>
        <p:spPr>
          <a:xfrm>
            <a:off x="9148343"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Indicadores combinados por ativo.</a:t>
            </a:r>
            <a:endParaRPr lang="en-US" sz="830" dirty="0"/>
          </a:p>
        </p:txBody>
      </p:sp>
      <p:sp>
        <p:nvSpPr>
          <p:cNvPr id="85" name="Text 6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86" name="Text 6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03.1  COMANDO DE VOZ</a:t>
            </a:r>
            <a:pPr indent="0" marL="0">
              <a:buNone/>
            </a:pP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Comando de voz em português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Botão 🎤 no cabeçalho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Clique no 🎤 (ou Ctrl+Espaço) e fale um comando. O botão pulsa em vermelho enquanto escuta e um balão mostra o que foi entendido.</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Navegar falando</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"posições", "operações", "nova operação", "alertas", "notícias", "qualidade", "conta corrente", "cripto", "scanner", "menu", "voltar"...</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4"/>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Atualizar</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"atualizar cotações", "atualizar cripto" e "atualizar notícias" — o mesmo efeito dos botões.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Consultar uma cotação</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"cotação de PETR4" ou "preço do BOVA 11" abrem Detalhes de Cotações já pesquisando o ticker.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Dicas e requisitos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6"/>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Diga "ajuda"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O balão lista os comandos disponíveis. Se a frase não for reconhecida, o sistema avisa e nada é executado.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7"/>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Chrome ou Edge, com microfone</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Permitir o microfone na 1ª vez; fora do computador local o site precisa estar em HTTPS. No Firefox o botão não aparece.</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04  </a:t>
            </a:r>
            <a:pPr indent="0" marL="0">
              <a:buNone/>
            </a:pPr>
            <a:r>
              <a:rPr lang="en-US" sz="1250" b="1" spc="200" kern="0" dirty="0">
                <a:solidFill>
                  <a:srgbClr val="00D68F"/>
                </a:solidFill>
                <a:latin typeface="Calibri" pitchFamily="34" charset="0"/>
                <a:ea typeface="Calibri" pitchFamily="34" charset="-122"/>
                <a:cs typeface="Calibri" pitchFamily="34" charset="-120"/>
              </a:rPr>
              <a:t>DASHBOARD</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Painel de controle</a:t>
            </a:r>
            <a:endParaRPr lang="en-US" sz="3000" dirty="0"/>
          </a:p>
        </p:txBody>
      </p:sp>
      <p:sp>
        <p:nvSpPr>
          <p:cNvPr id="4" name="Text 2"/>
          <p:cNvSpPr/>
          <p:nvPr/>
        </p:nvSpPr>
        <p:spPr>
          <a:xfrm>
            <a:off x="548640" y="1371600"/>
            <a:ext cx="8229600" cy="320040"/>
          </a:xfrm>
          <a:prstGeom prst="rect">
            <a:avLst/>
          </a:prstGeom>
          <a:noFill/>
          <a:ln/>
        </p:spPr>
        <p:txBody>
          <a:bodyPr wrap="square" lIns="0" tIns="0" rIns="0" bIns="0" rtlCol="0" anchor="ctr"/>
          <a:lstStyle/>
          <a:p>
            <a:pPr indent="0" marL="0">
              <a:buNone/>
            </a:pPr>
            <a:r>
              <a:rPr lang="en-US" sz="1200" dirty="0">
                <a:solidFill>
                  <a:srgbClr val="40496B"/>
                </a:solidFill>
                <a:latin typeface="Calibri" pitchFamily="34" charset="0"/>
                <a:ea typeface="Calibri" pitchFamily="34" charset="-122"/>
                <a:cs typeface="Calibri" pitchFamily="34" charset="-120"/>
              </a:rPr>
              <a:t>Tela inicial após o login — visão consolidada e rápida da carteira.</a:t>
            </a:r>
            <a:endParaRPr lang="en-US" sz="1200" dirty="0"/>
          </a:p>
        </p:txBody>
      </p:sp>
      <p:sp>
        <p:nvSpPr>
          <p:cNvPr id="5" name="Text 3"/>
          <p:cNvSpPr/>
          <p:nvPr/>
        </p:nvSpPr>
        <p:spPr>
          <a:xfrm>
            <a:off x="548640" y="178308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Cartões de resumo</a:t>
            </a:r>
            <a:endParaRPr lang="en-US" sz="1350" dirty="0"/>
          </a:p>
        </p:txBody>
      </p:sp>
      <p:sp>
        <p:nvSpPr>
          <p:cNvPr id="6" name="Shape 4"/>
          <p:cNvSpPr/>
          <p:nvPr/>
        </p:nvSpPr>
        <p:spPr>
          <a:xfrm>
            <a:off x="548640" y="2148840"/>
            <a:ext cx="2602154" cy="960120"/>
          </a:xfrm>
          <a:prstGeom prst="roundRect">
            <a:avLst>
              <a:gd name="adj" fmla="val 7619"/>
            </a:avLst>
          </a:prstGeom>
          <a:solidFill>
            <a:srgbClr val="F3F6FC"/>
          </a:solidFill>
          <a:ln/>
        </p:spPr>
        <p:txBody>
          <a:bodyPr/>
          <a:p/>
        </p:txBody>
      </p:sp>
      <p:sp>
        <p:nvSpPr>
          <p:cNvPr id="7" name="Text 5"/>
          <p:cNvSpPr/>
          <p:nvPr/>
        </p:nvSpPr>
        <p:spPr>
          <a:xfrm>
            <a:off x="694944"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Ativos em carteira</a:t>
            </a:r>
            <a:endParaRPr lang="en-US" sz="1450" dirty="0"/>
          </a:p>
        </p:txBody>
      </p:sp>
      <p:sp>
        <p:nvSpPr>
          <p:cNvPr id="8" name="Text 6"/>
          <p:cNvSpPr/>
          <p:nvPr/>
        </p:nvSpPr>
        <p:spPr>
          <a:xfrm>
            <a:off x="694944"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Nº de tickers comprados</a:t>
            </a:r>
            <a:endParaRPr lang="en-US" sz="950" dirty="0"/>
          </a:p>
        </p:txBody>
      </p:sp>
      <p:sp>
        <p:nvSpPr>
          <p:cNvPr id="9" name="Shape 7"/>
          <p:cNvSpPr/>
          <p:nvPr/>
        </p:nvSpPr>
        <p:spPr>
          <a:xfrm>
            <a:off x="3379394" y="2148840"/>
            <a:ext cx="2602154" cy="960120"/>
          </a:xfrm>
          <a:prstGeom prst="roundRect">
            <a:avLst>
              <a:gd name="adj" fmla="val 7619"/>
            </a:avLst>
          </a:prstGeom>
          <a:solidFill>
            <a:srgbClr val="F3F6FC"/>
          </a:solidFill>
          <a:ln/>
        </p:spPr>
        <p:txBody>
          <a:bodyPr/>
          <a:p/>
        </p:txBody>
      </p:sp>
      <p:sp>
        <p:nvSpPr>
          <p:cNvPr id="10" name="Text 8"/>
          <p:cNvSpPr/>
          <p:nvPr/>
        </p:nvSpPr>
        <p:spPr>
          <a:xfrm>
            <a:off x="3525698"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investido</a:t>
            </a:r>
            <a:endParaRPr lang="en-US" sz="1450" dirty="0"/>
          </a:p>
        </p:txBody>
      </p:sp>
      <p:sp>
        <p:nvSpPr>
          <p:cNvPr id="11" name="Text 9"/>
          <p:cNvSpPr/>
          <p:nvPr/>
        </p:nvSpPr>
        <p:spPr>
          <a:xfrm>
            <a:off x="3525698"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Capital aplicado</a:t>
            </a:r>
            <a:endParaRPr lang="en-US" sz="950" dirty="0"/>
          </a:p>
        </p:txBody>
      </p:sp>
      <p:sp>
        <p:nvSpPr>
          <p:cNvPr id="12" name="Shape 10"/>
          <p:cNvSpPr/>
          <p:nvPr/>
        </p:nvSpPr>
        <p:spPr>
          <a:xfrm>
            <a:off x="6210148" y="2148840"/>
            <a:ext cx="2602154" cy="960120"/>
          </a:xfrm>
          <a:prstGeom prst="roundRect">
            <a:avLst>
              <a:gd name="adj" fmla="val 7619"/>
            </a:avLst>
          </a:prstGeom>
          <a:solidFill>
            <a:srgbClr val="F3F6FC"/>
          </a:solidFill>
          <a:ln/>
        </p:spPr>
        <p:txBody>
          <a:bodyPr/>
          <a:p/>
        </p:txBody>
      </p:sp>
      <p:sp>
        <p:nvSpPr>
          <p:cNvPr id="13" name="Text 11"/>
          <p:cNvSpPr/>
          <p:nvPr/>
        </p:nvSpPr>
        <p:spPr>
          <a:xfrm>
            <a:off x="6356452"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atual</a:t>
            </a:r>
            <a:endParaRPr lang="en-US" sz="1450" dirty="0"/>
          </a:p>
        </p:txBody>
      </p:sp>
      <p:sp>
        <p:nvSpPr>
          <p:cNvPr id="14" name="Text 12"/>
          <p:cNvSpPr/>
          <p:nvPr/>
        </p:nvSpPr>
        <p:spPr>
          <a:xfrm>
            <a:off x="6356452"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Valor de mercado hoje</a:t>
            </a:r>
            <a:endParaRPr lang="en-US" sz="950" dirty="0"/>
          </a:p>
        </p:txBody>
      </p:sp>
      <p:sp>
        <p:nvSpPr>
          <p:cNvPr id="15" name="Shape 13"/>
          <p:cNvSpPr/>
          <p:nvPr/>
        </p:nvSpPr>
        <p:spPr>
          <a:xfrm>
            <a:off x="9040901" y="2148840"/>
            <a:ext cx="2602154" cy="960120"/>
          </a:xfrm>
          <a:prstGeom prst="roundRect">
            <a:avLst>
              <a:gd name="adj" fmla="val 7619"/>
            </a:avLst>
          </a:prstGeom>
          <a:solidFill>
            <a:srgbClr val="F3F6FC"/>
          </a:solidFill>
          <a:ln/>
        </p:spPr>
        <p:txBody>
          <a:bodyPr/>
          <a:p/>
        </p:txBody>
      </p:sp>
      <p:sp>
        <p:nvSpPr>
          <p:cNvPr id="16" name="Text 14"/>
          <p:cNvSpPr/>
          <p:nvPr/>
        </p:nvSpPr>
        <p:spPr>
          <a:xfrm>
            <a:off x="9187205"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0D68F"/>
                </a:solidFill>
                <a:latin typeface="Calibri" pitchFamily="34" charset="0"/>
                <a:ea typeface="Calibri" pitchFamily="34" charset="-122"/>
                <a:cs typeface="Calibri" pitchFamily="34" charset="-120"/>
              </a:rPr>
              <a:t>Lucro / Perda</a:t>
            </a:r>
            <a:endParaRPr lang="en-US" sz="1450" dirty="0"/>
          </a:p>
        </p:txBody>
      </p:sp>
      <p:sp>
        <p:nvSpPr>
          <p:cNvPr id="17" name="Text 15"/>
          <p:cNvSpPr/>
          <p:nvPr/>
        </p:nvSpPr>
        <p:spPr>
          <a:xfrm>
            <a:off x="9187205"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R$ e % consolidado</a:t>
            </a:r>
            <a:endParaRPr lang="en-US" sz="950" dirty="0"/>
          </a:p>
        </p:txBody>
      </p:sp>
      <p:sp>
        <p:nvSpPr>
          <p:cNvPr id="18" name="Shape 16"/>
          <p:cNvSpPr/>
          <p:nvPr/>
        </p:nvSpPr>
        <p:spPr>
          <a:xfrm>
            <a:off x="548640" y="3337560"/>
            <a:ext cx="5364328" cy="2651760"/>
          </a:xfrm>
          <a:prstGeom prst="roundRect">
            <a:avLst>
              <a:gd name="adj" fmla="val 310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9" name="Shape 17"/>
          <p:cNvSpPr/>
          <p:nvPr/>
        </p:nvSpPr>
        <p:spPr>
          <a:xfrm>
            <a:off x="804672" y="3575304"/>
            <a:ext cx="457200" cy="457200"/>
          </a:xfrm>
          <a:prstGeom prst="ellipse">
            <a:avLst/>
          </a:prstGeom>
          <a:solidFill>
            <a:srgbClr val="0D1B3E"/>
          </a:solidFill>
          <a:ln/>
        </p:spPr>
        <p:txBody>
          <a:bodyPr/>
          <a:p/>
        </p:txBody>
      </p:sp>
      <p:pic>
        <p:nvPicPr>
          <p:cNvPr id="20"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3694176"/>
            <a:ext cx="219456" cy="219456"/>
          </a:xfrm>
          <a:prstGeom prst="rect">
            <a:avLst/>
          </a:prstGeom>
        </p:spPr>
      </p:pic>
      <p:sp>
        <p:nvSpPr>
          <p:cNvPr id="21" name="Text 18"/>
          <p:cNvSpPr/>
          <p:nvPr/>
        </p:nvSpPr>
        <p:spPr>
          <a:xfrm>
            <a:off x="1426464" y="352044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Sua carteira x mercado</a:t>
            </a:r>
            <a:endParaRPr lang="en-US" sz="1450" dirty="0"/>
          </a:p>
        </p:txBody>
      </p:sp>
      <p:sp>
        <p:nvSpPr>
          <p:cNvPr id="22" name="Text 19"/>
          <p:cNvSpPr/>
          <p:nvPr/>
        </p:nvSpPr>
        <p:spPr>
          <a:xfrm>
            <a:off x="804672" y="4160520"/>
            <a:ext cx="4852264" cy="166420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Compara o retorno percentual da carteira comprada com o Ibovespa e o CDI, do início da posição mais antiga (limite de 90 dias) até hoje — responde se valeu a pena operar ativamente. Quando faltam dados, um botão de atualização busca o histórico mais recente das duas referências.</a:t>
            </a:r>
            <a:endParaRPr lang="en-US" sz="1100" dirty="0"/>
          </a:p>
        </p:txBody>
      </p:sp>
      <p:sp>
        <p:nvSpPr>
          <p:cNvPr id="23" name="Shape 20"/>
          <p:cNvSpPr/>
          <p:nvPr/>
        </p:nvSpPr>
        <p:spPr>
          <a:xfrm>
            <a:off x="6278728" y="3337560"/>
            <a:ext cx="5364328"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4" name="Shape 21"/>
          <p:cNvSpPr/>
          <p:nvPr/>
        </p:nvSpPr>
        <p:spPr>
          <a:xfrm>
            <a:off x="6534760" y="3575304"/>
            <a:ext cx="310896" cy="310896"/>
          </a:xfrm>
          <a:prstGeom prst="ellipse">
            <a:avLst/>
          </a:prstGeom>
          <a:solidFill>
            <a:srgbClr val="00D68F"/>
          </a:solidFill>
          <a:ln/>
        </p:spPr>
        <p:txBody>
          <a:bodyPr/>
          <a:p/>
        </p:txBody>
      </p:sp>
      <p:pic>
        <p:nvPicPr>
          <p:cNvPr id="25" name="Image 1" descr="C:\Users\PC ANTONIO\AppData\Roaming\Claude\scratch-workspaces\f0f5d1bc-bf72-4611-a8ea-e50e459a0a45\08c0c592-3fff-44bf-a144-086c85aaeea0\scratch-2026-09-22-98642c\icons\zap.png">    </p:cNvPr>
          <p:cNvPicPr>
            <a:picLocks noChangeAspect="1"/>
          </p:cNvPicPr>
          <p:nvPr/>
        </p:nvPicPr>
        <p:blipFill>
          <a:blip r:embed="rId2"/>
          <a:stretch>
            <a:fillRect/>
          </a:stretch>
        </p:blipFill>
        <p:spPr>
          <a:xfrm>
            <a:off x="6615593" y="3656137"/>
            <a:ext cx="149230" cy="149230"/>
          </a:xfrm>
          <a:prstGeom prst="rect">
            <a:avLst/>
          </a:prstGeom>
        </p:spPr>
      </p:pic>
      <p:sp>
        <p:nvSpPr>
          <p:cNvPr id="26" name="Text 22"/>
          <p:cNvSpPr/>
          <p:nvPr/>
        </p:nvSpPr>
        <p:spPr>
          <a:xfrm>
            <a:off x="7010248" y="35204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Ações rápidas</a:t>
            </a:r>
            <a:endParaRPr lang="en-US" sz="1450" dirty="0"/>
          </a:p>
        </p:txBody>
      </p:sp>
      <p:sp>
        <p:nvSpPr>
          <p:cNvPr id="27" name="Text 23"/>
          <p:cNvSpPr/>
          <p:nvPr/>
        </p:nvSpPr>
        <p:spPr>
          <a:xfrm>
            <a:off x="6534760" y="4014216"/>
            <a:ext cx="4852264" cy="39319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Atalhos: + Nova compra/venda, Ver posições, Atualizar cotações, Ver análise de mercado, Histórico e gráficos, Notícias.</a:t>
            </a:r>
            <a:endParaRPr lang="en-US" sz="1100" dirty="0"/>
          </a:p>
        </p:txBody>
      </p:sp>
      <p:sp>
        <p:nvSpPr>
          <p:cNvPr id="28" name="Shape 24"/>
          <p:cNvSpPr/>
          <p:nvPr/>
        </p:nvSpPr>
        <p:spPr>
          <a:xfrm>
            <a:off x="6278728" y="470916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9" name="Shape 25"/>
          <p:cNvSpPr/>
          <p:nvPr/>
        </p:nvSpPr>
        <p:spPr>
          <a:xfrm>
            <a:off x="6534760" y="4946904"/>
            <a:ext cx="310896" cy="310896"/>
          </a:xfrm>
          <a:prstGeom prst="ellipse">
            <a:avLst/>
          </a:prstGeom>
          <a:solidFill>
            <a:srgbClr val="0D1B3E"/>
          </a:solidFill>
          <a:ln/>
        </p:spPr>
        <p:txBody>
          <a:bodyPr/>
          <a:p/>
        </p:txBody>
      </p:sp>
      <p:pic>
        <p:nvPicPr>
          <p:cNvPr id="30" name="Image 2"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15593" y="5027737"/>
            <a:ext cx="149230" cy="149230"/>
          </a:xfrm>
          <a:prstGeom prst="rect">
            <a:avLst/>
          </a:prstGeom>
        </p:spPr>
      </p:pic>
      <p:sp>
        <p:nvSpPr>
          <p:cNvPr id="31" name="Text 26"/>
          <p:cNvSpPr/>
          <p:nvPr/>
        </p:nvSpPr>
        <p:spPr>
          <a:xfrm>
            <a:off x="7010248" y="48920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Posições em carteira (resumo)</a:t>
            </a:r>
            <a:endParaRPr lang="en-US" sz="1450" dirty="0"/>
          </a:p>
        </p:txBody>
      </p:sp>
      <p:sp>
        <p:nvSpPr>
          <p:cNvPr id="32" name="Text 27"/>
          <p:cNvSpPr/>
          <p:nvPr/>
        </p:nvSpPr>
        <p:spPr>
          <a:xfrm>
            <a:off x="6534760" y="5385816"/>
            <a:ext cx="4852264"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compacta com selos visuais: 🔖 Reservado, 🤖 Robô (posição automática) e 🎯 Meta atingida — vender.</a:t>
            </a:r>
            <a:endParaRPr lang="en-US" sz="1100" dirty="0"/>
          </a:p>
        </p:txBody>
      </p:sp>
      <p:sp>
        <p:nvSpPr>
          <p:cNvPr id="33" name="Text 2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Registrar uma nova compra ou reserva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Tela central para registrar e consultar compras, vendas e reservas, organizadas em três abas: Em carteira, Reservadas e Vendidas. Clique em "+ Nova compra/reserva" e preencha:</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4415" cy="914400"/>
        </p:xfrm>
        <a:graphic>
          <a:graphicData uri="http://schemas.openxmlformats.org/drawingml/2006/table">
            <a:tbl>
              <a:tblPr/>
              <a:tblGrid>
                <a:gridCol w="2926080"/>
                <a:gridCol w="8168335"/>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Compra (já efetivada) ou Reservar (intenção futura).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Ticker do ativo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Código da ação na B3 (ex.: PETR4, VALE3, ITUB4).</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Nº de ações. Em Reservar, fica limitada a 1.</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unitário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pago ou pretendido, em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Meta de lucro / perda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Opcional. Dispara alerta de meta atingida.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4343400"/>
            <a:ext cx="11094415" cy="777240"/>
          </a:xfrm>
          <a:prstGeom prst="roundRect">
            <a:avLst>
              <a:gd name="adj" fmla="val 9412"/>
            </a:avLst>
          </a:prstGeom>
          <a:solidFill>
            <a:srgbClr val="FFF4E5"/>
          </a:solidFill>
          <a:ln/>
        </p:spPr>
        <p:txBody>
          <a:bodyPr/>
          <a:p/>
        </p:txBody>
      </p:sp>
      <p:sp>
        <p:nvSpPr>
          <p:cNvPr id="7" name="Shape 4"/>
          <p:cNvSpPr/>
          <p:nvPr/>
        </p:nvSpPr>
        <p:spPr>
          <a:xfrm>
            <a:off x="731520" y="4567428"/>
            <a:ext cx="329184" cy="329184"/>
          </a:xfrm>
          <a:prstGeom prst="ellipse">
            <a:avLst/>
          </a:prstGeom>
          <a:solidFill>
            <a:srgbClr val="F5A623"/>
          </a:solidFill>
          <a:ln/>
        </p:spPr>
        <p:txBody>
          <a:bodyPr/>
          <a:p/>
        </p:txBody>
      </p:sp>
      <p:pic>
        <p:nvPicPr>
          <p:cNvPr id="8" name="Image 0" descr="C:\Users\PC ANTONIO\AppData\Roaming\Claude\scratch-workspaces\f0f5d1bc-bf72-4611-a8ea-e50e459a0a45\08c0c592-3fff-44bf-a144-086c85aaeea0\scratch-2026-09-22-98642c\icons\alert.png">    </p:cNvPr>
          <p:cNvPicPr>
            <a:picLocks noChangeAspect="1"/>
          </p:cNvPicPr>
          <p:nvPr/>
        </p:nvPicPr>
        <p:blipFill>
          <a:blip r:embed="rId1"/>
          <a:stretch>
            <a:fillRect/>
          </a:stretch>
        </p:blipFill>
        <p:spPr>
          <a:xfrm>
            <a:off x="803940" y="4639848"/>
            <a:ext cx="184343" cy="184343"/>
          </a:xfrm>
          <a:prstGeom prst="rect">
            <a:avLst/>
          </a:prstGeom>
        </p:spPr>
      </p:pic>
      <p:sp>
        <p:nvSpPr>
          <p:cNvPr id="9" name="Text 5"/>
          <p:cNvSpPr/>
          <p:nvPr/>
        </p:nvSpPr>
        <p:spPr>
          <a:xfrm>
            <a:off x="1225296" y="4434840"/>
            <a:ext cx="10234879" cy="5943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tem um limite configurável de ativos DIFERENTES comprados ao mesmo tempo (padrão: 10). O limite vale só para compra de verdade — registrar uma reserva não consome essa cota.</a:t>
            </a:r>
            <a:endParaRPr lang="en-US" sz="1050" dirty="0"/>
          </a:p>
        </p:txBody>
      </p:sp>
      <p:sp>
        <p:nvSpPr>
          <p:cNvPr id="10" name="Shape 6"/>
          <p:cNvSpPr/>
          <p:nvPr/>
        </p:nvSpPr>
        <p:spPr>
          <a:xfrm>
            <a:off x="548640" y="525780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7"/>
          <p:cNvSpPr/>
          <p:nvPr/>
        </p:nvSpPr>
        <p:spPr>
          <a:xfrm>
            <a:off x="804672" y="5495544"/>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885505" y="5576377"/>
            <a:ext cx="149230" cy="149230"/>
          </a:xfrm>
          <a:prstGeom prst="rect">
            <a:avLst/>
          </a:prstGeom>
        </p:spPr>
      </p:pic>
      <p:sp>
        <p:nvSpPr>
          <p:cNvPr id="13" name="Text 8"/>
          <p:cNvSpPr/>
          <p:nvPr/>
        </p:nvSpPr>
        <p:spPr>
          <a:xfrm>
            <a:off x="1280160" y="544068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Efetivar uma reserva como compra</a:t>
            </a:r>
            <a:endParaRPr lang="en-US" sz="1350" dirty="0"/>
          </a:p>
        </p:txBody>
      </p:sp>
      <p:sp>
        <p:nvSpPr>
          <p:cNvPr id="14" name="Text 9"/>
          <p:cNvSpPr/>
          <p:nvPr/>
        </p:nvSpPr>
        <p:spPr>
          <a:xfrm>
            <a:off x="804672" y="593445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Reservadas, o botão de efetivar permite ajustar quantidade, preço e data — eles podem diferir do planejado, pois o preço de mercado muda com o tempo. O mesmo limite de ativos diferentes se aplica aqui.</a:t>
            </a:r>
            <a:endParaRPr lang="en-US" sz="1050" dirty="0"/>
          </a:p>
        </p:txBody>
      </p:sp>
      <p:sp>
        <p:nvSpPr>
          <p:cNvPr id="15"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Vender, editar e filtrar operações</a:t>
            </a:r>
            <a:endParaRPr lang="en-US" sz="3000" dirty="0"/>
          </a:p>
        </p:txBody>
      </p:sp>
      <p:sp>
        <p:nvSpPr>
          <p:cNvPr id="4" name="Shape 2"/>
          <p:cNvSpPr/>
          <p:nvPr/>
        </p:nvSpPr>
        <p:spPr>
          <a:xfrm>
            <a:off x="548640" y="1463040"/>
            <a:ext cx="5364328" cy="2148840"/>
          </a:xfrm>
          <a:prstGeom prst="roundRect">
            <a:avLst>
              <a:gd name="adj" fmla="val 383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dollar.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Vender um lote (total ou parcial)</a:t>
            </a:r>
            <a:endParaRPr lang="en-US" sz="1400" dirty="0"/>
          </a:p>
        </p:txBody>
      </p:sp>
      <p:sp>
        <p:nvSpPr>
          <p:cNvPr id="8" name="Text 5"/>
          <p:cNvSpPr/>
          <p:nvPr/>
        </p:nvSpPr>
        <p:spPr>
          <a:xfrm>
            <a:off x="804672" y="2286000"/>
            <a:ext cx="4852264" cy="11612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Em carteira, é possível vender só parte da quantidade — o saldo restante segue na carteira. A venda calcula automaticamente: valor líquido a receber, lucro/perda em R$ e %, e lucro/perda por dia em carteira. Vender 100% não apaga o registro: ele passa para a aba Vendidas e pode ser reaberto para correção.</a:t>
            </a:r>
            <a:endParaRPr lang="en-US" sz="1050" dirty="0"/>
          </a:p>
        </p:txBody>
      </p:sp>
      <p:sp>
        <p:nvSpPr>
          <p:cNvPr id="9" name="Shape 6"/>
          <p:cNvSpPr/>
          <p:nvPr/>
        </p:nvSpPr>
        <p:spPr>
          <a:xfrm>
            <a:off x="6278728" y="1600200"/>
            <a:ext cx="384048" cy="384048"/>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edit.png">    </p:cNvPr>
          <p:cNvPicPr>
            <a:picLocks noChangeAspect="1"/>
          </p:cNvPicPr>
          <p:nvPr/>
        </p:nvPicPr>
        <p:blipFill>
          <a:blip r:embed="rId2"/>
          <a:stretch>
            <a:fillRect/>
          </a:stretch>
        </p:blipFill>
        <p:spPr>
          <a:xfrm>
            <a:off x="6370899" y="1692372"/>
            <a:ext cx="199705" cy="199705"/>
          </a:xfrm>
          <a:prstGeom prst="rect">
            <a:avLst/>
          </a:prstGeom>
        </p:spPr>
      </p:pic>
      <p:sp>
        <p:nvSpPr>
          <p:cNvPr id="11" name="Text 7"/>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Editar ou excluir</a:t>
            </a:r>
            <a:endParaRPr lang="en-US" sz="1250" dirty="0"/>
          </a:p>
        </p:txBody>
      </p:sp>
      <p:sp>
        <p:nvSpPr>
          <p:cNvPr id="12" name="Text 8"/>
          <p:cNvSpPr/>
          <p:nvPr/>
        </p:nvSpPr>
        <p:spPr>
          <a:xfrm>
            <a:off x="6809080" y="181965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Compras e reservas podem ser editadas ou excluídas definitivamente. A exclusão pede confirmação e não pode ser desfeita.</a:t>
            </a:r>
            <a:endParaRPr lang="en-US" sz="1000" dirty="0"/>
          </a:p>
        </p:txBody>
      </p:sp>
      <p:sp>
        <p:nvSpPr>
          <p:cNvPr id="13" name="Shape 9"/>
          <p:cNvSpPr/>
          <p:nvPr/>
        </p:nvSpPr>
        <p:spPr>
          <a:xfrm>
            <a:off x="6278728" y="2697480"/>
            <a:ext cx="384048" cy="384048"/>
          </a:xfrm>
          <a:prstGeom prst="ellipse">
            <a:avLst/>
          </a:prstGeom>
          <a:solidFill>
            <a:srgbClr val="0D1B3E"/>
          </a:solidFill>
          <a:ln/>
        </p:spPr>
        <p:txBody>
          <a:bodyPr/>
          <a:p/>
        </p:txBody>
      </p:sp>
      <p:pic>
        <p:nvPicPr>
          <p:cNvPr id="14" name="Image 2" descr="C:\Users\PC ANTONIO\AppData\Roaming\Claude\scratch-workspaces\f0f5d1bc-bf72-4611-a8ea-e50e459a0a45\08c0c592-3fff-44bf-a144-086c85aaeea0\scratch-2026-09-22-98642c\icons\filter.png">    </p:cNvPr>
          <p:cNvPicPr>
            <a:picLocks noChangeAspect="1"/>
          </p:cNvPicPr>
          <p:nvPr/>
        </p:nvPicPr>
        <p:blipFill>
          <a:blip r:embed="rId3"/>
          <a:stretch>
            <a:fillRect/>
          </a:stretch>
        </p:blipFill>
        <p:spPr>
          <a:xfrm>
            <a:off x="6370899" y="2789652"/>
            <a:ext cx="199705" cy="199705"/>
          </a:xfrm>
          <a:prstGeom prst="rect">
            <a:avLst/>
          </a:prstGeom>
        </p:spPr>
      </p:pic>
      <p:sp>
        <p:nvSpPr>
          <p:cNvPr id="15" name="Text 10"/>
          <p:cNvSpPr/>
          <p:nvPr/>
        </p:nvSpPr>
        <p:spPr>
          <a:xfrm>
            <a:off x="6809080" y="266090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Filtros por período e ativo</a:t>
            </a:r>
            <a:endParaRPr lang="en-US" sz="1250" dirty="0"/>
          </a:p>
        </p:txBody>
      </p:sp>
      <p:sp>
        <p:nvSpPr>
          <p:cNvPr id="16" name="Text 11"/>
          <p:cNvSpPr/>
          <p:nvPr/>
        </p:nvSpPr>
        <p:spPr>
          <a:xfrm>
            <a:off x="6809080" y="291693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Em carteira e Reservadas filtram pela data da operação; Vendidas filtra pela data da venda. Sem filtro, mostra o mês corrente.</a:t>
            </a:r>
            <a:endParaRPr lang="en-US" sz="1000" dirty="0"/>
          </a:p>
        </p:txBody>
      </p:sp>
      <p:sp>
        <p:nvSpPr>
          <p:cNvPr id="17" name="Text 12"/>
          <p:cNvSpPr/>
          <p:nvPr/>
        </p:nvSpPr>
        <p:spPr>
          <a:xfrm>
            <a:off x="548640" y="379476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Campos do formulário de venda</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1094415" cy="914400"/>
        </p:xfrm>
        <a:graphic>
          <a:graphicData uri="http://schemas.openxmlformats.org/drawingml/2006/table">
            <a:tbl>
              <a:tblPr/>
              <a:tblGrid>
                <a:gridCol w="3291840"/>
                <a:gridCol w="780257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 vendida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Não pode passar do saldo disponível daquele lote.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de venda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pelo qual as ações foram vendidas.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Percentual da corretora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Taxa cobrada pela corretora sobre a venda, se houver.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0" name="Text 14"/>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05.6  </a:t>
            </a:r>
            <a:pPr indent="0" marL="0">
              <a:buNone/>
            </a:pPr>
            <a:r>
              <a:rPr lang="en-US" sz="1250" b="1" spc="200" kern="0" dirty="0">
                <a:solidFill>
                  <a:srgbClr val="00D68F"/>
                </a:solidFill>
                <a:latin typeface="Calibri" pitchFamily="34" charset="0"/>
                <a:ea typeface="Calibri" pitchFamily="34" charset="-122"/>
                <a:cs typeface="Calibri" pitchFamily="34" charset="-120"/>
              </a:rPr>
              <a:t>RELATÓRIOS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Exportação de relatórios (Excel / PDF)</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Os botões "⬇ Exportar Excel" e "⬇ Exportar PDF" respeitam os filtros de data e ativo ativos no momento e geram um relatório com três seções, espelhando as abas da tela:</a:t>
            </a:r>
            <a:endParaRPr lang="en-US" sz="1150" dirty="0"/>
          </a:p>
        </p:txBody>
      </p:sp>
      <p:sp>
        <p:nvSpPr>
          <p:cNvPr id="5" name="Shape 3"/>
          <p:cNvSpPr/>
          <p:nvPr/>
        </p:nvSpPr>
        <p:spPr>
          <a:xfrm>
            <a:off x="548640"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9514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ayers.png">    </p:cNvPr>
          <p:cNvPicPr>
            <a:picLocks noChangeAspect="1"/>
          </p:cNvPicPr>
          <p:nvPr/>
        </p:nvPicPr>
        <p:blipFill>
          <a:blip r:embed="rId1"/>
          <a:stretch>
            <a:fillRect/>
          </a:stretch>
        </p:blipFill>
        <p:spPr>
          <a:xfrm>
            <a:off x="923544" y="2414016"/>
            <a:ext cx="219456" cy="219456"/>
          </a:xfrm>
          <a:prstGeom prst="rect">
            <a:avLst/>
          </a:prstGeom>
        </p:spPr>
      </p:pic>
      <p:sp>
        <p:nvSpPr>
          <p:cNvPr id="8" name="Text 5"/>
          <p:cNvSpPr/>
          <p:nvPr/>
        </p:nvSpPr>
        <p:spPr>
          <a:xfrm>
            <a:off x="1426464"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Em carteira</a:t>
            </a:r>
            <a:endParaRPr lang="en-US" sz="1350" dirty="0"/>
          </a:p>
        </p:txBody>
      </p:sp>
      <p:sp>
        <p:nvSpPr>
          <p:cNvPr id="9" name="Text 6"/>
          <p:cNvSpPr/>
          <p:nvPr/>
        </p:nvSpPr>
        <p:spPr>
          <a:xfrm>
            <a:off x="804672"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e valores comprados, saldo, lucro/perda realizado, meta.</a:t>
            </a:r>
            <a:endParaRPr lang="en-US" sz="1050" dirty="0"/>
          </a:p>
        </p:txBody>
      </p:sp>
      <p:sp>
        <p:nvSpPr>
          <p:cNvPr id="10" name="Shape 7"/>
          <p:cNvSpPr/>
          <p:nvPr/>
        </p:nvSpPr>
        <p:spPr>
          <a:xfrm>
            <a:off x="4338218"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9514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dollar.png">    </p:cNvPr>
          <p:cNvPicPr>
            <a:picLocks noChangeAspect="1"/>
          </p:cNvPicPr>
          <p:nvPr/>
        </p:nvPicPr>
        <p:blipFill>
          <a:blip r:embed="rId2"/>
          <a:stretch>
            <a:fillRect/>
          </a:stretch>
        </p:blipFill>
        <p:spPr>
          <a:xfrm>
            <a:off x="4713122" y="2414016"/>
            <a:ext cx="219456" cy="219456"/>
          </a:xfrm>
          <a:prstGeom prst="rect">
            <a:avLst/>
          </a:prstGeom>
        </p:spPr>
      </p:pic>
      <p:sp>
        <p:nvSpPr>
          <p:cNvPr id="13" name="Text 9"/>
          <p:cNvSpPr/>
          <p:nvPr/>
        </p:nvSpPr>
        <p:spPr>
          <a:xfrm>
            <a:off x="5216042"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Vendidas</a:t>
            </a:r>
            <a:endParaRPr lang="en-US" sz="1350" dirty="0"/>
          </a:p>
        </p:txBody>
      </p:sp>
      <p:sp>
        <p:nvSpPr>
          <p:cNvPr id="14" name="Text 10"/>
          <p:cNvSpPr/>
          <p:nvPr/>
        </p:nvSpPr>
        <p:spPr>
          <a:xfrm>
            <a:off x="4594250"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compra/venda, dias em carteira, preços, corretora, valor líquido, lucro/perda por dia.</a:t>
            </a:r>
            <a:endParaRPr lang="en-US" sz="1050" dirty="0"/>
          </a:p>
        </p:txBody>
      </p:sp>
      <p:sp>
        <p:nvSpPr>
          <p:cNvPr id="15" name="Shape 11"/>
          <p:cNvSpPr/>
          <p:nvPr/>
        </p:nvSpPr>
        <p:spPr>
          <a:xfrm>
            <a:off x="8127797"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9514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arget.png">    </p:cNvPr>
          <p:cNvPicPr>
            <a:picLocks noChangeAspect="1"/>
          </p:cNvPicPr>
          <p:nvPr/>
        </p:nvPicPr>
        <p:blipFill>
          <a:blip r:embed="rId3"/>
          <a:stretch>
            <a:fillRect/>
          </a:stretch>
        </p:blipFill>
        <p:spPr>
          <a:xfrm>
            <a:off x="8502701" y="2414016"/>
            <a:ext cx="219456" cy="219456"/>
          </a:xfrm>
          <a:prstGeom prst="rect">
            <a:avLst/>
          </a:prstGeom>
        </p:spPr>
      </p:pic>
      <p:sp>
        <p:nvSpPr>
          <p:cNvPr id="18" name="Text 13"/>
          <p:cNvSpPr/>
          <p:nvPr/>
        </p:nvSpPr>
        <p:spPr>
          <a:xfrm>
            <a:off x="9005621"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Reservadas</a:t>
            </a:r>
            <a:endParaRPr lang="en-US" sz="1350" dirty="0"/>
          </a:p>
        </p:txBody>
      </p:sp>
      <p:sp>
        <p:nvSpPr>
          <p:cNvPr id="19" name="Text 14"/>
          <p:cNvSpPr/>
          <p:nvPr/>
        </p:nvSpPr>
        <p:spPr>
          <a:xfrm>
            <a:off x="8383829"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preço pretendido, variação desde a reserva, meta.</a:t>
            </a:r>
            <a:endParaRPr lang="en-US" sz="1050" dirty="0"/>
          </a:p>
        </p:txBody>
      </p:sp>
      <p:sp>
        <p:nvSpPr>
          <p:cNvPr id="20" name="Shape 15"/>
          <p:cNvSpPr/>
          <p:nvPr/>
        </p:nvSpPr>
        <p:spPr>
          <a:xfrm>
            <a:off x="548640" y="4709160"/>
            <a:ext cx="11094415" cy="685800"/>
          </a:xfrm>
          <a:prstGeom prst="roundRect">
            <a:avLst>
              <a:gd name="adj" fmla="val 10667"/>
            </a:avLst>
          </a:prstGeom>
          <a:solidFill>
            <a:srgbClr val="EAF0FB"/>
          </a:solidFill>
          <a:ln/>
        </p:spPr>
        <p:txBody>
          <a:bodyPr/>
          <a:p/>
        </p:txBody>
      </p:sp>
      <p:sp>
        <p:nvSpPr>
          <p:cNvPr id="21" name="Shape 16"/>
          <p:cNvSpPr/>
          <p:nvPr/>
        </p:nvSpPr>
        <p:spPr>
          <a:xfrm>
            <a:off x="731520" y="488746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4959888"/>
            <a:ext cx="184343" cy="184343"/>
          </a:xfrm>
          <a:prstGeom prst="rect">
            <a:avLst/>
          </a:prstGeom>
        </p:spPr>
      </p:pic>
      <p:sp>
        <p:nvSpPr>
          <p:cNvPr id="23" name="Text 17"/>
          <p:cNvSpPr/>
          <p:nvPr/>
        </p:nvSpPr>
        <p:spPr>
          <a:xfrm>
            <a:off x="1225296" y="48006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seção traz o período usado no filtro no topo e uma linha de TOTAL ao final, somando as colunas em R$ (percentuais e preços unitários não são somados).</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  </a:t>
            </a:r>
            <a:pPr indent="0" marL="0">
              <a:buNone/>
            </a:pPr>
            <a:r>
              <a:rPr lang="en-US" sz="1250" b="1" spc="200" kern="0" dirty="0">
                <a:solidFill>
                  <a:srgbClr val="00D68F"/>
                </a:solidFill>
                <a:latin typeface="Calibri" pitchFamily="34" charset="0"/>
                <a:ea typeface="Calibri" pitchFamily="34" charset="-122"/>
                <a:cs typeface="Calibri" pitchFamily="34" charset="-120"/>
              </a:rPr>
              <a:t>POSIÇÕES EM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Visão consolidada da carteira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Consolida as operações de compra por ativo (preço médio, quantidade total), em vez de lote por lote. Organizada em três abas: Compradas, Reservadas e Reservadas pelo Robô.</a:t>
            </a:r>
            <a:endParaRPr lang="en-US" sz="1150" dirty="0"/>
          </a:p>
        </p:txBody>
      </p:sp>
      <p:sp>
        <p:nvSpPr>
          <p:cNvPr id="5" name="Shape 3"/>
          <p:cNvSpPr/>
          <p:nvPr/>
        </p:nvSpPr>
        <p:spPr>
          <a:xfrm>
            <a:off x="548640"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ist.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Aba Compradas</a:t>
            </a:r>
            <a:endParaRPr lang="en-US" sz="1400" dirty="0"/>
          </a:p>
        </p:txBody>
      </p:sp>
      <p:sp>
        <p:nvSpPr>
          <p:cNvPr id="9" name="Text 6"/>
          <p:cNvSpPr/>
          <p:nvPr/>
        </p:nvSpPr>
        <p:spPr>
          <a:xfrm>
            <a:off x="804672"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Uma linha por ativo: dias em carteira, lucro/perda, quantidade, preço médio, valor investido/atual, metas e tendência. Selos 🎯 Meta atingida e 🤖 Robô destacam linhas especiais. A coluna Ação permite vender, alterar ou excluir sem sair da tela.</a:t>
            </a:r>
            <a:endParaRPr lang="en-US" sz="1050" dirty="0"/>
          </a:p>
        </p:txBody>
      </p:sp>
      <p:sp>
        <p:nvSpPr>
          <p:cNvPr id="10" name="Shape 7"/>
          <p:cNvSpPr/>
          <p:nvPr/>
        </p:nvSpPr>
        <p:spPr>
          <a:xfrm>
            <a:off x="6278728"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24942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arget.png">    </p:cNvPr>
          <p:cNvPicPr>
            <a:picLocks noChangeAspect="1"/>
          </p:cNvPicPr>
          <p:nvPr/>
        </p:nvPicPr>
        <p:blipFill>
          <a:blip r:embed="rId2"/>
          <a:stretch>
            <a:fillRect/>
          </a:stretch>
        </p:blipFill>
        <p:spPr>
          <a:xfrm>
            <a:off x="6653632" y="2368296"/>
            <a:ext cx="219456" cy="219456"/>
          </a:xfrm>
          <a:prstGeom prst="rect">
            <a:avLst/>
          </a:prstGeom>
        </p:spPr>
      </p:pic>
      <p:sp>
        <p:nvSpPr>
          <p:cNvPr id="13" name="Text 9"/>
          <p:cNvSpPr/>
          <p:nvPr/>
        </p:nvSpPr>
        <p:spPr>
          <a:xfrm>
            <a:off x="7156552"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Reservadas e Reservadas pelo Robô</a:t>
            </a:r>
            <a:endParaRPr lang="en-US" sz="1400" dirty="0"/>
          </a:p>
        </p:txBody>
      </p:sp>
      <p:sp>
        <p:nvSpPr>
          <p:cNvPr id="14" name="Text 10"/>
          <p:cNvSpPr/>
          <p:nvPr/>
        </p:nvSpPr>
        <p:spPr>
          <a:xfrm>
            <a:off x="6534760"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Mostram ativo, preço pretendido, cotação atual, variação desde a reserva e tendência. A aba do robô reúne reservas automáticas; quando o preço cai o suficiente, aparece o selo 📉 Baixa atingida — comprar.</a:t>
            </a:r>
            <a:endParaRPr lang="en-US" sz="1050" dirty="0"/>
          </a:p>
        </p:txBody>
      </p:sp>
      <p:sp>
        <p:nvSpPr>
          <p:cNvPr id="15" name="Shape 11"/>
          <p:cNvSpPr/>
          <p:nvPr/>
        </p:nvSpPr>
        <p:spPr>
          <a:xfrm>
            <a:off x="548640" y="379476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032504"/>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rendUp.png">    </p:cNvPr>
          <p:cNvPicPr>
            <a:picLocks noChangeAspect="1"/>
          </p:cNvPicPr>
          <p:nvPr/>
        </p:nvPicPr>
        <p:blipFill>
          <a:blip r:embed="rId3"/>
          <a:stretch>
            <a:fillRect/>
          </a:stretch>
        </p:blipFill>
        <p:spPr>
          <a:xfrm>
            <a:off x="885505" y="4113337"/>
            <a:ext cx="149230" cy="149230"/>
          </a:xfrm>
          <a:prstGeom prst="rect">
            <a:avLst/>
          </a:prstGeom>
        </p:spPr>
      </p:pic>
      <p:sp>
        <p:nvSpPr>
          <p:cNvPr id="18" name="Text 13"/>
          <p:cNvSpPr/>
          <p:nvPr/>
        </p:nvSpPr>
        <p:spPr>
          <a:xfrm>
            <a:off x="1280160" y="397764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Valor de compra x valor atual (histórico) e carteira x mercado</a:t>
            </a:r>
            <a:endParaRPr lang="en-US" sz="1350" dirty="0"/>
          </a:p>
        </p:txBody>
      </p:sp>
      <p:sp>
        <p:nvSpPr>
          <p:cNvPr id="19" name="Text 14"/>
          <p:cNvSpPr/>
          <p:nvPr/>
        </p:nvSpPr>
        <p:spPr>
          <a:xfrm>
            <a:off x="804672" y="447141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por ativo comparando valor pago x valor atual ao longo do tempo, além do mesmo comparativo de retorno da carteira frente ao Ibovespa e ao CDI disponível no Painel.</a:t>
            </a:r>
            <a:endParaRPr lang="en-US" sz="1050" dirty="0"/>
          </a:p>
        </p:txBody>
      </p:sp>
      <p:sp>
        <p:nvSpPr>
          <p:cNvPr id="20" name="Shape 15"/>
          <p:cNvSpPr/>
          <p:nvPr/>
        </p:nvSpPr>
        <p:spPr>
          <a:xfrm>
            <a:off x="548640" y="5166360"/>
            <a:ext cx="11094415" cy="594360"/>
          </a:xfrm>
          <a:prstGeom prst="roundRect">
            <a:avLst>
              <a:gd name="adj" fmla="val 12308"/>
            </a:avLst>
          </a:prstGeom>
          <a:solidFill>
            <a:srgbClr val="EAF0FB"/>
          </a:solidFill>
          <a:ln/>
        </p:spPr>
        <p:txBody>
          <a:bodyPr/>
          <a:p/>
        </p:txBody>
      </p:sp>
      <p:sp>
        <p:nvSpPr>
          <p:cNvPr id="21" name="Shape 16"/>
          <p:cNvSpPr/>
          <p:nvPr/>
        </p:nvSpPr>
        <p:spPr>
          <a:xfrm>
            <a:off x="731520" y="529894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5371368"/>
            <a:ext cx="184343" cy="184343"/>
          </a:xfrm>
          <a:prstGeom prst="rect">
            <a:avLst/>
          </a:prstGeom>
        </p:spPr>
      </p:pic>
      <p:sp>
        <p:nvSpPr>
          <p:cNvPr id="23" name="Text 17"/>
          <p:cNvSpPr/>
          <p:nvPr/>
        </p:nvSpPr>
        <p:spPr>
          <a:xfrm>
            <a:off x="1225296" y="52578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botão "🔎 Scanner Técnico", no topo desta tela, leva à análise técnica combinada de cada ativo comprado.</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06.4  </a:t>
            </a:r>
            <a:pPr indent="0" marL="0">
              <a:buNone/>
            </a:pPr>
            <a:r>
              <a:rPr lang="en-US" sz="1250" b="1" spc="200" kern="0" dirty="0">
                <a:solidFill>
                  <a:srgbClr val="00D68F"/>
                </a:solidFill>
                <a:latin typeface="Calibri" pitchFamily="34" charset="0"/>
                <a:ea typeface="Calibri" pitchFamily="34" charset="-122"/>
                <a:cs typeface="Calibri" pitchFamily="34" charset="-120"/>
              </a:rPr>
              <a:t>GESTÃO DE RISCO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Concentração por setor e indicadores de risco</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Concentração por setor</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Agrupa o valor atual das posições compradas por setor da empresa e mostra o percentual de cada setor sobre o total da carteira, com barra visual. Setores acima de 40% aparecem com o selo ⚠ concentrado — útil porque o limite de ativos diferentes não enxerga diversificação dentro do mesmo setor.</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Indicadores de risco por posição e por carteira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Volatilidade anualizada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Calculada nos últimos 30 pregões, por ativo comprado.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Maior drawdown</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Queda do topo ao fundo nos últimos 30 pregões.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 da carteira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posição sobre o total — também em gráfico de rosca.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Índice de Herfindahl</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Concentração da carteira inteira — quanto mais perto de 1, mais concentrada em uma posição.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destaca em vermelho quando um único ativo já responde por 40% ou mais da carteira.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06.6  </a:t>
            </a:r>
            <a:pPr indent="0" marL="0">
              <a:buNone/>
            </a:pPr>
            <a:r>
              <a:rPr lang="en-US" sz="1250" b="1" spc="200" kern="0" dirty="0">
                <a:solidFill>
                  <a:srgbClr val="00D68F"/>
                </a:solidFill>
                <a:latin typeface="Calibri" pitchFamily="34" charset="0"/>
                <a:ea typeface="Calibri" pitchFamily="34" charset="-122"/>
                <a:cs typeface="Calibri" pitchFamily="34" charset="-120"/>
              </a:rPr>
              <a:t>RISCO DA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Correlação e teste de estresse</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Diversificar não é ter muitos tickers</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Oito ações que sobem e caem juntas protegem tanto quanto uma. Na aba Indicadores de risco, o sistema olha a carteira inteira — tudo calculado com as cotações já salvas, sem consultar a API.</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aba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Gráfico de rosca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ativo: as 5 maiores posições e o resto somado em "Outros".</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Correlação entre os ativos</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Mapa de calor de 120 pregões: 1 = andam juntos, -1 = opostos. Avisa os pares ≥ 0,7.</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Beta e cenários de queda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Quanto a carteira cairia se o Ibovespa cair 10%, 20% ou 30%, em % e em R$.</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Piores períodos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Pior dia, semana e mês que a carteira atual, com as mesmas quantidades, teria tido no último ano.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São estimativas pelo passado: numa crise as quedas costumam ser maiores. Sem histórico do Ibovespa, clique em Atualizar benchmarks.</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  </a:t>
            </a:r>
            <a:pPr indent="0" marL="0">
              <a:buNone/>
            </a:pPr>
            <a:r>
              <a:rPr lang="en-US" sz="1250" b="1" spc="200" kern="0" dirty="0">
                <a:solidFill>
                  <a:srgbClr val="00D68F"/>
                </a:solidFill>
                <a:latin typeface="Calibri" pitchFamily="34" charset="0"/>
                <a:ea typeface="Calibri" pitchFamily="34" charset="-122"/>
                <a:cs typeface="Calibri" pitchFamily="34" charset="-120"/>
              </a:rPr>
              <a:t>ROBÔ CONSULTOR</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Como o robô consultor decide</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Mecanismo automático de análise técnica que roda a cada atualização de cotações. Não executa nenhuma ordem real — apenas gera alertas e, em caso de sinal de compra, registra uma reserva automática.</a:t>
            </a:r>
            <a:endParaRPr lang="en-US" sz="1150" dirty="0"/>
          </a:p>
        </p:txBody>
      </p:sp>
      <p:sp>
        <p:nvSpPr>
          <p:cNvPr id="5" name="Shape 3"/>
          <p:cNvSpPr/>
          <p:nvPr/>
        </p:nvSpPr>
        <p:spPr>
          <a:xfrm>
            <a:off x="548640"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Tendência</a:t>
            </a:r>
            <a:endParaRPr lang="en-US" sz="1350" dirty="0"/>
          </a:p>
        </p:txBody>
      </p:sp>
      <p:sp>
        <p:nvSpPr>
          <p:cNvPr id="9" name="Text 6"/>
          <p:cNvSpPr/>
          <p:nvPr/>
        </p:nvSpPr>
        <p:spPr>
          <a:xfrm>
            <a:off x="804672"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a média móvel de curto prazo com a de longo prazo.</a:t>
            </a:r>
            <a:endParaRPr lang="en-US" sz="1050" dirty="0"/>
          </a:p>
        </p:txBody>
      </p:sp>
      <p:sp>
        <p:nvSpPr>
          <p:cNvPr id="10" name="Shape 7"/>
          <p:cNvSpPr/>
          <p:nvPr/>
        </p:nvSpPr>
        <p:spPr>
          <a:xfrm>
            <a:off x="4338218"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49424"/>
            <a:ext cx="457200" cy="457200"/>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4713122" y="2368296"/>
            <a:ext cx="219456" cy="219456"/>
          </a:xfrm>
          <a:prstGeom prst="rect">
            <a:avLst/>
          </a:prstGeom>
        </p:spPr>
      </p:pic>
      <p:sp>
        <p:nvSpPr>
          <p:cNvPr id="13" name="Text 9"/>
          <p:cNvSpPr/>
          <p:nvPr/>
        </p:nvSpPr>
        <p:spPr>
          <a:xfrm>
            <a:off x="5216042"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RSI (IFR)</a:t>
            </a:r>
            <a:endParaRPr lang="en-US" sz="1350" dirty="0"/>
          </a:p>
        </p:txBody>
      </p:sp>
      <p:sp>
        <p:nvSpPr>
          <p:cNvPr id="14" name="Text 10"/>
          <p:cNvSpPr/>
          <p:nvPr/>
        </p:nvSpPr>
        <p:spPr>
          <a:xfrm>
            <a:off x="4594250"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se o ativo está sobrecomprado ou sobrevendido.</a:t>
            </a:r>
            <a:endParaRPr lang="en-US" sz="1050" dirty="0"/>
          </a:p>
        </p:txBody>
      </p:sp>
      <p:sp>
        <p:nvSpPr>
          <p:cNvPr id="15" name="Shape 11"/>
          <p:cNvSpPr/>
          <p:nvPr/>
        </p:nvSpPr>
        <p:spPr>
          <a:xfrm>
            <a:off x="8127797"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4942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zap.png">    </p:cNvPr>
          <p:cNvPicPr>
            <a:picLocks noChangeAspect="1"/>
          </p:cNvPicPr>
          <p:nvPr/>
        </p:nvPicPr>
        <p:blipFill>
          <a:blip r:embed="rId3"/>
          <a:stretch>
            <a:fillRect/>
          </a:stretch>
        </p:blipFill>
        <p:spPr>
          <a:xfrm>
            <a:off x="8502701" y="2368296"/>
            <a:ext cx="219456" cy="219456"/>
          </a:xfrm>
          <a:prstGeom prst="rect">
            <a:avLst/>
          </a:prstGeom>
        </p:spPr>
      </p:pic>
      <p:sp>
        <p:nvSpPr>
          <p:cNvPr id="18" name="Text 13"/>
          <p:cNvSpPr/>
          <p:nvPr/>
        </p:nvSpPr>
        <p:spPr>
          <a:xfrm>
            <a:off x="9005621"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MACD</a:t>
            </a:r>
            <a:endParaRPr lang="en-US" sz="1350" dirty="0"/>
          </a:p>
        </p:txBody>
      </p:sp>
      <p:sp>
        <p:nvSpPr>
          <p:cNvPr id="19" name="Text 14"/>
          <p:cNvSpPr/>
          <p:nvPr/>
        </p:nvSpPr>
        <p:spPr>
          <a:xfrm>
            <a:off x="8383829"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a força e a direção do movimento recente do preço.</a:t>
            </a:r>
            <a:endParaRPr lang="en-US" sz="1050" dirty="0"/>
          </a:p>
        </p:txBody>
      </p:sp>
      <p:sp>
        <p:nvSpPr>
          <p:cNvPr id="20" name="Text 15"/>
          <p:cNvSpPr/>
          <p:nvPr/>
        </p:nvSpPr>
        <p:spPr>
          <a:xfrm>
            <a:off x="548640" y="3566160"/>
            <a:ext cx="11094415" cy="320040"/>
          </a:xfrm>
          <a:prstGeom prst="rect">
            <a:avLst/>
          </a:prstGeom>
          <a:noFill/>
          <a:ln/>
        </p:spPr>
        <p:txBody>
          <a:bodyPr wrap="square" lIns="0" tIns="0" rIns="0" bIns="0" rtlCol="0" anchor="ctr"/>
          <a:lstStyle/>
          <a:p>
            <a:pPr indent="0" marL="0">
              <a:buNone/>
            </a:pPr>
            <a:r>
              <a:rPr lang="en-US" sz="1050" i="1" dirty="0">
                <a:solidFill>
                  <a:srgbClr val="7C89A8"/>
                </a:solidFill>
                <a:latin typeface="Calibri" pitchFamily="34" charset="0"/>
                <a:ea typeface="Calibri" pitchFamily="34" charset="-122"/>
                <a:cs typeface="Calibri" pitchFamily="34" charset="-120"/>
              </a:rPr>
              <a:t>O "sinal geral" soma votos de compra x votos de venda entre os três indicadores, visível na tela Análise de Mercado.</a:t>
            </a:r>
            <a:endParaRPr lang="en-US" sz="1050" dirty="0"/>
          </a:p>
        </p:txBody>
      </p:sp>
      <p:sp>
        <p:nvSpPr>
          <p:cNvPr id="21" name="Shape 16"/>
          <p:cNvSpPr/>
          <p:nvPr/>
        </p:nvSpPr>
        <p:spPr>
          <a:xfrm>
            <a:off x="548640"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7"/>
          <p:cNvSpPr/>
          <p:nvPr/>
        </p:nvSpPr>
        <p:spPr>
          <a:xfrm>
            <a:off x="804672" y="4261104"/>
            <a:ext cx="457200" cy="457200"/>
          </a:xfrm>
          <a:prstGeom prst="ellipse">
            <a:avLst/>
          </a:prstGeom>
          <a:solidFill>
            <a:srgbClr val="00D68F"/>
          </a:solidFill>
          <a:ln/>
        </p:spPr>
        <p:txBody>
          <a:bodyPr/>
          <a:p/>
        </p:txBody>
      </p:sp>
      <p:pic>
        <p:nvPicPr>
          <p:cNvPr id="23" name="Image 3" descr="C:\Users\PC ANTONIO\AppData\Roaming\Claude\scratch-workspaces\f0f5d1bc-bf72-4611-a8ea-e50e459a0a45\08c0c592-3fff-44bf-a144-086c85aaeea0\scratch-2026-09-22-98642c\icons\shield.png">    </p:cNvPr>
          <p:cNvPicPr>
            <a:picLocks noChangeAspect="1"/>
          </p:cNvPicPr>
          <p:nvPr/>
        </p:nvPicPr>
        <p:blipFill>
          <a:blip r:embed="rId4"/>
          <a:stretch>
            <a:fillRect/>
          </a:stretch>
        </p:blipFill>
        <p:spPr>
          <a:xfrm>
            <a:off x="923544" y="4379976"/>
            <a:ext cx="219456" cy="219456"/>
          </a:xfrm>
          <a:prstGeom prst="rect">
            <a:avLst/>
          </a:prstGeom>
        </p:spPr>
      </p:pic>
      <p:sp>
        <p:nvSpPr>
          <p:cNvPr id="24" name="Text 18"/>
          <p:cNvSpPr/>
          <p:nvPr/>
        </p:nvSpPr>
        <p:spPr>
          <a:xfrm>
            <a:off x="1426464"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Regra do "já comprado"</a:t>
            </a:r>
            <a:endParaRPr lang="en-US" sz="1350" dirty="0"/>
          </a:p>
        </p:txBody>
      </p:sp>
      <p:sp>
        <p:nvSpPr>
          <p:cNvPr id="25" name="Text 19"/>
          <p:cNvSpPr/>
          <p:nvPr/>
        </p:nvSpPr>
        <p:spPr>
          <a:xfrm>
            <a:off x="804672"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Se o robô identificar sinal de compra para um ativo que o usuário já possui (saldo &gt; 0), não gera novo alerta nem reserva para ele — evita sugerir comprar mais do que já se tem. Sinais de venda continuam avaliados normalmente.</a:t>
            </a:r>
            <a:endParaRPr lang="en-US" sz="1050" dirty="0"/>
          </a:p>
        </p:txBody>
      </p:sp>
      <p:sp>
        <p:nvSpPr>
          <p:cNvPr id="26" name="Shape 20"/>
          <p:cNvSpPr/>
          <p:nvPr/>
        </p:nvSpPr>
        <p:spPr>
          <a:xfrm>
            <a:off x="6278728"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7" name="Shape 21"/>
          <p:cNvSpPr/>
          <p:nvPr/>
        </p:nvSpPr>
        <p:spPr>
          <a:xfrm>
            <a:off x="6534760" y="4261104"/>
            <a:ext cx="457200" cy="457200"/>
          </a:xfrm>
          <a:prstGeom prst="ellipse">
            <a:avLst/>
          </a:prstGeom>
          <a:solidFill>
            <a:srgbClr val="0D1B3E"/>
          </a:solidFill>
          <a:ln/>
        </p:spPr>
        <p:txBody>
          <a:bodyPr/>
          <a:p/>
        </p:txBody>
      </p:sp>
      <p:pic>
        <p:nvPicPr>
          <p:cNvPr id="28" name="Image 4" descr="C:\Users\PC ANTONIO\AppData\Roaming\Claude\scratch-workspaces\f0f5d1bc-bf72-4611-a8ea-e50e459a0a45\08c0c592-3fff-44bf-a144-086c85aaeea0\scratch-2026-09-22-98642c\icons\robot.png">    </p:cNvPr>
          <p:cNvPicPr>
            <a:picLocks noChangeAspect="1"/>
          </p:cNvPicPr>
          <p:nvPr/>
        </p:nvPicPr>
        <p:blipFill>
          <a:blip r:embed="rId5"/>
          <a:stretch>
            <a:fillRect/>
          </a:stretch>
        </p:blipFill>
        <p:spPr>
          <a:xfrm>
            <a:off x="6653632" y="4379976"/>
            <a:ext cx="219456" cy="219456"/>
          </a:xfrm>
          <a:prstGeom prst="rect">
            <a:avLst/>
          </a:prstGeom>
        </p:spPr>
      </p:pic>
      <p:sp>
        <p:nvSpPr>
          <p:cNvPr id="29" name="Text 22"/>
          <p:cNvSpPr/>
          <p:nvPr/>
        </p:nvSpPr>
        <p:spPr>
          <a:xfrm>
            <a:off x="7156552"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 automática</a:t>
            </a:r>
            <a:endParaRPr lang="en-US" sz="1350" dirty="0"/>
          </a:p>
        </p:txBody>
      </p:sp>
      <p:sp>
        <p:nvSpPr>
          <p:cNvPr id="30" name="Text 23"/>
          <p:cNvSpPr/>
          <p:nvPr/>
        </p:nvSpPr>
        <p:spPr>
          <a:xfrm>
            <a:off x="6534760"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Quando o sinal de compra é válido, o robô registra uma reserva no preço da cotação do momento, com observação identificando a origem. Aparece com o selo 🤖 Robô nas telas do sistema. Se já existir reserva para o ativo, não duplica.</a:t>
            </a:r>
            <a:endParaRPr lang="en-US" sz="1050" dirty="0"/>
          </a:p>
        </p:txBody>
      </p:sp>
      <p:sp>
        <p:nvSpPr>
          <p:cNvPr id="31" name="Text 2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2" name="Text 25"/>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07.4  </a:t>
            </a:r>
            <a:pPr indent="0" marL="0">
              <a:buNone/>
            </a:pPr>
            <a:r>
              <a:rPr lang="en-US" sz="1250" b="1" spc="200" kern="0" dirty="0">
                <a:solidFill>
                  <a:srgbClr val="00D68F"/>
                </a:solidFill>
                <a:latin typeface="Calibri" pitchFamily="34" charset="0"/>
                <a:ea typeface="Calibri" pitchFamily="34" charset="-122"/>
                <a:cs typeface="Calibri" pitchFamily="34" charset="-120"/>
              </a:rPr>
              <a:t>VALIDAÇÃO HISTÓRICA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Backtesting do robô consultor</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Simula os sinais que o robô teria dado no passado e os compara com a referência: comprar em qualquer pregão do mesmo período, sem sinal nenhum. Os retornos já descontam o custo de compra + venda (padrão 0,1%).</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Por que comparar com a referência</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Em mercado de alta quase toda compra "acerta". O robô só tem valor se acertar mais — e ganhar mais por operação — que a referência. O cartão "Resultado geral", que junta todos os ativos, é o número mais confiável. Pregões de conferência: de 1 a 60 (padrão 5).</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Veredito, por ativo e no resultado geral</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Supera: +5 pontos de acerto e retorno ≥ referência</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Igual: diferença pequena demais, pode ser acaso</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Pior: −5 pontos de acerto ou −0,5 ponto de retorno</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Poucos sinais: menos de 20 compras para avaliar</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Estatística sobre o passado — não garante desempenho futuro nem é recomendação. Mais histórico (até 1 ano no plano Startup da API de cotações) deixa o resultado mais confiável.</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08 · 09  </a:t>
            </a:r>
            <a:pPr indent="0" marL="0">
              <a:buNone/>
            </a:pPr>
            <a:r>
              <a:rPr lang="en-US" sz="1250" b="1" spc="200" kern="0" dirty="0">
                <a:solidFill>
                  <a:srgbClr val="00D68F"/>
                </a:solidFill>
                <a:latin typeface="Calibri" pitchFamily="34" charset="0"/>
                <a:ea typeface="Calibri" pitchFamily="34" charset="-122"/>
                <a:cs typeface="Calibri" pitchFamily="34" charset="-120"/>
              </a:rPr>
              <a:t>MERCADO &amp; SINCRONIZAÇÃO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Análise de mercado e atualizações manuais</a:t>
            </a:r>
            <a:endParaRPr lang="en-US" sz="3000" dirty="0"/>
          </a:p>
        </p:txBody>
      </p:sp>
      <p:sp>
        <p:nvSpPr>
          <p:cNvPr id="4" name="Shape 2"/>
          <p:cNvSpPr/>
          <p:nvPr/>
        </p:nvSpPr>
        <p:spPr>
          <a:xfrm>
            <a:off x="548640"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Maiores altas e baixas do dia</a:t>
            </a:r>
            <a:endParaRPr lang="en-US" sz="1450" dirty="0"/>
          </a:p>
        </p:txBody>
      </p:sp>
      <p:sp>
        <p:nvSpPr>
          <p:cNvPr id="8" name="Text 5"/>
          <p:cNvSpPr/>
          <p:nvPr/>
        </p:nvSpPr>
        <p:spPr>
          <a:xfrm>
            <a:off x="804672"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Lista as 10 maiores altas e as 10 maiores baixas do dia entre todas as ações da B3, via API de cotações.</a:t>
            </a:r>
            <a:endParaRPr lang="en-US" sz="1100" dirty="0"/>
          </a:p>
        </p:txBody>
      </p:sp>
      <p:sp>
        <p:nvSpPr>
          <p:cNvPr id="9" name="Shape 6"/>
          <p:cNvSpPr/>
          <p:nvPr/>
        </p:nvSpPr>
        <p:spPr>
          <a:xfrm>
            <a:off x="6278728"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search.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Indicadores técnicos acompanhados</a:t>
            </a:r>
            <a:endParaRPr lang="en-US" sz="1450" dirty="0"/>
          </a:p>
        </p:txBody>
      </p:sp>
      <p:sp>
        <p:nvSpPr>
          <p:cNvPr id="13" name="Text 9"/>
          <p:cNvSpPr/>
          <p:nvPr/>
        </p:nvSpPr>
        <p:spPr>
          <a:xfrm>
            <a:off x="6534760"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 tendência, RSI, MACD e sinal geral (votos de compra/venda) de cada ativo do usuário — mesma lógica do robô consultor, para consulta manual. Exportável em Excel/PDF.</a:t>
            </a:r>
            <a:endParaRPr lang="en-US" sz="1100" dirty="0"/>
          </a:p>
        </p:txBody>
      </p:sp>
      <p:sp>
        <p:nvSpPr>
          <p:cNvPr id="14" name="Text 10"/>
          <p:cNvSpPr/>
          <p:nvPr/>
        </p:nvSpPr>
        <p:spPr>
          <a:xfrm>
            <a:off x="548640" y="3566160"/>
            <a:ext cx="82296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Botões de atualização manual disponíveis pelo sistema</a:t>
            </a:r>
            <a:endParaRPr lang="en-US" sz="1350" dirty="0"/>
          </a:p>
        </p:txBody>
      </p:sp>
      <p:sp>
        <p:nvSpPr>
          <p:cNvPr id="15" name="Shape 11"/>
          <p:cNvSpPr/>
          <p:nvPr/>
        </p:nvSpPr>
        <p:spPr>
          <a:xfrm>
            <a:off x="548640" y="3931920"/>
            <a:ext cx="2602154" cy="1691640"/>
          </a:xfrm>
          <a:prstGeom prst="roundRect">
            <a:avLst>
              <a:gd name="adj" fmla="val 4324"/>
            </a:avLst>
          </a:prstGeom>
          <a:solidFill>
            <a:srgbClr val="F3F6FC"/>
          </a:solidFill>
          <a:ln/>
        </p:spPr>
        <p:txBody>
          <a:bodyPr/>
          <a:p/>
        </p:txBody>
      </p:sp>
      <p:sp>
        <p:nvSpPr>
          <p:cNvPr id="16" name="Shape 12"/>
          <p:cNvSpPr/>
          <p:nvPr/>
        </p:nvSpPr>
        <p:spPr>
          <a:xfrm>
            <a:off x="1666837" y="4096512"/>
            <a:ext cx="365760" cy="36576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refresh.png">    </p:cNvPr>
          <p:cNvPicPr>
            <a:picLocks noChangeAspect="1"/>
          </p:cNvPicPr>
          <p:nvPr/>
        </p:nvPicPr>
        <p:blipFill>
          <a:blip r:embed="rId3"/>
          <a:stretch>
            <a:fillRect/>
          </a:stretch>
        </p:blipFill>
        <p:spPr>
          <a:xfrm>
            <a:off x="1747304" y="4176979"/>
            <a:ext cx="204826" cy="204826"/>
          </a:xfrm>
          <a:prstGeom prst="rect">
            <a:avLst/>
          </a:prstGeom>
        </p:spPr>
      </p:pic>
      <p:sp>
        <p:nvSpPr>
          <p:cNvPr id="18" name="Text 13"/>
          <p:cNvSpPr/>
          <p:nvPr/>
        </p:nvSpPr>
        <p:spPr>
          <a:xfrm>
            <a:off x="640080"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Cotações agora</a:t>
            </a:r>
            <a:endParaRPr lang="en-US" sz="1050" dirty="0"/>
          </a:p>
        </p:txBody>
      </p:sp>
      <p:sp>
        <p:nvSpPr>
          <p:cNvPr id="19" name="Text 14"/>
          <p:cNvSpPr/>
          <p:nvPr/>
        </p:nvSpPr>
        <p:spPr>
          <a:xfrm>
            <a:off x="658368"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Busca a cotação mais recente e dispara metas + robô. Só ativo em horário de pregão.</a:t>
            </a:r>
            <a:endParaRPr lang="en-US" sz="860" dirty="0"/>
          </a:p>
        </p:txBody>
      </p:sp>
      <p:sp>
        <p:nvSpPr>
          <p:cNvPr id="20" name="Shape 15"/>
          <p:cNvSpPr/>
          <p:nvPr/>
        </p:nvSpPr>
        <p:spPr>
          <a:xfrm>
            <a:off x="3379394" y="3931920"/>
            <a:ext cx="2602154" cy="1691640"/>
          </a:xfrm>
          <a:prstGeom prst="roundRect">
            <a:avLst>
              <a:gd name="adj" fmla="val 4324"/>
            </a:avLst>
          </a:prstGeom>
          <a:solidFill>
            <a:srgbClr val="F3F6FC"/>
          </a:solidFill>
          <a:ln/>
        </p:spPr>
        <p:txBody>
          <a:bodyPr/>
          <a:p/>
        </p:txBody>
      </p:sp>
      <p:sp>
        <p:nvSpPr>
          <p:cNvPr id="21" name="Shape 16"/>
          <p:cNvSpPr/>
          <p:nvPr/>
        </p:nvSpPr>
        <p:spPr>
          <a:xfrm>
            <a:off x="4497591" y="4096512"/>
            <a:ext cx="365760" cy="365760"/>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4578058" y="4176979"/>
            <a:ext cx="204826" cy="204826"/>
          </a:xfrm>
          <a:prstGeom prst="rect">
            <a:avLst/>
          </a:prstGeom>
        </p:spPr>
      </p:pic>
      <p:sp>
        <p:nvSpPr>
          <p:cNvPr id="23" name="Text 17"/>
          <p:cNvSpPr/>
          <p:nvPr/>
        </p:nvSpPr>
        <p:spPr>
          <a:xfrm>
            <a:off x="3470834"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Benchmarks</a:t>
            </a:r>
            <a:endParaRPr lang="en-US" sz="1050" dirty="0"/>
          </a:p>
        </p:txBody>
      </p:sp>
      <p:sp>
        <p:nvSpPr>
          <p:cNvPr id="24" name="Text 18"/>
          <p:cNvSpPr/>
          <p:nvPr/>
        </p:nvSpPr>
        <p:spPr>
          <a:xfrm>
            <a:off x="3489122"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Ibovespa / CDI — busca até 3 meses de histórico de uma vez.</a:t>
            </a:r>
            <a:endParaRPr lang="en-US" sz="860" dirty="0"/>
          </a:p>
        </p:txBody>
      </p:sp>
      <p:sp>
        <p:nvSpPr>
          <p:cNvPr id="25" name="Shape 19"/>
          <p:cNvSpPr/>
          <p:nvPr/>
        </p:nvSpPr>
        <p:spPr>
          <a:xfrm>
            <a:off x="6210148" y="3931920"/>
            <a:ext cx="2602154" cy="1691640"/>
          </a:xfrm>
          <a:prstGeom prst="roundRect">
            <a:avLst>
              <a:gd name="adj" fmla="val 4324"/>
            </a:avLst>
          </a:prstGeom>
          <a:solidFill>
            <a:srgbClr val="F3F6FC"/>
          </a:solidFill>
          <a:ln/>
        </p:spPr>
        <p:txBody>
          <a:bodyPr/>
          <a:p/>
        </p:txBody>
      </p:sp>
      <p:sp>
        <p:nvSpPr>
          <p:cNvPr id="26" name="Shape 20"/>
          <p:cNvSpPr/>
          <p:nvPr/>
        </p:nvSpPr>
        <p:spPr>
          <a:xfrm>
            <a:off x="7328345" y="4096512"/>
            <a:ext cx="365760" cy="365760"/>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news.png">    </p:cNvPr>
          <p:cNvPicPr>
            <a:picLocks noChangeAspect="1"/>
          </p:cNvPicPr>
          <p:nvPr/>
        </p:nvPicPr>
        <p:blipFill>
          <a:blip r:embed="rId5"/>
          <a:stretch>
            <a:fillRect/>
          </a:stretch>
        </p:blipFill>
        <p:spPr>
          <a:xfrm>
            <a:off x="7408812" y="4176979"/>
            <a:ext cx="204826" cy="204826"/>
          </a:xfrm>
          <a:prstGeom prst="rect">
            <a:avLst/>
          </a:prstGeom>
        </p:spPr>
      </p:pic>
      <p:sp>
        <p:nvSpPr>
          <p:cNvPr id="28" name="Text 21"/>
          <p:cNvSpPr/>
          <p:nvPr/>
        </p:nvSpPr>
        <p:spPr>
          <a:xfrm>
            <a:off x="6301588"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Notícias agora</a:t>
            </a:r>
            <a:endParaRPr lang="en-US" sz="1050" dirty="0"/>
          </a:p>
        </p:txBody>
      </p:sp>
      <p:sp>
        <p:nvSpPr>
          <p:cNvPr id="29" name="Text 22"/>
          <p:cNvSpPr/>
          <p:nvPr/>
        </p:nvSpPr>
        <p:spPr>
          <a:xfrm>
            <a:off x="6319876"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Verifica as fontes ativas e destaca em amarelo as manchetes do ativo informado.</a:t>
            </a:r>
            <a:endParaRPr lang="en-US" sz="860" dirty="0"/>
          </a:p>
        </p:txBody>
      </p:sp>
      <p:sp>
        <p:nvSpPr>
          <p:cNvPr id="30" name="Shape 23"/>
          <p:cNvSpPr/>
          <p:nvPr/>
        </p:nvSpPr>
        <p:spPr>
          <a:xfrm>
            <a:off x="9040901" y="3931920"/>
            <a:ext cx="2602154" cy="1691640"/>
          </a:xfrm>
          <a:prstGeom prst="roundRect">
            <a:avLst>
              <a:gd name="adj" fmla="val 4324"/>
            </a:avLst>
          </a:prstGeom>
          <a:solidFill>
            <a:srgbClr val="F3F6FC"/>
          </a:solidFill>
          <a:ln/>
        </p:spPr>
        <p:txBody>
          <a:bodyPr/>
          <a:p/>
        </p:txBody>
      </p:sp>
      <p:sp>
        <p:nvSpPr>
          <p:cNvPr id="31" name="Shape 24"/>
          <p:cNvSpPr/>
          <p:nvPr/>
        </p:nvSpPr>
        <p:spPr>
          <a:xfrm>
            <a:off x="10159098" y="4096512"/>
            <a:ext cx="365760" cy="365760"/>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building.png">    </p:cNvPr>
          <p:cNvPicPr>
            <a:picLocks noChangeAspect="1"/>
          </p:cNvPicPr>
          <p:nvPr/>
        </p:nvPicPr>
        <p:blipFill>
          <a:blip r:embed="rId6"/>
          <a:stretch>
            <a:fillRect/>
          </a:stretch>
        </p:blipFill>
        <p:spPr>
          <a:xfrm>
            <a:off x="10239566" y="4176979"/>
            <a:ext cx="204826" cy="204826"/>
          </a:xfrm>
          <a:prstGeom prst="rect">
            <a:avLst/>
          </a:prstGeom>
        </p:spPr>
      </p:pic>
      <p:sp>
        <p:nvSpPr>
          <p:cNvPr id="33" name="Text 25"/>
          <p:cNvSpPr/>
          <p:nvPr/>
        </p:nvSpPr>
        <p:spPr>
          <a:xfrm>
            <a:off x="9132341"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Lista de Ações B3</a:t>
            </a:r>
            <a:endParaRPr lang="en-US" sz="1050" dirty="0"/>
          </a:p>
        </p:txBody>
      </p:sp>
      <p:sp>
        <p:nvSpPr>
          <p:cNvPr id="34" name="Text 26"/>
          <p:cNvSpPr/>
          <p:nvPr/>
        </p:nvSpPr>
        <p:spPr>
          <a:xfrm>
            <a:off x="9150629"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Reconstrói o catálogo completo a partir da API.</a:t>
            </a:r>
            <a:endParaRPr lang="en-US" sz="860" dirty="0"/>
          </a:p>
        </p:txBody>
      </p:sp>
      <p:sp>
        <p:nvSpPr>
          <p:cNvPr id="35" name="Text 2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6" name="Text 2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18  </a:t>
            </a:r>
            <a:pPr indent="0" marL="0">
              <a:buNone/>
            </a:pPr>
            <a:r>
              <a:rPr lang="en-US" sz="1250" b="1" spc="200" kern="0" dirty="0">
                <a:solidFill>
                  <a:srgbClr val="00D68F"/>
                </a:solidFill>
                <a:latin typeface="Calibri" pitchFamily="34" charset="0"/>
                <a:ea typeface="Calibri" pitchFamily="34" charset="-122"/>
                <a:cs typeface="Calibri" pitchFamily="34" charset="-120"/>
              </a:rPr>
              <a:t>SCANNER TÉCNICO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Scanner técnico — leitura combinada</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Combina, num só painel por ativo, seis indicadores técnicos de cada ação realmente comprada. Acessível pelo Menu ou por um botão na tela Posições em Carteira.</a:t>
            </a:r>
            <a:endParaRPr lang="en-US" sz="1150" dirty="0"/>
          </a:p>
        </p:txBody>
      </p:sp>
      <p:sp>
        <p:nvSpPr>
          <p:cNvPr id="5" name="Shape 3"/>
          <p:cNvSpPr/>
          <p:nvPr/>
        </p:nvSpPr>
        <p:spPr>
          <a:xfrm>
            <a:off x="548640" y="1874520"/>
            <a:ext cx="1734769" cy="960120"/>
          </a:xfrm>
          <a:prstGeom prst="roundRect">
            <a:avLst>
              <a:gd name="adj" fmla="val 6667"/>
            </a:avLst>
          </a:prstGeom>
          <a:solidFill>
            <a:srgbClr val="0D1B3E"/>
          </a:solidFill>
          <a:ln/>
        </p:spPr>
        <p:txBody>
          <a:bodyPr/>
          <a:p/>
        </p:txBody>
      </p:sp>
      <p:sp>
        <p:nvSpPr>
          <p:cNvPr id="6" name="Text 4"/>
          <p:cNvSpPr/>
          <p:nvPr/>
        </p:nvSpPr>
        <p:spPr>
          <a:xfrm>
            <a:off x="621792"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IFR (RSI)</a:t>
            </a:r>
            <a:endParaRPr lang="en-US" sz="1000" dirty="0"/>
          </a:p>
        </p:txBody>
      </p:sp>
      <p:sp>
        <p:nvSpPr>
          <p:cNvPr id="7" name="Shape 5"/>
          <p:cNvSpPr/>
          <p:nvPr/>
        </p:nvSpPr>
        <p:spPr>
          <a:xfrm>
            <a:off x="2420569" y="1874520"/>
            <a:ext cx="1734769" cy="960120"/>
          </a:xfrm>
          <a:prstGeom prst="roundRect">
            <a:avLst>
              <a:gd name="adj" fmla="val 6667"/>
            </a:avLst>
          </a:prstGeom>
          <a:solidFill>
            <a:srgbClr val="16264D"/>
          </a:solidFill>
          <a:ln/>
        </p:spPr>
        <p:txBody>
          <a:bodyPr/>
          <a:p/>
        </p:txBody>
      </p:sp>
      <p:sp>
        <p:nvSpPr>
          <p:cNvPr id="8" name="Text 6"/>
          <p:cNvSpPr/>
          <p:nvPr/>
        </p:nvSpPr>
        <p:spPr>
          <a:xfrm>
            <a:off x="2493721"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Médias móveis</a:t>
            </a:r>
            <a:endParaRPr lang="en-US" sz="1000" dirty="0"/>
          </a:p>
        </p:txBody>
      </p:sp>
      <p:sp>
        <p:nvSpPr>
          <p:cNvPr id="9" name="Shape 7"/>
          <p:cNvSpPr/>
          <p:nvPr/>
        </p:nvSpPr>
        <p:spPr>
          <a:xfrm>
            <a:off x="4292498" y="1874520"/>
            <a:ext cx="1734769" cy="960120"/>
          </a:xfrm>
          <a:prstGeom prst="roundRect">
            <a:avLst>
              <a:gd name="adj" fmla="val 6667"/>
            </a:avLst>
          </a:prstGeom>
          <a:solidFill>
            <a:srgbClr val="0D1B3E"/>
          </a:solidFill>
          <a:ln/>
        </p:spPr>
        <p:txBody>
          <a:bodyPr/>
          <a:p/>
        </p:txBody>
      </p:sp>
      <p:sp>
        <p:nvSpPr>
          <p:cNvPr id="10" name="Text 8"/>
          <p:cNvSpPr/>
          <p:nvPr/>
        </p:nvSpPr>
        <p:spPr>
          <a:xfrm>
            <a:off x="436565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MACD</a:t>
            </a:r>
            <a:endParaRPr lang="en-US" sz="1000" dirty="0"/>
          </a:p>
        </p:txBody>
      </p:sp>
      <p:sp>
        <p:nvSpPr>
          <p:cNvPr id="11" name="Shape 9"/>
          <p:cNvSpPr/>
          <p:nvPr/>
        </p:nvSpPr>
        <p:spPr>
          <a:xfrm>
            <a:off x="6164428" y="1874520"/>
            <a:ext cx="1734769" cy="960120"/>
          </a:xfrm>
          <a:prstGeom prst="roundRect">
            <a:avLst>
              <a:gd name="adj" fmla="val 6667"/>
            </a:avLst>
          </a:prstGeom>
          <a:solidFill>
            <a:srgbClr val="16264D"/>
          </a:solidFill>
          <a:ln/>
        </p:spPr>
        <p:txBody>
          <a:bodyPr/>
          <a:p/>
        </p:txBody>
      </p:sp>
      <p:sp>
        <p:nvSpPr>
          <p:cNvPr id="12" name="Text 10"/>
          <p:cNvSpPr/>
          <p:nvPr/>
        </p:nvSpPr>
        <p:spPr>
          <a:xfrm>
            <a:off x="623758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Volume</a:t>
            </a:r>
            <a:endParaRPr lang="en-US" sz="1000" dirty="0"/>
          </a:p>
        </p:txBody>
      </p:sp>
      <p:sp>
        <p:nvSpPr>
          <p:cNvPr id="13" name="Shape 11"/>
          <p:cNvSpPr/>
          <p:nvPr/>
        </p:nvSpPr>
        <p:spPr>
          <a:xfrm>
            <a:off x="8036357" y="1874520"/>
            <a:ext cx="1734769" cy="960120"/>
          </a:xfrm>
          <a:prstGeom prst="roundRect">
            <a:avLst>
              <a:gd name="adj" fmla="val 6667"/>
            </a:avLst>
          </a:prstGeom>
          <a:solidFill>
            <a:srgbClr val="0D1B3E"/>
          </a:solidFill>
          <a:ln/>
        </p:spPr>
        <p:txBody>
          <a:bodyPr/>
          <a:p/>
        </p:txBody>
      </p:sp>
      <p:sp>
        <p:nvSpPr>
          <p:cNvPr id="14" name="Text 12"/>
          <p:cNvSpPr/>
          <p:nvPr/>
        </p:nvSpPr>
        <p:spPr>
          <a:xfrm>
            <a:off x="8109509"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Volatilidade</a:t>
            </a:r>
            <a:endParaRPr lang="en-US" sz="1000" dirty="0"/>
          </a:p>
        </p:txBody>
      </p:sp>
      <p:sp>
        <p:nvSpPr>
          <p:cNvPr id="15" name="Shape 13"/>
          <p:cNvSpPr/>
          <p:nvPr/>
        </p:nvSpPr>
        <p:spPr>
          <a:xfrm>
            <a:off x="9908286" y="1874520"/>
            <a:ext cx="1734769" cy="960120"/>
          </a:xfrm>
          <a:prstGeom prst="roundRect">
            <a:avLst>
              <a:gd name="adj" fmla="val 6667"/>
            </a:avLst>
          </a:prstGeom>
          <a:solidFill>
            <a:srgbClr val="16264D"/>
          </a:solidFill>
          <a:ln/>
        </p:spPr>
        <p:txBody>
          <a:bodyPr/>
          <a:p/>
        </p:txBody>
      </p:sp>
      <p:sp>
        <p:nvSpPr>
          <p:cNvPr id="16" name="Text 14"/>
          <p:cNvSpPr/>
          <p:nvPr/>
        </p:nvSpPr>
        <p:spPr>
          <a:xfrm>
            <a:off x="9981438"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Tendência</a:t>
            </a:r>
            <a:endParaRPr lang="en-US" sz="1000" dirty="0"/>
          </a:p>
        </p:txBody>
      </p:sp>
      <p:sp>
        <p:nvSpPr>
          <p:cNvPr id="17" name="Text 15"/>
          <p:cNvSpPr/>
          <p:nvPr/>
        </p:nvSpPr>
        <p:spPr>
          <a:xfrm>
            <a:off x="548640" y="3063240"/>
            <a:ext cx="54864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Como ler o veredito</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3108960"/>
                <a:gridCol w="798545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Veredito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Significado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Indicadores conflitantes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Pelo menos um aponta alta e outro aponta baixa ao mesmo tempo.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Neutro / aguardando histórico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Nenhuma direção clara, ou cotações insuficientes ainda.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Shape 16"/>
          <p:cNvSpPr/>
          <p:nvPr/>
        </p:nvSpPr>
        <p:spPr>
          <a:xfrm>
            <a:off x="548640" y="5623560"/>
            <a:ext cx="11094415" cy="640080"/>
          </a:xfrm>
          <a:prstGeom prst="roundRect">
            <a:avLst>
              <a:gd name="adj" fmla="val 11429"/>
            </a:avLst>
          </a:prstGeom>
          <a:solidFill>
            <a:srgbClr val="EAF0FB"/>
          </a:solidFill>
          <a:ln/>
        </p:spPr>
        <p:txBody>
          <a:bodyPr/>
          <a:p/>
        </p:txBody>
      </p:sp>
      <p:sp>
        <p:nvSpPr>
          <p:cNvPr id="20" name="Shape 17"/>
          <p:cNvSpPr/>
          <p:nvPr/>
        </p:nvSpPr>
        <p:spPr>
          <a:xfrm>
            <a:off x="731520" y="5779008"/>
            <a:ext cx="329184" cy="329184"/>
          </a:xfrm>
          <a:prstGeom prst="ellipse">
            <a:avLst/>
          </a:prstGeom>
          <a:solidFill>
            <a:srgbClr val="0D1B3E"/>
          </a:solidFill>
          <a:ln/>
        </p:spPr>
        <p:txBody>
          <a:bodyPr/>
          <a:p/>
        </p:txBody>
      </p:sp>
      <p:pic>
        <p:nvPicPr>
          <p:cNvPr id="21" name="Image 0" descr="C:\Users\PC ANTONIO\AppData\Roaming\Claude\scratch-workspaces\f0f5d1bc-bf72-4611-a8ea-e50e459a0a45\08c0c592-3fff-44bf-a144-086c85aaeea0\scratch-2026-09-22-98642c\icons\info.png">    </p:cNvPr>
          <p:cNvPicPr>
            <a:picLocks noChangeAspect="1"/>
          </p:cNvPicPr>
          <p:nvPr/>
        </p:nvPicPr>
        <p:blipFill>
          <a:blip r:embed="rId1"/>
          <a:stretch>
            <a:fillRect/>
          </a:stretch>
        </p:blipFill>
        <p:spPr>
          <a:xfrm>
            <a:off x="803940" y="5851428"/>
            <a:ext cx="184343" cy="184343"/>
          </a:xfrm>
          <a:prstGeom prst="rect">
            <a:avLst/>
          </a:prstGeom>
        </p:spPr>
      </p:pic>
      <p:sp>
        <p:nvSpPr>
          <p:cNvPr id="22" name="Text 18"/>
          <p:cNvSpPr/>
          <p:nvPr/>
        </p:nvSpPr>
        <p:spPr>
          <a:xfrm>
            <a:off x="1225296" y="5715000"/>
            <a:ext cx="10234879" cy="45720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Diferente do robô consultor (que sempre escolhe um lado por votação), o Scanner mostra explicitamente quando o mercado está indeciso, em vez de forçar uma previsão.</a:t>
            </a:r>
            <a:endParaRPr lang="en-US" sz="1050" dirty="0"/>
          </a:p>
        </p:txBody>
      </p:sp>
      <p:sp>
        <p:nvSpPr>
          <p:cNvPr id="23"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10 · 11  </a:t>
            </a:r>
            <a:pPr indent="0" marL="0">
              <a:buNone/>
            </a:pPr>
            <a:r>
              <a:rPr lang="en-US" sz="1250" b="1" spc="200" kern="0" dirty="0">
                <a:solidFill>
                  <a:srgbClr val="00D68F"/>
                </a:solidFill>
                <a:latin typeface="Calibri" pitchFamily="34" charset="0"/>
                <a:ea typeface="Calibri" pitchFamily="34" charset="-122"/>
                <a:cs typeface="Calibri" pitchFamily="34" charset="-120"/>
              </a:rPr>
              <a:t>HISTÓRICO &amp;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Histórico, gráficos e detalhes de cotações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Histórico e gráficos</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de linha com a evolução do preço de fechamento de cada ativo comprado, mais tabela com data, fechamento e variação do dia. Ativos reservados aparecem à parte, com gráfico desde a data da reserva.</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 cartão por ativo com preço atual, variação do dia, máxima/mínima, abertura, fechamento anterior, volume, valor de mercado e faixa de 52 semanas.</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Cotação avulsa e preço alvo</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Permite consultar qualquer ticker, mesmo fora da carteira, direto da API. O campo "Preço alvo" calcula na hora o lucro/perda se o ativo fosse vendido naquele preço.</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 que é o IFR (RSI)?</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Cartão explicativo com fórmula, régua visual de 0 a 100, significado de cada faixa e explicação sobre divergências entre preço e IFR.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Checklist de confirmação de sinais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alta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&lt; 35, preço acima da média de 21 dias, volume acima da média, MACD positivo, tendência de curto prazo positiva.</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baixa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&gt; 65, preço abaixo da média de 21 dias, volume aumentando na queda, MACD negativo, tendência de curto prazo negativa.</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11.6 · 11.7  </a:t>
            </a:r>
            <a:pPr indent="0" marL="0">
              <a:buNone/>
            </a:pPr>
            <a:r>
              <a:rPr lang="en-US" sz="1250" b="1" spc="200" kern="0" dirty="0">
                <a:solidFill>
                  <a:srgbClr val="00D68F"/>
                </a:solidFill>
                <a:latin typeface="Calibri" pitchFamily="34" charset="0"/>
                <a:ea typeface="Calibri" pitchFamily="34" charset="-122"/>
                <a:cs typeface="Calibri" pitchFamily="34" charset="-120"/>
              </a:rPr>
              <a:t>REGISTROS DE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Registros de cotações e gráfico compra x alvo</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Registro a cada atualização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Ativo, data, hora e valor de cada ativo em carteira, gravados pela rotina automática (Automática) e pelo botão ou consulta avulsa (Manual).</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Grid em 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"Registros de cotações", ao lado de "Pesquisar cotação": registros do ticker digitado ou de todos os ativos, do mais recente ao mais antigo.</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Gráfico compra x alvo em popup</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de gráfico ao lado do ticker: linha das cotações registradas com o preço de compra (azul) e o alvo (laranja) como referências.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Exclusão após a venda</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Depois de vender, o sistema pergunta se exclui os registros do ativo: Sim apaga todos, Não mantém.</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Onde fica o botão de gráfico</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Posições em Carteira e Painel</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na tabela de compradas; compra = preço médio da posição, alvo = meta de lucro.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Minhas Operações › Em carteira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de cada lote com saldo; usa o preço de compra e o alvo (meta de lucro) daquele lote, e não o preço médio da posição.</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13 · 14 · 15 · 16  </a:t>
            </a:r>
            <a:pPr indent="0" marL="0">
              <a:buNone/>
            </a:pPr>
            <a:r>
              <a:rPr lang="en-US" sz="1250" b="1" spc="200" kern="0" dirty="0">
                <a:solidFill>
                  <a:srgbClr val="00D68F"/>
                </a:solidFill>
                <a:latin typeface="Calibri" pitchFamily="34" charset="0"/>
                <a:ea typeface="Calibri" pitchFamily="34" charset="-122"/>
                <a:cs typeface="Calibri" pitchFamily="34" charset="-120"/>
              </a:rPr>
              <a:t>CONTEÚDO &amp; NOTIFICAÇÕES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2700" b="1" dirty="0">
                <a:solidFill>
                  <a:srgbClr val="0D1B3E"/>
                </a:solidFill>
                <a:latin typeface="Calibri" pitchFamily="34" charset="0"/>
                <a:ea typeface="Calibri" pitchFamily="34" charset="-122"/>
                <a:cs typeface="Calibri" pitchFamily="34" charset="-120"/>
              </a:rPr>
              <a:t>Notícias, TradingView, alertas e WhatsApp</a:t>
            </a:r>
            <a:endParaRPr lang="en-US" sz="2700" dirty="0"/>
          </a:p>
        </p:txBody>
      </p:sp>
      <p:sp>
        <p:nvSpPr>
          <p:cNvPr id="4" name="Shape 2"/>
          <p:cNvSpPr/>
          <p:nvPr/>
        </p:nvSpPr>
        <p:spPr>
          <a:xfrm>
            <a:off x="548640"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65506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news.png">    </p:cNvPr>
          <p:cNvPicPr>
            <a:picLocks noChangeAspect="1"/>
          </p:cNvPicPr>
          <p:nvPr/>
        </p:nvPicPr>
        <p:blipFill>
          <a:blip r:embed="rId1"/>
          <a:stretch>
            <a:fillRect/>
          </a:stretch>
        </p:blipFill>
        <p:spPr>
          <a:xfrm>
            <a:off x="923544" y="1773936"/>
            <a:ext cx="219456" cy="219456"/>
          </a:xfrm>
          <a:prstGeom prst="rect">
            <a:avLst/>
          </a:prstGeom>
        </p:spPr>
      </p:pic>
      <p:sp>
        <p:nvSpPr>
          <p:cNvPr id="7" name="Text 4"/>
          <p:cNvSpPr/>
          <p:nvPr/>
        </p:nvSpPr>
        <p:spPr>
          <a:xfrm>
            <a:off x="1426464"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Notícias do mercado</a:t>
            </a:r>
            <a:endParaRPr lang="en-US" sz="1350" dirty="0"/>
          </a:p>
        </p:txBody>
      </p:sp>
      <p:sp>
        <p:nvSpPr>
          <p:cNvPr id="8" name="Text 5"/>
          <p:cNvSpPr/>
          <p:nvPr/>
        </p:nvSpPr>
        <p:spPr>
          <a:xfrm>
            <a:off x="804672"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Fontes gerenciadas pelos administradores e compartilhadas como um mural comum. Manchetes novas ganham o selo "Nova" e as que citam o ativo informado ficam em amarelo. Administradores podem limpar todas as manchetes com um clique.</a:t>
            </a:r>
            <a:endParaRPr lang="en-US" sz="1000" dirty="0"/>
          </a:p>
        </p:txBody>
      </p:sp>
      <p:sp>
        <p:nvSpPr>
          <p:cNvPr id="9" name="Shape 6"/>
          <p:cNvSpPr/>
          <p:nvPr/>
        </p:nvSpPr>
        <p:spPr>
          <a:xfrm>
            <a:off x="6278728"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65506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tv.png">    </p:cNvPr>
          <p:cNvPicPr>
            <a:picLocks noChangeAspect="1"/>
          </p:cNvPicPr>
          <p:nvPr/>
        </p:nvPicPr>
        <p:blipFill>
          <a:blip r:embed="rId2"/>
          <a:stretch>
            <a:fillRect/>
          </a:stretch>
        </p:blipFill>
        <p:spPr>
          <a:xfrm>
            <a:off x="6653632" y="1773936"/>
            <a:ext cx="219456" cy="219456"/>
          </a:xfrm>
          <a:prstGeom prst="rect">
            <a:avLst/>
          </a:prstGeom>
        </p:spPr>
      </p:pic>
      <p:sp>
        <p:nvSpPr>
          <p:cNvPr id="12" name="Text 8"/>
          <p:cNvSpPr/>
          <p:nvPr/>
        </p:nvSpPr>
        <p:spPr>
          <a:xfrm>
            <a:off x="7156552"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TradingView embutido</a:t>
            </a:r>
            <a:endParaRPr lang="en-US" sz="1350" dirty="0"/>
          </a:p>
        </p:txBody>
      </p:sp>
      <p:sp>
        <p:nvSpPr>
          <p:cNvPr id="13" name="Text 9"/>
          <p:cNvSpPr/>
          <p:nvPr/>
        </p:nvSpPr>
        <p:spPr>
          <a:xfrm>
            <a:off x="6534760"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avançado oficial, com busca de qualquer ativo, indicadores e ferramentas de desenho. Um campo permite abrir qualquer URL do site em nova aba (bloqueio de segurança do próprio TradingView).</a:t>
            </a:r>
            <a:endParaRPr lang="en-US" sz="1000" dirty="0"/>
          </a:p>
        </p:txBody>
      </p:sp>
      <p:sp>
        <p:nvSpPr>
          <p:cNvPr id="14" name="Text 10"/>
          <p:cNvSpPr/>
          <p:nvPr/>
        </p:nvSpPr>
        <p:spPr>
          <a:xfrm>
            <a:off x="548640" y="3017520"/>
            <a:ext cx="54864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Tipos de alerta</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2743200"/>
                <a:gridCol w="8351215"/>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Tipo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Quando é gerado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Lucro / Perda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Uma posição comprada atinge a meta (%) configurada.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Mudança relevante na tendência (média móvel) de um ativo.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Sinal de compra / venda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O robô consultor identifica um sinal técnico (RSI + MACD + 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6" name="Shape 11"/>
          <p:cNvSpPr/>
          <p:nvPr/>
        </p:nvSpPr>
        <p:spPr>
          <a:xfrm>
            <a:off x="548640" y="466344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2"/>
          <p:cNvSpPr/>
          <p:nvPr/>
        </p:nvSpPr>
        <p:spPr>
          <a:xfrm>
            <a:off x="804672" y="4901184"/>
            <a:ext cx="310896" cy="310896"/>
          </a:xfrm>
          <a:prstGeom prst="ellipse">
            <a:avLst/>
          </a:prstGeom>
          <a:solidFill>
            <a:srgbClr val="00D68F"/>
          </a:solidFill>
          <a:ln/>
        </p:spPr>
        <p:txBody>
          <a:bodyPr/>
          <a:p/>
        </p:txBody>
      </p:sp>
      <p:pic>
        <p:nvPicPr>
          <p:cNvPr id="18" name="Image 2" descr="C:\Users\PC ANTONIO\AppData\Roaming\Claude\scratch-workspaces\f0f5d1bc-bf72-4611-a8ea-e50e459a0a45\08c0c592-3fff-44bf-a144-086c85aaeea0\scratch-2026-09-22-98642c\icons\whatsapp.png">    </p:cNvPr>
          <p:cNvPicPr>
            <a:picLocks noChangeAspect="1"/>
          </p:cNvPicPr>
          <p:nvPr/>
        </p:nvPicPr>
        <p:blipFill>
          <a:blip r:embed="rId3"/>
          <a:stretch>
            <a:fillRect/>
          </a:stretch>
        </p:blipFill>
        <p:spPr>
          <a:xfrm>
            <a:off x="885505" y="4982017"/>
            <a:ext cx="149230" cy="149230"/>
          </a:xfrm>
          <a:prstGeom prst="rect">
            <a:avLst/>
          </a:prstGeom>
        </p:spPr>
      </p:pic>
      <p:sp>
        <p:nvSpPr>
          <p:cNvPr id="19" name="Text 13"/>
          <p:cNvSpPr/>
          <p:nvPr/>
        </p:nvSpPr>
        <p:spPr>
          <a:xfrm>
            <a:off x="1280160" y="484632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WhatsApp</a:t>
            </a:r>
            <a:endParaRPr lang="en-US" sz="1350" dirty="0"/>
          </a:p>
        </p:txBody>
      </p:sp>
      <p:sp>
        <p:nvSpPr>
          <p:cNvPr id="20" name="Text 14"/>
          <p:cNvSpPr/>
          <p:nvPr/>
        </p:nvSpPr>
        <p:spPr>
          <a:xfrm>
            <a:off x="804672" y="534009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Ícone flutuante leva direto à conversa com o contato oficial; a tela de mensagens recebidas é só para administradores. Quando configurado no servidor, o sistema também envia por WhatsApp os avisos de meta e os sinais do robô.</a:t>
            </a:r>
            <a:endParaRPr lang="en-US" sz="1050" dirty="0"/>
          </a:p>
        </p:txBody>
      </p:sp>
      <p:sp>
        <p:nvSpPr>
          <p:cNvPr id="21" name="Text 1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2" name="Text 1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17  </a:t>
            </a:r>
            <a:pPr indent="0" marL="0">
              <a:buNone/>
            </a:pPr>
            <a:r>
              <a:rPr lang="en-US" sz="1250" b="1" spc="200" kern="0" dirty="0">
                <a:solidFill>
                  <a:srgbClr val="00D68F"/>
                </a:solidFill>
                <a:latin typeface="Calibri" pitchFamily="34" charset="0"/>
                <a:ea typeface="Calibri" pitchFamily="34" charset="-122"/>
                <a:cs typeface="Calibri" pitchFamily="34" charset="-120"/>
              </a:rPr>
              <a:t>CONTA CORRENTE</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Conta corrente — o caixa das operações</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Registra o saldo inicial informado manualmente, debita automaticamente a cada compra e credita automaticamente a cada venda, além de aceitar transferências manuais de e para outras contas (ex.: Nubank, a própria corretora).</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Saldo inicial</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Definido no formulário, editável a qualquer momento</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Saldo atual</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Inicial + créditos − débitos, incl. transferências</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Débito e crédito automáticos</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Toda compra gera um débito automático ("Compra de Nx TICKER"); toda venda gera um crédito automático líquido ("Venda de Nx TICKER"). Editar uma operação atualiza o lançamento; excluir a operação de origem exclui o lançamento junto.</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Transferências manuais</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Registra Crédito (entrada) ou Débito (saída) não ligado a compra/venda — ex.: depósito de outro banco ou saque para outra conta.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Extrato e exportação</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Lista todos os lançamentos com saldo acumulado por linha. Filtro por período (padrão: mês corrente) e exportação em Excel/PDF.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21  </a:t>
            </a:r>
            <a:pPr indent="0" marL="0">
              <a:buNone/>
            </a:pPr>
            <a:r>
              <a:rPr lang="en-US" sz="1250" b="1" spc="200" kern="0" dirty="0">
                <a:solidFill>
                  <a:srgbClr val="00D68F"/>
                </a:solidFill>
                <a:latin typeface="Calibri" pitchFamily="34" charset="0"/>
                <a:ea typeface="Calibri" pitchFamily="34" charset="-122"/>
                <a:cs typeface="Calibri" pitchFamily="34" charset="-120"/>
              </a:rPr>
              <a:t>MÓDULO DE CRIPTOMOEDAS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Criptomoedas — carteira própria, 24 horas por dia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Módulo completamente separado das ações da B3: não entra em Posições em Carteira, no robô consultor, no Scanner Técnico nem na comparação com Ibovespa/CDI. Como cripto negocia todos os dias, sem horário de pregão, cada carteira mantém sua própria lógica e seus próprios números.</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Tela Criptomoedas</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Cotações, carteira e reservas em uma tela própria, acessível pelo Menu</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Atualizar Cripto agora</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Busca as cotações mais recentes e grava um novo registro, sem depender do horário de pregão da B3</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Registrar operações de cripto</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 venda e reserva com até 8 casas decimais de precisão e metas de lucro e perda — os mesmos recursos de editar, excluir e vender um lote parcial das ações.</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Variações de hoje</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com o lucro/perda consolidado da carteira de cripto a cada atualização registrada no dia.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Conta Corrente e relatórios</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Compras e vendas lançadas automaticamente no mesmo caixa das ações, com exportação em Excel e 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22.1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Qualidade das Empresas: nota de 0 a 10</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Calculada pelos balanços, pela DRE e pelos proventos. Critério sem dado, ou que não se aplica (dívida de banco), sai da conta. Menu → 🏅 Qualidade das Empresas, ou diga "qualidade".</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3291840"/>
        </p:xfrm>
        <a:graphic>
          <a:graphicData uri="http://schemas.openxmlformats.org/drawingml/2006/table">
            <a:tbl>
              <a:tblPr/>
              <a:tblGrid>
                <a:gridCol w="3657600"/>
                <a:gridCol w="7436815"/>
              </a:tblGrid>
              <a:tr h="411480">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Critério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Pontos e regra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Lucro consistente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lucro nos 5 últimos anos  ·  1 pt: no máximo 1 ano de prejuízo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Rentabilidade (ROE)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ROE ≥ 15%  ·  1 pt: ROE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Margem líquida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margem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Crescimento do lucro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 10% ao ano em 3 anos  ·  1 pt: crescendo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Endividamento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passivo ≤ 60% do ativo total (não se aplica a bancos)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Preço (P/L)</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P/L entre 0 e 20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Dividendos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dividend yield ≥ 4% em 12 meses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Nota 7 ou mais: alta · 4 a 7: média · abaixo de 4: baixa. Mede a qualidade da empresa, não para onde o preço vai — use junto com a Calculadora de risco.</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22.2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Calculadora de risco na tela de compra</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Quantidade pelo risco</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Quantas ações comprar para que, se o stop for atingido, a perda não passe de 1% do patrimônio (saldo da Conta Corrente + carteira) — sem passar do saldo disponível. "Usar no formulário" preenche a quantidade e as metas de lucro/perda.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calculadora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Stop sugerido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2× o ATR abaixo da entrada, ou logo abaixo do suporte; sem histórico, 5% abaixo.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Alvo</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Ganho de 2× o risco (relação risco-retorno de 1 para 2).</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Contexto</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Nota de qualidade, Scanner, Backtesting e peso do setor na carteira.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Avisos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Setor acima de 30%, qualidade baixa, predomínio de baixa ou saldo insuficiente.</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Mantenha o saldo da Conta Corrente atualizado: sem ele, a quantidade sai só pelo risco e a calculadora pede para você conferir o dinheiro disponível.</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Configurações que afetam o uso diário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Ajustadas pelo administrador do sistema (arquivo de configuração do servidor) e mudam diretamente o comportamento das telas descritas neste manual.</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MAX_ATIVOS_EM_CARTEIRA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Quantos tickers diferentes cada usuário pode ter comprados ao mesmo tempo (padrão: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META_LUCRO_PADRAO / META_PERDA_PADRAO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Metas (%) usadas quando uma operação não define meta própria.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B3_HORARIO_ABERTURA / FECHAMENTO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Horário de negociação da B3, usado no badge de mercado e no botão de atualizar cotações.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TRADINGVIEW_URL_PESQUISA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URL pré-preenchida para abrir páginas do TradingView em nova aba.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WHATSAPP_NUMERO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Número de contato usado pelo ícone flutuante de WhatsApp.</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COTACOES / NOTICIAS _INTERVALO_MINUTOS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Intervalo das rotinas automáticas do servidor (não afeta os botões manuais).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 (CONTINUAÇÃO)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Segurança e apoio à decisão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Opções novas desta revisão, também ajustadas pelo administrador do sistema.</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CADASTRO_PUBLICO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Mostra no login o link de cadastro aberto ao público (padrão: desligado).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LOGIN_MAX_TENTATIVAS / _BLOQUEIO_MINUTOS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Senhas erradas que bloqueiam o login e por quantos minutos (padrão: 5 e 15).</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EMAIL_HOST e demais EMAIL_*</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Servidor de e-mail do link "Esqueci minha senha".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RISCO_POR_OPERACAO_PCT / LIMITE_SETOR_PCT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Risco por operação (padrão 1%) e limite por setor (padrão 30%) da Calculadora de risco.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BACKTEST_CUSTO_PCT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Custo de compra + venda descontado no Backtesting (padrão 0,1%).</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BRAPI_HISTORICO_MAXIMO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Maior histórico de cotações aceito pelo plano da API (gratuito: 3 meses; Startup: 1 ano).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81226"/>
          </a:solidFill>
          <a:ln/>
        </p:spPr>
        <p:txBody>
          <a:bodyPr/>
          <a:p/>
        </p:txBody>
      </p:sp>
      <p:sp>
        <p:nvSpPr>
          <p:cNvPr id="3" name="Text 1"/>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E1495A"/>
                </a:solidFill>
                <a:latin typeface="Calibri" pitchFamily="34" charset="0"/>
                <a:ea typeface="Calibri" pitchFamily="34" charset="-122"/>
                <a:cs typeface="Calibri" pitchFamily="34" charset="-120"/>
              </a:rPr>
              <a:t>23  </a:t>
            </a:r>
            <a:pPr indent="0" marL="0">
              <a:buNone/>
            </a:pPr>
            <a:r>
              <a:rPr lang="en-US" sz="1250" b="1" spc="200" kern="0" dirty="0">
                <a:solidFill>
                  <a:srgbClr val="8FA3CE"/>
                </a:solidFill>
                <a:latin typeface="Calibri" pitchFamily="34" charset="0"/>
                <a:ea typeface="Calibri" pitchFamily="34" charset="-122"/>
                <a:cs typeface="Calibri" pitchFamily="34" charset="-120"/>
              </a:rPr>
              <a:t>USO RESPONSÁVEL</a:t>
            </a:r>
            <a:endParaRPr lang="en-US" sz="1250" dirty="0"/>
          </a:p>
        </p:txBody>
      </p:sp>
      <p:sp>
        <p:nvSpPr>
          <p:cNvPr id="4" name="Text 2"/>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Avisos legais e uso responsável</a:t>
            </a:r>
            <a:endParaRPr lang="en-US" sz="3000" dirty="0"/>
          </a:p>
        </p:txBody>
      </p:sp>
      <p:sp>
        <p:nvSpPr>
          <p:cNvPr id="5" name="Shape 3"/>
          <p:cNvSpPr/>
          <p:nvPr/>
        </p:nvSpPr>
        <p:spPr>
          <a:xfrm>
            <a:off x="548640" y="1600200"/>
            <a:ext cx="566928" cy="566928"/>
          </a:xfrm>
          <a:prstGeom prst="ellipse">
            <a:avLst/>
          </a:prstGeom>
          <a:solidFill>
            <a:srgbClr val="E1495A"/>
          </a:solidFill>
          <a:ln/>
        </p:spPr>
        <p:txBody>
          <a:bodyPr/>
          <a:p/>
        </p:txBody>
      </p:sp>
      <p:pic>
        <p:nvPicPr>
          <p:cNvPr id="6" name="Image 0" descr="C:\Users\PC ANTONIO\AppData\Roaming\Claude\scratch-workspaces\f0f5d1bc-bf72-4611-a8ea-e50e459a0a45\08c0c592-3fff-44bf-a144-086c85aaeea0\scratch-2026-09-22-98642c\icons\shield.png">    </p:cNvPr>
          <p:cNvPicPr>
            <a:picLocks noChangeAspect="1"/>
          </p:cNvPicPr>
          <p:nvPr/>
        </p:nvPicPr>
        <p:blipFill>
          <a:blip r:embed="rId1"/>
          <a:stretch>
            <a:fillRect/>
          </a:stretch>
        </p:blipFill>
        <p:spPr>
          <a:xfrm>
            <a:off x="684703" y="1736263"/>
            <a:ext cx="294803" cy="294803"/>
          </a:xfrm>
          <a:prstGeom prst="rect">
            <a:avLst/>
          </a:prstGeom>
        </p:spPr>
      </p:pic>
      <p:sp>
        <p:nvSpPr>
          <p:cNvPr id="7" name="Text 4"/>
          <p:cNvSpPr/>
          <p:nvPr/>
        </p:nvSpPr>
        <p:spPr>
          <a:xfrm>
            <a:off x="1389888" y="1572768"/>
            <a:ext cx="10253167" cy="1005840"/>
          </a:xfrm>
          <a:prstGeom prst="rect">
            <a:avLst/>
          </a:prstGeom>
          <a:noFill/>
          <a:ln/>
        </p:spPr>
        <p:txBody>
          <a:bodyPr wrap="square" lIns="0" tIns="0" rIns="0" bIns="0" rtlCol="0" anchor="ctr"/>
          <a:lstStyle/>
          <a:p>
            <a:pPr indent="0" marL="0">
              <a:lnSpc>
                <a:spcPct val="130000"/>
              </a:lnSpc>
              <a:buNone/>
            </a:pPr>
            <a:r>
              <a:rPr lang="en-US" sz="1400" dirty="0">
                <a:solidFill>
                  <a:srgbClr val="CADCFC"/>
                </a:solidFill>
                <a:latin typeface="Calibri" pitchFamily="34" charset="0"/>
                <a:ea typeface="Calibri" pitchFamily="34" charset="-122"/>
                <a:cs typeface="Calibri" pitchFamily="34" charset="-120"/>
              </a:rPr>
              <a:t>O BolsaTrader é uma ferramenta de organização e acompanhamento pessoal de carteira. Nenhum indicador, alerta, sinal do robô consultor, nota de qualidade, sugestão da calculadora de risco ou resultado de backtesting constitui recomendação de investimento, consultoria financeira ou promessa de rentabilidade.</a:t>
            </a:r>
            <a:endParaRPr lang="en-US" sz="1400" dirty="0"/>
          </a:p>
        </p:txBody>
      </p:sp>
      <p:sp>
        <p:nvSpPr>
          <p:cNvPr id="8" name="Shape 5"/>
          <p:cNvSpPr/>
          <p:nvPr/>
        </p:nvSpPr>
        <p:spPr>
          <a:xfrm>
            <a:off x="548640" y="3017520"/>
            <a:ext cx="3515258" cy="2606040"/>
          </a:xfrm>
          <a:prstGeom prst="roundRect">
            <a:avLst>
              <a:gd name="adj" fmla="val 3158"/>
            </a:avLst>
          </a:prstGeom>
          <a:solidFill>
            <a:srgbClr val="16264D"/>
          </a:solidFill>
          <a:ln/>
        </p:spPr>
        <p:txBody>
          <a:bodyPr/>
          <a:p/>
        </p:txBody>
      </p:sp>
      <p:sp>
        <p:nvSpPr>
          <p:cNvPr id="9" name="Shape 6"/>
          <p:cNvSpPr/>
          <p:nvPr/>
        </p:nvSpPr>
        <p:spPr>
          <a:xfrm>
            <a:off x="777240" y="3246120"/>
            <a:ext cx="420624" cy="420624"/>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database.png">    </p:cNvPr>
          <p:cNvPicPr>
            <a:picLocks noChangeAspect="1"/>
          </p:cNvPicPr>
          <p:nvPr/>
        </p:nvPicPr>
        <p:blipFill>
          <a:blip r:embed="rId2"/>
          <a:stretch>
            <a:fillRect/>
          </a:stretch>
        </p:blipFill>
        <p:spPr>
          <a:xfrm>
            <a:off x="878190" y="3347070"/>
            <a:ext cx="218724" cy="218724"/>
          </a:xfrm>
          <a:prstGeom prst="rect">
            <a:avLst/>
          </a:prstGeom>
        </p:spPr>
      </p:pic>
      <p:sp>
        <p:nvSpPr>
          <p:cNvPr id="11" name="Text 7"/>
          <p:cNvSpPr/>
          <p:nvPr/>
        </p:nvSpPr>
        <p:spPr>
          <a:xfrm>
            <a:off x="777240"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Dados de mercado</a:t>
            </a:r>
            <a:endParaRPr lang="en-US" sz="1300" dirty="0"/>
          </a:p>
        </p:txBody>
      </p:sp>
      <p:sp>
        <p:nvSpPr>
          <p:cNvPr id="12" name="Text 8"/>
          <p:cNvSpPr/>
          <p:nvPr/>
        </p:nvSpPr>
        <p:spPr>
          <a:xfrm>
            <a:off x="777240"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Cotações vêm de APIs externas e podem sofrer atraso, indisponibilidade ou imprecisão pontual.</a:t>
            </a:r>
            <a:endParaRPr lang="en-US" sz="1030" dirty="0"/>
          </a:p>
        </p:txBody>
      </p:sp>
      <p:sp>
        <p:nvSpPr>
          <p:cNvPr id="13" name="Shape 9"/>
          <p:cNvSpPr/>
          <p:nvPr/>
        </p:nvSpPr>
        <p:spPr>
          <a:xfrm>
            <a:off x="4338218" y="3017520"/>
            <a:ext cx="3515258" cy="2606040"/>
          </a:xfrm>
          <a:prstGeom prst="roundRect">
            <a:avLst>
              <a:gd name="adj" fmla="val 3158"/>
            </a:avLst>
          </a:prstGeom>
          <a:solidFill>
            <a:srgbClr val="16264D"/>
          </a:solidFill>
          <a:ln/>
        </p:spPr>
        <p:txBody>
          <a:bodyPr/>
          <a:p/>
        </p:txBody>
      </p:sp>
      <p:sp>
        <p:nvSpPr>
          <p:cNvPr id="14" name="Shape 10"/>
          <p:cNvSpPr/>
          <p:nvPr/>
        </p:nvSpPr>
        <p:spPr>
          <a:xfrm>
            <a:off x="4566818" y="3246120"/>
            <a:ext cx="420624" cy="420624"/>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user.png">    </p:cNvPr>
          <p:cNvPicPr>
            <a:picLocks noChangeAspect="1"/>
          </p:cNvPicPr>
          <p:nvPr/>
        </p:nvPicPr>
        <p:blipFill>
          <a:blip r:embed="rId3"/>
          <a:stretch>
            <a:fillRect/>
          </a:stretch>
        </p:blipFill>
        <p:spPr>
          <a:xfrm>
            <a:off x="4667768" y="3347070"/>
            <a:ext cx="218724" cy="218724"/>
          </a:xfrm>
          <a:prstGeom prst="rect">
            <a:avLst/>
          </a:prstGeom>
        </p:spPr>
      </p:pic>
      <p:sp>
        <p:nvSpPr>
          <p:cNvPr id="16" name="Text 11"/>
          <p:cNvSpPr/>
          <p:nvPr/>
        </p:nvSpPr>
        <p:spPr>
          <a:xfrm>
            <a:off x="4566818"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Responsabilidade do usuário</a:t>
            </a:r>
            <a:endParaRPr lang="en-US" sz="1300" dirty="0"/>
          </a:p>
        </p:txBody>
      </p:sp>
      <p:sp>
        <p:nvSpPr>
          <p:cNvPr id="17" name="Text 12"/>
          <p:cNvSpPr/>
          <p:nvPr/>
        </p:nvSpPr>
        <p:spPr>
          <a:xfrm>
            <a:off x="4566818"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Todas as decisões de compra e venda de ativos são de exclusiva responsabilidade do usuário.</a:t>
            </a:r>
            <a:endParaRPr lang="en-US" sz="1030" dirty="0"/>
          </a:p>
        </p:txBody>
      </p:sp>
      <p:sp>
        <p:nvSpPr>
          <p:cNvPr id="18" name="Shape 13"/>
          <p:cNvSpPr/>
          <p:nvPr/>
        </p:nvSpPr>
        <p:spPr>
          <a:xfrm>
            <a:off x="8127797" y="3017520"/>
            <a:ext cx="3515258" cy="2606040"/>
          </a:xfrm>
          <a:prstGeom prst="roundRect">
            <a:avLst>
              <a:gd name="adj" fmla="val 3158"/>
            </a:avLst>
          </a:prstGeom>
          <a:solidFill>
            <a:srgbClr val="16264D"/>
          </a:solidFill>
          <a:ln/>
        </p:spPr>
        <p:txBody>
          <a:bodyPr/>
          <a:p/>
        </p:txBody>
      </p:sp>
      <p:sp>
        <p:nvSpPr>
          <p:cNvPr id="19" name="Shape 14"/>
          <p:cNvSpPr/>
          <p:nvPr/>
        </p:nvSpPr>
        <p:spPr>
          <a:xfrm>
            <a:off x="8356397" y="3246120"/>
            <a:ext cx="420624" cy="420624"/>
          </a:xfrm>
          <a:prstGeom prst="ellipse">
            <a:avLst/>
          </a:prstGeom>
          <a:solidFill>
            <a:srgbClr val="00D68F"/>
          </a:solidFill>
          <a:ln/>
        </p:spPr>
        <p:txBody>
          <a:bodyPr/>
          <a:p/>
        </p:txBody>
      </p:sp>
      <p:pic>
        <p:nvPicPr>
          <p:cNvPr id="20" name="Image 3" descr="C:\Users\PC ANTONIO\AppData\Roaming\Claude\scratch-workspaces\f0f5d1bc-bf72-4611-a8ea-e50e459a0a45\08c0c592-3fff-44bf-a144-086c85aaeea0\scratch-2026-09-22-98642c\icons\clock.png">    </p:cNvPr>
          <p:cNvPicPr>
            <a:picLocks noChangeAspect="1"/>
          </p:cNvPicPr>
          <p:nvPr/>
        </p:nvPicPr>
        <p:blipFill>
          <a:blip r:embed="rId4"/>
          <a:stretch>
            <a:fillRect/>
          </a:stretch>
        </p:blipFill>
        <p:spPr>
          <a:xfrm>
            <a:off x="8457347" y="3347070"/>
            <a:ext cx="218724" cy="218724"/>
          </a:xfrm>
          <a:prstGeom prst="rect">
            <a:avLst/>
          </a:prstGeom>
        </p:spPr>
      </p:pic>
      <p:sp>
        <p:nvSpPr>
          <p:cNvPr id="21" name="Text 15"/>
          <p:cNvSpPr/>
          <p:nvPr/>
        </p:nvSpPr>
        <p:spPr>
          <a:xfrm>
            <a:off x="8356397"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Atualização do manual</a:t>
            </a:r>
            <a:endParaRPr lang="en-US" sz="1300" dirty="0"/>
          </a:p>
        </p:txBody>
      </p:sp>
      <p:sp>
        <p:nvSpPr>
          <p:cNvPr id="22" name="Text 16"/>
          <p:cNvSpPr/>
          <p:nvPr/>
        </p:nvSpPr>
        <p:spPr>
          <a:xfrm>
            <a:off x="8356397"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Este documento reflete as funcionalidades na data de emissão indicada na capa; novas funcionalidades podem não estar ainda refletidas.</a:t>
            </a:r>
            <a:endParaRPr lang="en-US" sz="1030" dirty="0"/>
          </a:p>
        </p:txBody>
      </p:sp>
      <p:sp>
        <p:nvSpPr>
          <p:cNvPr id="23"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1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2011680" y="-2011680"/>
            <a:ext cx="5029200" cy="5029200"/>
          </a:xfrm>
          <a:prstGeom prst="ellipse">
            <a:avLst/>
          </a:prstGeom>
          <a:solidFill>
            <a:srgbClr val="16264D"/>
          </a:solidFill>
          <a:ln/>
        </p:spPr>
        <p:txBody>
          <a:bodyPr/>
          <a:p/>
        </p:txBody>
      </p:sp>
      <p:sp>
        <p:nvSpPr>
          <p:cNvPr id="3" name="Shape 1"/>
          <p:cNvSpPr/>
          <p:nvPr/>
        </p:nvSpPr>
        <p:spPr>
          <a:xfrm>
            <a:off x="9601200" y="4114800"/>
            <a:ext cx="4114800" cy="4114800"/>
          </a:xfrm>
          <a:prstGeom prst="ellipse">
            <a:avLst/>
          </a:prstGeom>
          <a:solidFill>
            <a:srgbClr val="16264D"/>
          </a:solidFill>
          <a:ln/>
        </p:spPr>
        <p:txBody>
          <a:bodyPr/>
          <a:p/>
        </p:txBody>
      </p:sp>
      <p:sp>
        <p:nvSpPr>
          <p:cNvPr id="4" name="Shape 2"/>
          <p:cNvSpPr/>
          <p:nvPr/>
        </p:nvSpPr>
        <p:spPr>
          <a:xfrm>
            <a:off x="5592928" y="1965960"/>
            <a:ext cx="1005840" cy="1005840"/>
          </a:xfrm>
          <a:prstGeom prst="ellipse">
            <a:avLst/>
          </a:prstGeom>
          <a:solidFill>
            <a:srgbClr val="00D68F"/>
          </a:solidFill>
          <a:ln/>
        </p:spPr>
        <p:txBody>
          <a:bodyPr/>
          <a:p/>
        </p:txBody>
      </p:sp>
      <p:pic>
        <p:nvPicPr>
          <p:cNvPr id="5"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5848960" y="2221992"/>
            <a:ext cx="493776" cy="493776"/>
          </a:xfrm>
          <a:prstGeom prst="rect">
            <a:avLst/>
          </a:prstGeom>
        </p:spPr>
      </p:pic>
      <p:sp>
        <p:nvSpPr>
          <p:cNvPr id="6" name="Text 3"/>
          <p:cNvSpPr/>
          <p:nvPr/>
        </p:nvSpPr>
        <p:spPr>
          <a:xfrm>
            <a:off x="0" y="3246120"/>
            <a:ext cx="12191695" cy="7772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Obrigado</a:t>
            </a:r>
            <a:endParaRPr lang="en-US" sz="3800" dirty="0"/>
          </a:p>
        </p:txBody>
      </p:sp>
      <p:sp>
        <p:nvSpPr>
          <p:cNvPr id="7" name="Text 4"/>
          <p:cNvSpPr/>
          <p:nvPr/>
        </p:nvSpPr>
        <p:spPr>
          <a:xfrm>
            <a:off x="2255368" y="4023360"/>
            <a:ext cx="7680960" cy="548640"/>
          </a:xfrm>
          <a:prstGeom prst="rect">
            <a:avLst/>
          </a:prstGeom>
          <a:noFill/>
          <a:ln/>
        </p:spPr>
        <p:txBody>
          <a:bodyPr wrap="square" lIns="0" tIns="0" rIns="0" bIns="0" rtlCol="0" anchor="ctr"/>
          <a:lstStyle/>
          <a:p>
            <a:pPr algn="ctr" indent="0" marL="0">
              <a:lnSpc>
                <a:spcPct val="125000"/>
              </a:lnSpc>
              <a:buNone/>
            </a:pPr>
            <a:r>
              <a:rPr lang="en-US" sz="1300" dirty="0">
                <a:solidFill>
                  <a:srgbClr val="CADCFC"/>
                </a:solidFill>
                <a:latin typeface="Calibri" pitchFamily="34" charset="0"/>
                <a:ea typeface="Calibri" pitchFamily="34" charset="-122"/>
                <a:cs typeface="Calibri" pitchFamily="34" charset="-120"/>
              </a:rPr>
              <a:t>Dúvidas adicionais? Consulte a seção 20 — Perguntas Frequentes e Solução de Problemas do manual completo.</a:t>
            </a:r>
            <a:endParaRPr lang="en-US" sz="1300" dirty="0"/>
          </a:p>
        </p:txBody>
      </p:sp>
      <p:sp>
        <p:nvSpPr>
          <p:cNvPr id="8" name="Text 5"/>
          <p:cNvSpPr/>
          <p:nvPr/>
        </p:nvSpPr>
        <p:spPr>
          <a:xfrm>
            <a:off x="0" y="4892040"/>
            <a:ext cx="12191695" cy="320040"/>
          </a:xfrm>
          <a:prstGeom prst="rect">
            <a:avLst/>
          </a:prstGeom>
          <a:noFill/>
          <a:ln/>
        </p:spPr>
        <p:txBody>
          <a:bodyPr wrap="square" lIns="0" tIns="0" rIns="0" bIns="0" rtlCol="0" anchor="ctr"/>
          <a:lstStyle/>
          <a:p>
            <a:pPr algn="ctr" indent="0" marL="0">
              <a:buNone/>
            </a:pPr>
            <a:r>
              <a:rPr lang="en-US" sz="1050" dirty="0">
                <a:solidFill>
                  <a:srgbClr val="8FA3CE"/>
                </a:solidFill>
                <a:latin typeface="Calibri" pitchFamily="34" charset="0"/>
                <a:ea typeface="Calibri" pitchFamily="34" charset="-122"/>
                <a:cs typeface="Calibri" pitchFamily="34" charset="-120"/>
              </a:rPr>
              <a:t>Manual_Operacional_BolsaTrader.docx  ·  Versão 10/2026 (rev. 14/10/2026)</a:t>
            </a:r>
            <a:endParaRPr lang="en-US" sz="105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0"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BolsaTrader — Manual Operacional do Sistema</dc:title>
  <dc:subject>PptxGenJS Presentation</dc:subject>
  <dc:creator>BolsaTrader</dc:creator>
  <cp:lastModifiedBy>BolsaTrader</cp:lastModifiedBy>
  <cp:revision>1</cp:revision>
  <dcterms:created xsi:type="dcterms:W3CDTF">2026-09-22T15:41:23Z</dcterms:created>
  <dcterms:modified xsi:type="dcterms:W3CDTF">2026-09-22T15:41:23Z</dcterms:modified>
</cp:coreProperties>
</file>
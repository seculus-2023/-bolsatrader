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31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30"/>
    <p:sldId id="273" r:id="rId19"/>
    <p:sldId id="274" r:id="rId20"/>
    <p:sldId id="278" r:id="rId29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1.xml"/><Relationship Id="rId30" Type="http://schemas.openxmlformats.org/officeDocument/2006/relationships/slide" Target="slides/slide18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2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1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1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8122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15600" y="4206240"/>
            <a:ext cx="2926080" cy="2926080"/>
          </a:xfrm>
          <a:prstGeom prst="ellipse">
            <a:avLst/>
          </a:prstGeom>
          <a:solidFill>
            <a:srgbClr val="08122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0" y="2788920"/>
            <a:ext cx="1234440" cy="12344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16" y="3099816"/>
            <a:ext cx="612648" cy="612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0848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BOLSATRADER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Operacional do Sistema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 de uso de todas as telas e funcionalidades da plataforma de acompanhamento de carteira na B3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do documento  ·  </a:t>
            </a:r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10/2026 (revisão 10/10/2026)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081226"/>
          </a:solidFill>
          <a:ln w="12700">
            <a:solidFill>
              <a:srgbClr val="2A3A6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94944" y="5477256"/>
            <a:ext cx="310896" cy="310896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13" name="Image 1" descr="C:\Users\PC ANTONIO\AppData\Roaming\Claude\scratch-workspaces\f0f5d1bc-bf72-4611-a8ea-e50e459a0a45\08c0c592-3fff-44bf-a144-086c85aaeea0\scratch-2026-09-22-98642c\icons\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" y="5539435"/>
            <a:ext cx="186538" cy="1865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3856" y="5349240"/>
            <a:ext cx="5358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educacional — não constitui recomendação de investimento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</a:t>
            </a:r>
            <a:pPr indent="0" marL="0">
              <a:buNone/>
            </a:pPr>
            <a:r>
              <a:rPr lang="en-US" sz="1250" b="1" spc="200" kern="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percorrer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73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sistema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e convenções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8072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825496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sistema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374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3392424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Navegação, menu e comando de voz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9410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395935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controle (dashboard)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507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452628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 operações (compra/venda)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70168" y="1673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18808" y="169164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em carteira e risco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70168" y="2240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18808" y="225856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consultor e backtesting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70168" y="28072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18808" y="2825496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 e scanner técnico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70168" y="3374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18808" y="3392424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Histórico, cotações, IFR e registros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70168" y="39410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18808" y="395935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Notícias, TradingView, alertas e WhatsApp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70168" y="4507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18808" y="452628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corrente, criptomoedas e configurações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BolsaTrader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acompanhamento de compra e venda de ações da B3. Registra operações, calcula lucro/perda automaticamente, acompanha cotações diárias, compara o desempenho da carteira com o mercado e conta com um robô consultor que analisa indicadores técnicos.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64328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56946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7" name="Image 0" descr="C:\Users\PC ANTONIO\AppData\Roaming\Claude\scratch-workspaces\f0f5d1bc-bf72-4611-a8ea-e50e459a0a45\08c0c592-3fff-44bf-a144-086c85aaeea0\scratch-2026-09-22-98642c\icons\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68833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251460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operações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154680"/>
            <a:ext cx="4852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Compras, vendas e reservas de intenção de compra, com cálculo automático de lucro/perda por lote.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8728" y="2331720"/>
            <a:ext cx="5364328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34760" y="256946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2" name="Image 1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268833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6552" y="251460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diárias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34760" y="3154680"/>
            <a:ext cx="4852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automático dos preços dos ativos comprados e reservados, com histórico e gráficos.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178808"/>
            <a:ext cx="5364328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04672" y="4416552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7" name="Image 2" descr="C:\Users\PC ANTONIO\AppData\Roaming\Claude\scratch-workspaces\f0f5d1bc-bf72-4611-a8ea-e50e459a0a45\08c0c592-3fff-44bf-a144-086c85aaeea0\scratch-2026-09-22-98642c\icons\pie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53542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6464" y="4361688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x mercado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4672" y="5001768"/>
            <a:ext cx="4852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retorno da carteira com o Ibovespa e o CDI acumulado no mesmo período.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78728" y="4178808"/>
            <a:ext cx="5364328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534760" y="4416552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2" name="Image 3" descr="C:\Users\PC ANTONIO\AppData\Roaming\Claude\scratch-workspaces\f0f5d1bc-bf72-4611-a8ea-e50e459a0a45\08c0c592-3fff-44bf-a144-086c85aaeea0\scratch-2026-09-22-98642c\icons\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453542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56552" y="4361688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consultor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534760" y="5001768"/>
            <a:ext cx="4852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tendência, RSI e MACD e sugere sinais de compra/venda, com reserva automática.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870448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DECEE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731520" y="5980176"/>
            <a:ext cx="329184" cy="329184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27" name="Image 4" descr="C:\Users\PC ANTONIO\AppData\Roaming\Claude\scratch-workspaces\f0f5d1bc-bf72-4611-a8ea-e50e459a0a45\08c0c592-3fff-44bf-a144-086c85aaeea0\scratch-2026-09-22-98642c\icons\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40" y="6052596"/>
            <a:ext cx="184343" cy="1843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25296" y="5961888"/>
            <a:ext cx="10234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informação, sinal ou indicador do sistema constitui recomendação de investimento. Decisões de compra e venda são de inteira responsabilidade do usuário.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01.1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MANUAL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e convenções do documento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011680"/>
          </a:xfrm>
          <a:prstGeom prst="roundRect">
            <a:avLst>
              <a:gd name="adj" fmla="val 409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5681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78308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 este manual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23160"/>
            <a:ext cx="4852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Investidores pessoa física que usam o BolsaTrader para organizar a própria carteira de ações. Não é necessário conhecimento técnico de programação para acompanhar o conteúdo.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364328" cy="2011680"/>
          </a:xfrm>
          <a:prstGeom prst="roundRect">
            <a:avLst>
              <a:gd name="adj" fmla="val 409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4760" y="183794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1" name="Image 1" descr="C:\Users\PC ANTONIO\AppData\Roaming\Claude\scratch-workspaces\f0f5d1bc-bf72-4611-a8ea-e50e459a0a45\08c0c592-3fff-44bf-a144-086c85aaeea0\scratch-2026-09-22-98642c\icons\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195681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6552" y="178308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operacional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4760" y="2423160"/>
            <a:ext cx="4852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manual descreve exclusivamente o uso das telas e funcionalidades no dia a dia. Instalação, configuração de servidor e implantação ficam no manual técnico, à parte.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usadas neste documento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6" name="Image 2" descr="C:\Users\PC ANTONIO\AppData\Roaming\Claude\scratch-workspaces\f0f5d1bc-bf72-4611-a8ea-e50e459a0a45\08c0c592-3fff-44bf-a144-086c85aaeea0\scratch-2026-09-22-98642c\icons\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4527012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4398264"/>
            <a:ext cx="2923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78992" y="4654296"/>
            <a:ext cx="29239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o nome exato de um botão, campo ou aba clicável na tela.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368698" y="443484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0" name="Image 3" descr="C:\Users\PC ANTONIO\AppData\Roaming\Claude\scratch-workspaces\f0f5d1bc-bf72-4611-a8ea-e50e459a0a45\08c0c592-3fff-44bf-a144-086c85aaeea0\scratch-2026-09-22-98642c\icons\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870" y="4527012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9050" y="4398264"/>
            <a:ext cx="2923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sombreadas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899050" y="4654296"/>
            <a:ext cx="29239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 avisos, observações importantes ou alertas de atenção.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188757" y="443484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4" name="Image 4" descr="C:\Users\PC ANTONIO\AppData\Roaming\Claude\scratch-workspaces\f0f5d1bc-bf72-4611-a8ea-e50e459a0a45\08c0c592-3fff-44bf-a144-086c85aaeea0\scratch-2026-09-22-98642c\icons\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928" y="4527012"/>
            <a:ext cx="199705" cy="19970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19109" y="4398264"/>
            <a:ext cx="2923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719109" y="4654296"/>
            <a:ext cx="29239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Reproduzem o texto exato que aparece na tela do sistema.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5" name="Image 0" descr="C:\Users\PC ANTONIO\AppData\Roaming\Claude\scratch-workspaces\f0f5d1bc-bf72-4611-a8ea-e50e459a0a45\08c0c592-3fff-44bf-a144-086c85aaeea0\scratch-2026-09-22-98642c\icon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169237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56362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conta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8992" y="1819656"/>
            <a:ext cx="483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 de login, acesse "Cadastrar Usuário", preencha usuário, e-mail e senha. Cada usuário só enxerga as próprias operações, posições, alertas e reservas.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78728" y="160020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9" name="Image 1" descr="C:\Users\PC ANTONIO\AppData\Roaming\Claude\scratch-workspaces\f0f5d1bc-bf72-4611-a8ea-e50e459a0a45\08c0c592-3fff-44bf-a144-086c85aaeea0\scratch-2026-09-22-98642c\icons\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899" y="169237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09080" y="156362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(login)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809080" y="1819656"/>
            <a:ext cx="483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usuário e senha. Após autenticado, o sistema abre diretamente no Painel de Controle.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3" name="Image 2" descr="C:\Users\PC ANTONIO\AppData\Roaming\Claude\scratch-workspaces\f0f5d1bc-bf72-4611-a8ea-e50e459a0a45\08c0c592-3fff-44bf-a144-086c85aaeea0\scratch-2026-09-22-98642c\icons\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2743932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61518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Conta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078992" y="2871216"/>
            <a:ext cx="483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na barra de navegação superior — consulta e atualização dos dados cadastrais do usuário logado.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78728" y="265176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7" name="Image 3" descr="C:\Users\PC ANTONIO\AppData\Roaming\Claude\scratch-workspaces\f0f5d1bc-bf72-4611-a8ea-e50e459a0a45\08c0c592-3fff-44bf-a144-086c85aaeea0\scratch-2026-09-22-98642c\icons\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899" y="2743932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9080" y="261518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809080" y="2871216"/>
            <a:ext cx="483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no canto superior direito da barra de navegação, encerra a sessão a qualquer momento.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804672" y="421538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2" name="Image 4" descr="C:\Users\PC ANTONIO\AppData\Roaming\Claude\scratch-workspaces\f0f5d1bc-bf72-4611-a8ea-e50e459a0a45\08c0c592-3fff-44bf-a144-086c85aaeea0\scratch-2026-09-22-98642c\icons\smart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3425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26464" y="4160520"/>
            <a:ext cx="9987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como aplicativo (PWA)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04672" y="4800600"/>
            <a:ext cx="1058235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BolsaTrader pode ser instalado como um app no computador ou celular, sem loja de aplicativos. Quando o navegador permite, aparece o botão "⬇ Instalar app" — clique e confirme para abrir o sistema como um app independente, com ícone próprio.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/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731520" y="5801868"/>
            <a:ext cx="329184" cy="329184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7" name="Image 5" descr="C:\Users\PC ANTONIO\AppData\Roaming\Claude\scratch-workspaces\f0f5d1bc-bf72-4611-a8ea-e50e459a0a45\08c0c592-3fff-44bf-a144-086c85aaeea0\scratch-2026-09-22-98642c\icons\inf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0" y="5874288"/>
            <a:ext cx="184343" cy="184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25296" y="5715000"/>
            <a:ext cx="102348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instalação como app exige que o site esteja em HTTPS (conexão segura). Sem HTTPS configurado, o botão de instalação pode não aparecer — limitação do navegador, não do BolsaTrader.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geral e menu principal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barra superior dá acesso direto às principais telas. A tela "Menu" reúne todas as áreas do sistema em cartões com ícone e descrição: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2002536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7" name="Image 0" descr="C:\Users\PC ANTONIO\AppData\Roaming\Claude\scratch-workspaces\f0f5d1bc-bf72-4611-a8ea-e50e459a0a45\08c0c592-3fff-44bf-a144-086c85aaeea0\scratch-2026-09-22-98642c\icons\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053" y="2070933"/>
            <a:ext cx="174102" cy="174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359152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6656" y="2587752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geral, lucro/perda e alertas.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3372536" y="1874520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500552" y="2002536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2" name="Image 1" descr="C:\Users\PC ANTONIO\AppData\Roaming\Claude\scratch-workspaces\f0f5d1bc-bf72-4611-a8ea-e50e459a0a45\08c0c592-3fff-44bf-a144-086c85aaeea0\scratch-2026-09-22-98642c\icons\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949" y="2070933"/>
            <a:ext cx="174102" cy="174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0552" y="2359152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Compra/Venda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00552" y="2587752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nova operação.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6196432" y="1874520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324448" y="2002536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7" name="Image 2" descr="C:\Users\PC ANTONIO\AppData\Roaming\Claude\scratch-workspaces\f0f5d1bc-bf72-4611-a8ea-e50e459a0a45\08c0c592-3fff-44bf-a144-086c85aaeea0\scratch-2026-09-22-98642c\icons\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845" y="2070933"/>
            <a:ext cx="174102" cy="174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4448" y="2359152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324448" y="2587752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compras e vendas.</a:t>
            </a:r>
            <a:endParaRPr lang="en-US" sz="830" dirty="0"/>
          </a:p>
        </p:txBody>
      </p:sp>
      <p:sp>
        <p:nvSpPr>
          <p:cNvPr id="20" name="Shape 15"/>
          <p:cNvSpPr/>
          <p:nvPr/>
        </p:nvSpPr>
        <p:spPr>
          <a:xfrm>
            <a:off x="9020327" y="1874520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148343" y="2002536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2" name="Image 3" descr="C:\Users\PC ANTONIO\AppData\Roaming\Claude\scratch-workspaces\f0f5d1bc-bf72-4611-a8ea-e50e459a0a45\08c0c592-3fff-44bf-a144-086c85aaeea0\scratch-2026-09-22-98642c\icons\pie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741" y="2070933"/>
            <a:ext cx="174102" cy="1741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8343" y="2359152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148343" y="2587752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médio e lucro/perda.</a:t>
            </a:r>
            <a:endParaRPr lang="en-US" sz="830" dirty="0"/>
          </a:p>
        </p:txBody>
      </p:sp>
      <p:sp>
        <p:nvSpPr>
          <p:cNvPr id="25" name="Shape 19"/>
          <p:cNvSpPr/>
          <p:nvPr/>
        </p:nvSpPr>
        <p:spPr>
          <a:xfrm>
            <a:off x="548640" y="2898648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676656" y="302666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7" name="Image 4" descr="C:\Users\PC ANTONIO\AppData\Roaming\Claude\scratch-workspaces\f0f5d1bc-bf72-4611-a8ea-e50e459a0a45\08c0c592-3fff-44bf-a144-086c85aaeea0\scratch-2026-09-22-98642c\icons\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53" y="3095061"/>
            <a:ext cx="174102" cy="1741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6656" y="3383280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76656" y="3611880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alta ou baixa.</a:t>
            </a:r>
            <a:endParaRPr lang="en-US" sz="830" dirty="0"/>
          </a:p>
        </p:txBody>
      </p:sp>
      <p:sp>
        <p:nvSpPr>
          <p:cNvPr id="30" name="Shape 23"/>
          <p:cNvSpPr/>
          <p:nvPr/>
        </p:nvSpPr>
        <p:spPr>
          <a:xfrm>
            <a:off x="3372536" y="2898648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3500552" y="302666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32" name="Image 5" descr="C:\Users\PC ANTONIO\AppData\Roaming\Claude\scratch-workspaces\f0f5d1bc-bf72-4611-a8ea-e50e459a0a45\08c0c592-3fff-44bf-a144-086c85aaeea0\scratch-2026-09-22-98642c\icons\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949" y="3095061"/>
            <a:ext cx="174102" cy="1741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00552" y="3383280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3500552" y="3611880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acerto do robô.</a:t>
            </a:r>
            <a:endParaRPr lang="en-US" sz="830" dirty="0"/>
          </a:p>
        </p:txBody>
      </p:sp>
      <p:sp>
        <p:nvSpPr>
          <p:cNvPr id="35" name="Shape 27"/>
          <p:cNvSpPr/>
          <p:nvPr/>
        </p:nvSpPr>
        <p:spPr>
          <a:xfrm>
            <a:off x="6196432" y="2898648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36" name="Shape 28"/>
          <p:cNvSpPr/>
          <p:nvPr/>
        </p:nvSpPr>
        <p:spPr>
          <a:xfrm>
            <a:off x="6324448" y="302666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37" name="Image 6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845" y="3095061"/>
            <a:ext cx="174102" cy="17410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24448" y="3383280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Gráfico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6324448" y="3611880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e gráfico por ativo.</a:t>
            </a:r>
            <a:endParaRPr lang="en-US" sz="830" dirty="0"/>
          </a:p>
        </p:txBody>
      </p:sp>
      <p:sp>
        <p:nvSpPr>
          <p:cNvPr id="40" name="Shape 31"/>
          <p:cNvSpPr/>
          <p:nvPr/>
        </p:nvSpPr>
        <p:spPr>
          <a:xfrm>
            <a:off x="9020327" y="2898648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41" name="Shape 32"/>
          <p:cNvSpPr/>
          <p:nvPr/>
        </p:nvSpPr>
        <p:spPr>
          <a:xfrm>
            <a:off x="9148343" y="302666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42" name="Image 7" descr="C:\Users\PC ANTONIO\AppData\Roaming\Claude\scratch-workspaces\f0f5d1bc-bf72-4611-a8ea-e50e459a0a45\08c0c592-3fff-44bf-a144-086c85aaeea0\scratch-2026-09-22-98642c\icons\bel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6741" y="3095061"/>
            <a:ext cx="174102" cy="17410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48343" y="3383280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e Lembretes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9148343" y="3611880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atingidas e tendências.</a:t>
            </a:r>
            <a:endParaRPr lang="en-US" sz="830" dirty="0"/>
          </a:p>
        </p:txBody>
      </p:sp>
      <p:sp>
        <p:nvSpPr>
          <p:cNvPr id="45" name="Shape 35"/>
          <p:cNvSpPr/>
          <p:nvPr/>
        </p:nvSpPr>
        <p:spPr>
          <a:xfrm>
            <a:off x="548640" y="3922776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46" name="Shape 36"/>
          <p:cNvSpPr/>
          <p:nvPr/>
        </p:nvSpPr>
        <p:spPr>
          <a:xfrm>
            <a:off x="676656" y="4050792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47" name="Image 8" descr="C:\Users\PC ANTONIO\AppData\Roaming\Claude\scratch-workspaces\f0f5d1bc-bf72-4611-a8ea-e50e459a0a45\08c0c592-3fff-44bf-a144-086c85aaeea0\scratch-2026-09-22-98642c\icons\whatsap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53" y="4119189"/>
            <a:ext cx="174102" cy="17410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76656" y="4407408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WhatsApp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676656" y="4636008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Recebidas pelo contato oficial.</a:t>
            </a:r>
            <a:endParaRPr lang="en-US" sz="830" dirty="0"/>
          </a:p>
        </p:txBody>
      </p:sp>
      <p:sp>
        <p:nvSpPr>
          <p:cNvPr id="50" name="Shape 39"/>
          <p:cNvSpPr/>
          <p:nvPr/>
        </p:nvSpPr>
        <p:spPr>
          <a:xfrm>
            <a:off x="3372536" y="3922776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51" name="Shape 40"/>
          <p:cNvSpPr/>
          <p:nvPr/>
        </p:nvSpPr>
        <p:spPr>
          <a:xfrm>
            <a:off x="3500552" y="4050792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52" name="Image 9" descr="C:\Users\PC ANTONIO\AppData\Roaming\Claude\scratch-workspaces\f0f5d1bc-bf72-4611-a8ea-e50e459a0a45\08c0c592-3fff-44bf-a144-086c85aaeea0\scratch-2026-09-22-98642c\icons\lis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8949" y="4119189"/>
            <a:ext cx="174102" cy="17410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3500552" y="4407408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de Cotações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3500552" y="4636008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volume e 52 semanas.</a:t>
            </a:r>
            <a:endParaRPr lang="en-US" sz="830" dirty="0"/>
          </a:p>
        </p:txBody>
      </p:sp>
      <p:sp>
        <p:nvSpPr>
          <p:cNvPr id="55" name="Shape 43"/>
          <p:cNvSpPr/>
          <p:nvPr/>
        </p:nvSpPr>
        <p:spPr>
          <a:xfrm>
            <a:off x="6196432" y="3922776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56" name="Shape 44"/>
          <p:cNvSpPr/>
          <p:nvPr/>
        </p:nvSpPr>
        <p:spPr>
          <a:xfrm>
            <a:off x="6324448" y="4050792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57" name="Image 10" descr="C:\Users\PC ANTONIO\AppData\Roaming\Claude\scratch-workspaces\f0f5d1bc-bf72-4611-a8ea-e50e459a0a45\08c0c592-3fff-44bf-a144-086c85aaeea0\scratch-2026-09-22-98642c\icons\build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2845" y="4119189"/>
            <a:ext cx="174102" cy="174102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324448" y="4407408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da B3</a:t>
            </a:r>
            <a:endParaRPr lang="en-US" sz="1050" dirty="0"/>
          </a:p>
        </p:txBody>
      </p:sp>
      <p:sp>
        <p:nvSpPr>
          <p:cNvPr id="59" name="Text 46"/>
          <p:cNvSpPr/>
          <p:nvPr/>
        </p:nvSpPr>
        <p:spPr>
          <a:xfrm>
            <a:off x="6324448" y="4636008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completo de ações.</a:t>
            </a:r>
            <a:endParaRPr lang="en-US" sz="830" dirty="0"/>
          </a:p>
        </p:txBody>
      </p:sp>
      <p:sp>
        <p:nvSpPr>
          <p:cNvPr id="60" name="Shape 47"/>
          <p:cNvSpPr/>
          <p:nvPr/>
        </p:nvSpPr>
        <p:spPr>
          <a:xfrm>
            <a:off x="9020327" y="3922776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61" name="Shape 48"/>
          <p:cNvSpPr/>
          <p:nvPr/>
        </p:nvSpPr>
        <p:spPr>
          <a:xfrm>
            <a:off x="9148343" y="4050792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2" name="Image 11" descr="C:\Users\PC ANTONIO\AppData\Roaming\Claude\scratch-workspaces\f0f5d1bc-bf72-4611-a8ea-e50e459a0a45\08c0c592-3fff-44bf-a144-086c85aaeea0\scratch-2026-09-22-98642c\icons\new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6741" y="4119189"/>
            <a:ext cx="174102" cy="174102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9148343" y="4407408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do Mercado</a:t>
            </a:r>
            <a:endParaRPr lang="en-US" sz="1050" dirty="0"/>
          </a:p>
        </p:txBody>
      </p:sp>
      <p:sp>
        <p:nvSpPr>
          <p:cNvPr id="64" name="Text 50"/>
          <p:cNvSpPr/>
          <p:nvPr/>
        </p:nvSpPr>
        <p:spPr>
          <a:xfrm>
            <a:off x="9148343" y="4636008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Manchetes das fontes configuradas.</a:t>
            </a:r>
            <a:endParaRPr lang="en-US" sz="830" dirty="0"/>
          </a:p>
        </p:txBody>
      </p:sp>
      <p:sp>
        <p:nvSpPr>
          <p:cNvPr id="65" name="Shape 51"/>
          <p:cNvSpPr/>
          <p:nvPr/>
        </p:nvSpPr>
        <p:spPr>
          <a:xfrm>
            <a:off x="548640" y="4946904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66" name="Shape 52"/>
          <p:cNvSpPr/>
          <p:nvPr/>
        </p:nvSpPr>
        <p:spPr>
          <a:xfrm>
            <a:off x="676656" y="5074920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67" name="Image 12" descr="C:\Users\PC ANTONIO\AppData\Roaming\Claude\scratch-workspaces\f0f5d1bc-bf72-4611-a8ea-e50e459a0a45\08c0c592-3fff-44bf-a144-086c85aaeea0\scratch-2026-09-22-98642c\icons\t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053" y="5143317"/>
            <a:ext cx="174102" cy="174102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676656" y="5431536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</a:t>
            </a:r>
            <a:endParaRPr lang="en-US" sz="1050" dirty="0"/>
          </a:p>
        </p:txBody>
      </p:sp>
      <p:sp>
        <p:nvSpPr>
          <p:cNvPr id="69" name="Text 54"/>
          <p:cNvSpPr/>
          <p:nvPr/>
        </p:nvSpPr>
        <p:spPr>
          <a:xfrm>
            <a:off x="676656" y="5660136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avançado embutido.</a:t>
            </a:r>
            <a:endParaRPr lang="en-US" sz="830" dirty="0"/>
          </a:p>
        </p:txBody>
      </p:sp>
      <p:sp>
        <p:nvSpPr>
          <p:cNvPr id="70" name="Shape 55"/>
          <p:cNvSpPr/>
          <p:nvPr/>
        </p:nvSpPr>
        <p:spPr>
          <a:xfrm>
            <a:off x="3372536" y="4946904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71" name="Shape 56"/>
          <p:cNvSpPr/>
          <p:nvPr/>
        </p:nvSpPr>
        <p:spPr>
          <a:xfrm>
            <a:off x="3500552" y="5074920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72" name="Image 13" descr="C:\Users\PC ANTONIO\AppData\Roaming\Claude\scratch-workspaces\f0f5d1bc-bf72-4611-a8ea-e50e459a0a45\08c0c592-3fff-44bf-a144-086c85aaeea0\scratch-2026-09-22-98642c\icons\clo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8949" y="5143317"/>
            <a:ext cx="174102" cy="174102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3500552" y="5431536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Atualizações</a:t>
            </a:r>
            <a:endParaRPr lang="en-US" sz="1050" dirty="0"/>
          </a:p>
        </p:txBody>
      </p:sp>
      <p:sp>
        <p:nvSpPr>
          <p:cNvPr id="74" name="Text 58"/>
          <p:cNvSpPr/>
          <p:nvPr/>
        </p:nvSpPr>
        <p:spPr>
          <a:xfrm>
            <a:off x="3500552" y="5660136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cada atualização.</a:t>
            </a:r>
            <a:endParaRPr lang="en-US" sz="830" dirty="0"/>
          </a:p>
        </p:txBody>
      </p:sp>
      <p:sp>
        <p:nvSpPr>
          <p:cNvPr id="75" name="Shape 59"/>
          <p:cNvSpPr/>
          <p:nvPr/>
        </p:nvSpPr>
        <p:spPr>
          <a:xfrm>
            <a:off x="6196432" y="4946904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76" name="Shape 60"/>
          <p:cNvSpPr/>
          <p:nvPr/>
        </p:nvSpPr>
        <p:spPr>
          <a:xfrm>
            <a:off x="6324448" y="5074920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77" name="Image 14" descr="C:\Users\PC ANTONIO\AppData\Roaming\Claude\scratch-workspaces\f0f5d1bc-bf72-4611-a8ea-e50e459a0a45\08c0c592-3fff-44bf-a144-086c85aaeea0\scratch-2026-09-22-98642c\icons\doll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2845" y="5143317"/>
            <a:ext cx="174102" cy="174102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6324448" y="5431536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Corrente</a:t>
            </a:r>
            <a:endParaRPr lang="en-US" sz="1050" dirty="0"/>
          </a:p>
        </p:txBody>
      </p:sp>
      <p:sp>
        <p:nvSpPr>
          <p:cNvPr id="79" name="Text 62"/>
          <p:cNvSpPr/>
          <p:nvPr/>
        </p:nvSpPr>
        <p:spPr>
          <a:xfrm>
            <a:off x="6324448" y="5660136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Saldo, débitos e créditos.</a:t>
            </a:r>
            <a:endParaRPr lang="en-US" sz="830" dirty="0"/>
          </a:p>
        </p:txBody>
      </p:sp>
      <p:sp>
        <p:nvSpPr>
          <p:cNvPr id="80" name="Shape 63"/>
          <p:cNvSpPr/>
          <p:nvPr/>
        </p:nvSpPr>
        <p:spPr>
          <a:xfrm>
            <a:off x="9020327" y="4946904"/>
            <a:ext cx="2622728" cy="896112"/>
          </a:xfrm>
          <a:prstGeom prst="roundRect">
            <a:avLst>
              <a:gd name="adj" fmla="val 7143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81" name="Shape 64"/>
          <p:cNvSpPr/>
          <p:nvPr/>
        </p:nvSpPr>
        <p:spPr>
          <a:xfrm>
            <a:off x="9148343" y="5074920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82" name="Image 15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16741" y="5143317"/>
            <a:ext cx="174102" cy="174102"/>
          </a:xfrm>
          <a:prstGeom prst="rect">
            <a:avLst/>
          </a:prstGeom>
        </p:spPr>
      </p:pic>
      <p:sp>
        <p:nvSpPr>
          <p:cNvPr id="83" name="Text 65"/>
          <p:cNvSpPr/>
          <p:nvPr/>
        </p:nvSpPr>
        <p:spPr>
          <a:xfrm>
            <a:off x="9148343" y="5431536"/>
            <a:ext cx="236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Técnico</a:t>
            </a:r>
            <a:endParaRPr lang="en-US" sz="1050" dirty="0"/>
          </a:p>
        </p:txBody>
      </p:sp>
      <p:sp>
        <p:nvSpPr>
          <p:cNvPr id="84" name="Text 66"/>
          <p:cNvSpPr/>
          <p:nvPr/>
        </p:nvSpPr>
        <p:spPr>
          <a:xfrm>
            <a:off x="9148343" y="5660136"/>
            <a:ext cx="236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combinados por ativo.</a:t>
            </a:r>
            <a:endParaRPr lang="en-US" sz="830" dirty="0"/>
          </a:p>
        </p:txBody>
      </p:sp>
      <p:sp>
        <p:nvSpPr>
          <p:cNvPr id="85" name="Text 6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86" name="Text 6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controle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inicial após o login — visão consolidada e rápida da carteira.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de resumo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2154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" y="2258568"/>
            <a:ext cx="2309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em carteira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4944" y="2679192"/>
            <a:ext cx="2309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tickers comprados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79394" y="2148840"/>
            <a:ext cx="2602154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25698" y="2258568"/>
            <a:ext cx="2309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investido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25698" y="2679192"/>
            <a:ext cx="2309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aplicado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2148840"/>
            <a:ext cx="2602154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56452" y="2258568"/>
            <a:ext cx="2309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atual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6452" y="2679192"/>
            <a:ext cx="2309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mercado hoje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40901" y="2148840"/>
            <a:ext cx="2602154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87205" y="2258568"/>
            <a:ext cx="2309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/ Perda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87205" y="2679192"/>
            <a:ext cx="2309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e % consolidado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5364328" cy="2651760"/>
          </a:xfrm>
          <a:prstGeom prst="roundRect">
            <a:avLst>
              <a:gd name="adj" fmla="val 310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4672" y="357530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0" name="Image 0" descr="C:\Users\PC ANTONIO\AppData\Roaming\Claude\scratch-workspaces\f0f5d1bc-bf72-4611-a8ea-e50e459a0a45\08c0c592-3fff-44bf-a144-086c85aaeea0\scratch-2026-09-22-98642c\icons\pi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694176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26464" y="352044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carteira x mercado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04672" y="4160520"/>
            <a:ext cx="48522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retorno percentual da carteira comprada com o Ibovespa e o CDI, do início da posição mais antiga (limite de 90 dias) até hoje — responde se valeu a pena operar ativamente. Quando faltam dados, um botão de atualização busca o histórico mais recente das duas referências.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78728" y="333756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4760" y="357530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5" name="Image 1" descr="C:\Users\PC ANTONIO\AppData\Roaming\Claude\scratch-workspaces\f0f5d1bc-bf72-4611-a8ea-e50e459a0a45\08c0c592-3fff-44bf-a144-086c85aaeea0\scratch-2026-09-22-98642c\icons\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593" y="3656137"/>
            <a:ext cx="149230" cy="14923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10248" y="352044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rápidas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6534760" y="4014216"/>
            <a:ext cx="485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Atalhos: + Nova compra/venda, Ver posições, Atualizar cotações, Ver análise de mercado, Histórico e gráficos, Notícias.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78728" y="470916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534760" y="494690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30" name="Image 2" descr="C:\Users\PC ANTONIO\AppData\Roaming\Claude\scratch-workspaces\f0f5d1bc-bf72-4611-a8ea-e50e459a0a45\08c0c592-3fff-44bf-a144-086c85aaeea0\scratch-2026-09-22-98642c\icons\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593" y="5027737"/>
            <a:ext cx="149230" cy="14923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010248" y="489204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em carteira (resumo)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6534760" y="538581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compacta com selos visuais: 🔖 Reservado, 🤖 Robô (posição automática) e 🎯 Meta atingida — vender.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 OPERAÇÕES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uma nova compra ou reserva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central para registrar e consultar compras, vendas e reservas, organizadas em três abas: Em carteira, Reservadas e Vendidas. Clique em "+ Nova compra/reserva" e preencha: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83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(já efetivada) ou Reservar (intenção futura).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 do 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da ação na B3 (ex.: PETR4, VALE3, ITUB4).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ações. Em Reservar, fica limitada a 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unitário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pago ou pretendido, em R$.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 lucro / perda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Opcional. Dispara alerta de meta atingida.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4E5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31520" y="4567428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pic>
        <p:nvPicPr>
          <p:cNvPr id="8" name="Image 0" descr="C:\Users\PC ANTONIO\AppData\Roaming\Claude\scratch-workspaces\f0f5d1bc-bf72-4611-a8ea-e50e459a0a45\08c0c592-3fff-44bf-a144-086c85aaeea0\scratch-2026-09-22-98642c\icons\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40" y="46398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5296" y="4434840"/>
            <a:ext cx="102348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tem um limite configurável de ativos DIFERENTES comprados ao mesmo tempo (padrão: 10). O limite vale só para compra de verdade — registrar uma reserva não consome essa cota.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5257800"/>
            <a:ext cx="11094415" cy="1143000"/>
          </a:xfrm>
          <a:prstGeom prst="roundRect">
            <a:avLst>
              <a:gd name="adj" fmla="val 72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804672" y="549554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2" name="Image 1" descr="C:\Users\PC ANTONIO\AppData\Roaming\Claude\scratch-workspaces\f0f5d1bc-bf72-4611-a8ea-e50e459a0a45\08c0c592-3fff-44bf-a144-086c85aaeea0\scratch-2026-09-22-98642c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5" y="5576377"/>
            <a:ext cx="149230" cy="1492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544068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Efetivar uma reserva como compra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04672" y="5934456"/>
            <a:ext cx="105823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aba Reservadas, o botão de efetivar permite ajustar quantidade, preço e data — eles podem diferir do planejado, pois o preço de mercado muda com o tempo. O mesmo limite de ativos diferentes se aplica aqui.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 OPERAÇÕES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Vender, editar e filtrar operações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4328" cy="2148840"/>
          </a:xfrm>
          <a:prstGeom prst="roundRect">
            <a:avLst>
              <a:gd name="adj" fmla="val 383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um lote (total ou parcial)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48522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aba Em carteira, é possível vender só parte da quantidade — o saldo restante segue na carteira. A venda calcula automaticamente: valor líquido a receber, lucro/perda em R$ e %, e lucro/perda por dia em carteira. Vender 100% não apaga o registro: ele passa para a aba Vendidas e pode ser reaberto para correção.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0" name="Image 1" descr="C:\Users\PC ANTONIO\AppData\Roaming\Claude\scratch-workspaces\f0f5d1bc-bf72-4611-a8ea-e50e459a0a45\08c0c592-3fff-44bf-a144-086c85aaeea0\scratch-2026-09-22-98642c\icons\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899" y="1692372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09080" y="156362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ou excluir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809080" y="1819656"/>
            <a:ext cx="483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e reservas podem ser editadas ou excluídas definitivamente. A exclusão pede confirmação e não pode ser desfeita.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78728" y="269748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4" name="Image 2" descr="C:\Users\PC ANTONIO\AppData\Roaming\Claude\scratch-workspaces\f0f5d1bc-bf72-4611-a8ea-e50e459a0a45\08c0c592-3fff-44bf-a144-086c85aaeea0\scratch-2026-09-22-98642c\icons\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899" y="2789652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09080" y="266090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período e ativo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809080" y="2916936"/>
            <a:ext cx="483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carteira e Reservadas filtram pela data da operação; Vendidas filtra pela data da venda. Sem filtro, mostra o mês corrente.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do formulário de venda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 vendida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pode passar do saldo disponível daquele lote.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de venda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pelo qual as ações foram vendidas.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da corretora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cobrada pela corretora sobre a venda, se houver.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05.6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relatórios (Excel / PDF)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botões "⬇ Exportar Excel" e "⬇ Exportar PDF" respeitam os filtros de data e ativo ativos no momento e geram um relatório com três seções, espelhando as abas da tela: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7" name="Image 0" descr="C:\Users\PC ANTONIO\AppData\Roaming\Claude\scratch-workspaces\f0f5d1bc-bf72-4611-a8ea-e50e459a0a45\08c0c592-3fff-44bf-a144-086c85aaeea0\scratch-2026-09-22-98642c\icons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140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2240280"/>
            <a:ext cx="2408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carteira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880360"/>
            <a:ext cx="300319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dias, ativo, quantidade e valores comprados, saldo, lucro/perda realizado, meta.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8218" y="205740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4250" y="229514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2" name="Image 1" descr="C:\Users\PC ANTONIO\AppData\Roaming\Claude\scratch-workspaces\f0f5d1bc-bf72-4611-a8ea-e50e459a0a45\08c0c592-3fff-44bf-a144-086c85aaeea0\scratch-2026-09-22-98642c\icons\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241401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6042" y="2240280"/>
            <a:ext cx="2408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Vendidas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94250" y="2880360"/>
            <a:ext cx="300319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compra/venda, dias em carteira, preços, corretora, valor líquido, lucro/perda por dia.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27797" y="2057400"/>
            <a:ext cx="3515258" cy="2331720"/>
          </a:xfrm>
          <a:prstGeom prst="roundRect">
            <a:avLst>
              <a:gd name="adj" fmla="val 35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83829" y="229514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7" name="Image 2" descr="C:\Users\PC ANTONIO\AppData\Roaming\Claude\scratch-workspaces\f0f5d1bc-bf72-4611-a8ea-e50e459a0a45\08c0c592-3fff-44bf-a144-086c85aaeea0\scratch-2026-09-22-98642c\icons\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01" y="241401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5621" y="2240280"/>
            <a:ext cx="2408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Reservadas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83829" y="2880360"/>
            <a:ext cx="300319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dias, ativo, quantidade, preço pretendido, variação desde a reserva, meta.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7091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AF0FB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31520" y="4887468"/>
            <a:ext cx="329184" cy="329184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2" name="Image 3" descr="C:\Users\PC ANTONIO\AppData\Roaming\Claude\scratch-workspaces\f0f5d1bc-bf72-4611-a8ea-e50e459a0a45\08c0c592-3fff-44bf-a144-086c85aaeea0\scratch-2026-09-22-98642c\icons\inf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40" y="4959888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25296" y="4800600"/>
            <a:ext cx="102348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seção traz o período usado no filtro no topo e uma linha de TOTAL ao final, somando as colunas em R$ (percentuais e preços unitários não são somados).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EM CARTEIRA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 da carteira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as operações de compra por ativo (preço médio, quantidade total), em vez de lote por lote. Organizada em três abas: Compradas, Reservadas e Reservadas pelo Robô.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24942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7" name="Image 0" descr="C:\Users\PC ANTONIO\AppData\Roaming\Claude\scratch-workspaces\f0f5d1bc-bf72-4611-a8ea-e50e459a0a45\08c0c592-3fff-44bf-a144-086c85aaeea0\scratch-2026-09-22-98642c\icons\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6829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219456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Compradas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83464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ativo: dias em carteira, lucro/perda, quantidade, preço médio, valor investido/atual, metas e tendência. Selos 🎯 Meta atingida e 🤖 Robô destacam linhas especiais. A coluna Ação permite vender, alterar ou excluir sem sair da tela.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8728" y="201168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34760" y="224942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2" name="Image 1" descr="C:\Users\PC ANTONIO\AppData\Roaming\Claude\scratch-workspaces\f0f5d1bc-bf72-4611-a8ea-e50e459a0a45\08c0c592-3fff-44bf-a144-086c85aaeea0\scratch-2026-09-22-98642c\icons\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23682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6552" y="219456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Reservadas e Reservadas pelo Robô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4760" y="283464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 ativo, preço pretendido, cotação atual, variação desde a reserva e tendência. A aba do robô reúne reservas automáticas; quando o preço cai o suficiente, aparece o selo 📉 Baixa atingida — comprar.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04672" y="403250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7" name="Image 2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05" y="4113337"/>
            <a:ext cx="149230" cy="1492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97764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compra x valor atual (histórico) e carteira x mercado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4672" y="4471416"/>
            <a:ext cx="1058235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por ativo comparando valor pago x valor atual ao longo do tempo, além do mesmo comparativo de retorno da carteira frente ao Ibovespa e ao CDI disponível no Painel.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516636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EAF0FB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31520" y="5298948"/>
            <a:ext cx="329184" cy="329184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2" name="Image 3" descr="C:\Users\PC ANTONIO\AppData\Roaming\Claude\scratch-workspaces\f0f5d1bc-bf72-4611-a8ea-e50e459a0a45\08c0c592-3fff-44bf-a144-086c85aaeea0\scratch-2026-09-22-98642c\icons\inf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40" y="5371368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25296" y="5257800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"🔎 Scanner Técnico", no topo desta tela, leva à análise técnica combinada de cada ativo comprado.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06.4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por setor e indicadores de risco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pi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45920"/>
            <a:ext cx="9987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por setor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10582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o valor atual das posições compradas por setor da empresa e mostra o percentual de cada setor sobre o total da carteira, com barra visual. Setores acima de 40% aparecem com o selo ⚠ concentrado — útil porque o limite de ativos diferentes não enxerga diversificação dentro do mesmo setor.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risco por posição e por carteira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1" name="Image 1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356689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438144"/>
            <a:ext cx="474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anualizada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78992" y="3694176"/>
            <a:ext cx="474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nos últimos 30 pregões, por ativo comprado.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70168" y="34747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5" name="Image 2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339" y="356689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0520" y="3438144"/>
            <a:ext cx="474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drawdown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900520" y="3694176"/>
            <a:ext cx="474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do topo ao fundo nos últimos 30 pregões.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9" name="Image 3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4527012"/>
            <a:ext cx="199705" cy="19970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4398264"/>
            <a:ext cx="474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da carteira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078992" y="4654296"/>
            <a:ext cx="474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cada posição sobre o total investido.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370168" y="443484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3" name="Image 4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339" y="4527012"/>
            <a:ext cx="199705" cy="19970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0520" y="4398264"/>
            <a:ext cx="474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Herfindahl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900520" y="4654296"/>
            <a:ext cx="474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carteira inteira — quanto mais perto de 1, mais concentrada em uma posição.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557784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FDECEE"/>
          </a:solidFill>
          <a:ln/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731520" y="5710428"/>
            <a:ext cx="329184" cy="329184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28" name="Image 5" descr="C:\Users\PC ANTONIO\AppData\Roaming\Claude\scratch-workspaces\f0f5d1bc-bf72-4611-a8ea-e50e459a0a45\08c0c592-3fff-44bf-a144-086c85aaeea0\scratch-2026-09-22-98642c\icons\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0" y="5782848"/>
            <a:ext cx="184343" cy="18434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25296" y="5669280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destaca em vermelho quando um único ativo já responde por 40% ou mais da carteira.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CONSULTOR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robô consultor decide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automático de análise técnica que roda a cada atualização de cotações. Não executa nenhuma ordem real — apenas gera alertas e, em caso de sinal de compra, registra uma reserva automática.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24942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7" name="Image 0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6829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2194560"/>
            <a:ext cx="2408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834640"/>
            <a:ext cx="30031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 média móvel de curto prazo com a de longo prazo.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8218" y="20116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4250" y="224942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2" name="Image 1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23682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6042" y="2194560"/>
            <a:ext cx="2408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(IFR)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94250" y="2834640"/>
            <a:ext cx="30031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se o ativo está sobrecomprado ou sobrevendido.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27797" y="20116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83829" y="224942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7" name="Image 2" descr="C:\Users\PC ANTONIO\AppData\Roaming\Claude\scratch-workspaces\f0f5d1bc-bf72-4611-a8ea-e50e459a0a45\08c0c592-3fff-44bf-a144-086c85aaeea0\scratch-2026-09-22-98642c\icons\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01" y="236829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5621" y="2194560"/>
            <a:ext cx="2408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83829" y="2834640"/>
            <a:ext cx="30031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força e a direção do movimento recente do preço.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"sinal geral" soma votos de compra x votos de venda entre os três indicadores, visível na tela Análise de Mercado.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804672" y="426110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3" name="Image 3" descr="C:\Users\PC ANTONIO\AppData\Roaming\Claude\scratch-workspaces\f0f5d1bc-bf72-4611-a8ea-e50e459a0a45\08c0c592-3fff-44bf-a144-086c85aaeea0\scratch-2026-09-22-98642c\icons\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7997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26464" y="420624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"já comprado"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04672" y="4846320"/>
            <a:ext cx="48522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robô identificar sinal de compra para um ativo que o usuário já possui (saldo &gt; 0), não gera novo alerta nem reserva para ele — evita sugerir comprar mais do que já se tem. Sinais de venda continuam avaliados normalmente.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78728" y="4023360"/>
            <a:ext cx="5364328" cy="1691640"/>
          </a:xfrm>
          <a:prstGeom prst="roundRect">
            <a:avLst>
              <a:gd name="adj" fmla="val 486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6534760" y="426110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8" name="Image 4" descr="C:\Users\PC ANTONIO\AppData\Roaming\Claude\scratch-workspaces\f0f5d1bc-bf72-4611-a8ea-e50e459a0a45\08c0c592-3fff-44bf-a144-086c85aaeea0\scratch-2026-09-22-98642c\icons\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32" y="4379976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56552" y="420624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automática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534760" y="4846320"/>
            <a:ext cx="48522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sinal de compra é válido, o robô registra uma reserva no preço da cotação do momento, com observação identificando a origem. Aparece com o selo 🤖 Robô nas telas do sistema. Se já existir reserva para o ativo, não duplica.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07.4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HISTÓRICA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do robô consultor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Simula, dia a dia, os sinais que o robô teria dado no passado (usando o histórico de cotações já salvo) e mede a taxa de acerto: compra acerta quando o preço sobe nos N pregões seguintes; venda acerta quando o preço cai.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4415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43230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7" name="Image 0" descr="C:\Users\PC ANTONIO\AppData\Roaming\Claude\scratch-workspaces\f0f5d1bc-bf72-4611-a8ea-e50e459a0a45\08c0c592-3fff-44bf-a144-086c85aaeea0\scratch-2026-09-22-98642c\icons\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05" y="2513137"/>
            <a:ext cx="149230" cy="149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37744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conferência configurável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871216"/>
            <a:ext cx="105823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pregões de conferência (padrão ajustável na própria tela, de 1 a 60) é definido no campo "Conferir o resultado quantos pregões depois do sinal?".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resultado mostra, por ativo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2" name="Image 1" descr="C:\Users\PC ANTONIO\AppData\Roaming\Claude\scratch-workspaces\f0f5d1bc-bf72-4611-a8ea-e50e459a0a45\08c0c592-3fff-44bf-a144-086c85aaeea0\scratch-2026-09-22-98642c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37" y="4183197"/>
            <a:ext cx="174102" cy="174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40873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sinais simulados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70168" y="4114800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5" name="Image 2" descr="C:\Users\PC ANTONIO\AppData\Roaming\Claude\scratch-workspaces\f0f5d1bc-bf72-4611-a8ea-e50e459a0a45\08c0c592-3fff-44bf-a144-086c85aaeea0\scratch-2026-09-22-98642c\icons\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565" y="4183197"/>
            <a:ext cx="174102" cy="174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7368" y="40873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acerto geral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800600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8" name="Image 3" descr="C:\Users\PC ANTONIO\AppData\Roaming\Claude\scratch-workspaces\f0f5d1bc-bf72-4611-a8ea-e50e459a0a45\08c0c592-3fff-44bf-a144-086c85aaeea0\scratch-2026-09-22-98642c\icons\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7" y="4868997"/>
            <a:ext cx="174102" cy="1741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47731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 e retorno médio por tipo (compra / venda)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70168" y="4800600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1" name="Image 4" descr="C:\Users\PC ANTONIO\AppData\Roaming\Claude\scratch-workspaces\f0f5d1bc-bf72-4611-a8ea-e50e459a0a45\08c0c592-3fff-44bf-a144-086c85aaeea0\scratch-2026-09-22-98642c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565" y="4868997"/>
            <a:ext cx="174102" cy="1741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27368" y="47731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detalhada: data, preço, retorno e acerto/erro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E"/>
          </a:solidFill>
          <a:ln/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731520" y="5756148"/>
            <a:ext cx="329184" cy="329184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25" name="Image 5" descr="C:\Users\PC ANTONIO\AppData\Roaming\Claude\scratch-workspaces\f0f5d1bc-bf72-4611-a8ea-e50e459a0a45\08c0c592-3fff-44bf-a144-086c85aaeea0\scratch-2026-09-22-98642c\icons\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0" y="5828568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25296" y="5669280"/>
            <a:ext cx="102348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backtesting é uma estatística sobre o passado, calculada com o histórico disponível — não garante desempenho futuro nem constitui recomendação de investimento.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09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&amp; SINCRONIZAÇÃO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 e atualizações manuais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4328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altas e baixas do dia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as 10 maiores altas e as 10 maiores baixas do dia entre todas as ações da B3, via API de cotações.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463040"/>
            <a:ext cx="5364328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4760" y="170078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1" name="Image 1" descr="C:\Users\PC ANTONIO\AppData\Roaming\Claude\scratch-workspaces\f0f5d1bc-bf72-4611-a8ea-e50e459a0a45\08c0c592-3fff-44bf-a144-086c85aaeea0\scratch-2026-09-22-98642c\icons\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18196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6552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técnicos acompanhados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4760" y="2286000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tendência, RSI, MACD e sinal geral (votos de compra/venda) de cada ativo do usuário — mesma lógica do robô consultor, para consulta manual. Exportável em Excel/PDF.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3566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de atualização manual disponíveis pelo sistema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2602154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666837" y="4096512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7" name="Image 2" descr="C:\Users\PC ANTONIO\AppData\Roaming\Claude\scratch-workspaces\f0f5d1bc-bf72-4611-a8ea-e50e459a0a45\08c0c592-3fff-44bf-a144-086c85aaeea0\scratch-2026-09-22-98642c\icons\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04" y="4176979"/>
            <a:ext cx="204826" cy="204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" y="4553712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agora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58368" y="4846320"/>
            <a:ext cx="2382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 cotação mais recente e dispara metas + robô. Só ativo em horário de pregão.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3379394" y="3931920"/>
            <a:ext cx="2602154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4497591" y="4096512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2" name="Image 3" descr="C:\Users\PC ANTONIO\AppData\Roaming\Claude\scratch-workspaces\f0f5d1bc-bf72-4611-a8ea-e50e459a0a45\08c0c592-3fff-44bf-a144-086c85aaeea0\scratch-2026-09-22-98642c\icons\pie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58" y="4176979"/>
            <a:ext cx="204826" cy="204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70834" y="4553712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489122" y="4846320"/>
            <a:ext cx="2382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Ibovespa / CDI — busca até 3 meses de histórico de uma vez.</a:t>
            </a:r>
            <a:endParaRPr lang="en-US" sz="860" dirty="0"/>
          </a:p>
        </p:txBody>
      </p:sp>
      <p:sp>
        <p:nvSpPr>
          <p:cNvPr id="25" name="Shape 19"/>
          <p:cNvSpPr/>
          <p:nvPr/>
        </p:nvSpPr>
        <p:spPr>
          <a:xfrm>
            <a:off x="6210148" y="3931920"/>
            <a:ext cx="2602154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7328345" y="4096512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7" name="Image 4" descr="C:\Users\PC ANTONIO\AppData\Roaming\Claude\scratch-workspaces\f0f5d1bc-bf72-4611-a8ea-e50e459a0a45\08c0c592-3fff-44bf-a144-086c85aaeea0\scratch-2026-09-22-98642c\icons\new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812" y="4176979"/>
            <a:ext cx="204826" cy="2048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01588" y="4553712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agora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319876" y="4846320"/>
            <a:ext cx="2382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todas as fontes ativas em busca de manchetes novas.</a:t>
            </a:r>
            <a:endParaRPr lang="en-US" sz="860" dirty="0"/>
          </a:p>
        </p:txBody>
      </p:sp>
      <p:sp>
        <p:nvSpPr>
          <p:cNvPr id="30" name="Shape 23"/>
          <p:cNvSpPr/>
          <p:nvPr/>
        </p:nvSpPr>
        <p:spPr>
          <a:xfrm>
            <a:off x="9040901" y="3931920"/>
            <a:ext cx="2602154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10159098" y="4096512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32" name="Image 5" descr="C:\Users\PC ANTONIO\AppData\Roaming\Claude\scratch-workspaces\f0f5d1bc-bf72-4611-a8ea-e50e459a0a45\08c0c592-3fff-44bf-a144-086c85aaeea0\scratch-2026-09-22-98642c\icons\buil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566" y="4176979"/>
            <a:ext cx="204826" cy="2048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32341" y="4553712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Ações B3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9150629" y="4846320"/>
            <a:ext cx="23826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Reconstrói o catálogo completo a partir da API.</a:t>
            </a:r>
            <a:endParaRPr lang="en-US" sz="86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TÉCNICO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técnico — leitura combinada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Combina, num só painel por ativo, seis indicadores técnicos de cada ação realmente comprada. Acessível pelo Menu ou por um botão na tela Posições em Carteira.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734769" cy="96012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1874520"/>
            <a:ext cx="15884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 (RSI)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0569" y="1874520"/>
            <a:ext cx="1734769" cy="960120"/>
          </a:xfrm>
          <a:prstGeom prst="roundRect">
            <a:avLst>
              <a:gd name="adj" fmla="val 6667"/>
            </a:avLst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93721" y="1874520"/>
            <a:ext cx="15884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móveis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2498" y="1874520"/>
            <a:ext cx="1734769" cy="96012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65650" y="1874520"/>
            <a:ext cx="15884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4428" y="1874520"/>
            <a:ext cx="1734769" cy="960120"/>
          </a:xfrm>
          <a:prstGeom prst="roundRect">
            <a:avLst>
              <a:gd name="adj" fmla="val 6667"/>
            </a:avLst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37580" y="1874520"/>
            <a:ext cx="15884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36357" y="1874520"/>
            <a:ext cx="1734769" cy="96012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09509" y="1874520"/>
            <a:ext cx="15884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08286" y="1874520"/>
            <a:ext cx="1734769" cy="960120"/>
          </a:xfrm>
          <a:prstGeom prst="roundRect">
            <a:avLst>
              <a:gd name="adj" fmla="val 6667"/>
            </a:avLst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981438" y="1874520"/>
            <a:ext cx="15884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veredito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54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Predomínio de 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os indicadores que apontaram direção concordam em alta.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Predomínio de baixa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os indicadores que apontaram direção concordam em baixa.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conflitantes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menos um aponta alta e outro aponta baixa ao mesmo tempo.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 / aguardando histórico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direção clara, ou cotações insuficientes ainda.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48640" y="56235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AF0FB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31520" y="5779008"/>
            <a:ext cx="329184" cy="329184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1" name="Image 0" descr="C:\Users\PC ANTONIO\AppData\Roaming\Claude\scratch-workspaces\f0f5d1bc-bf72-4611-a8ea-e50e459a0a45\08c0c592-3fff-44bf-a144-086c85aaeea0\scratch-2026-09-22-98642c\icons\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40" y="5851428"/>
            <a:ext cx="184343" cy="18434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25296" y="5715000"/>
            <a:ext cx="10234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robô consultor (que sempre escolhe um lado por votação), o Scanner mostra explicitamente quando o mercado está indeciso, em vez de forçar uma previsão.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11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&amp; COTAÇÕES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Histórico, gráficos e detalhes de cotações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gráficos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linha com a evolução do preço de fechamento de cada ativo comprado, mais tabela com data, fechamento e variação do dia. Ativos reservados aparecem à parte, com gráfico desde a data da reserva.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78728" y="146304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4760" y="170078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1" name="Image 1" descr="C:\Users\PC ANTONIO\AppData\Roaming\Claude\scratch-workspaces\f0f5d1bc-bf72-4611-a8ea-e50e459a0a45\08c0c592-3fff-44bf-a144-086c85aaeea0\scratch-2026-09-22-98642c\icons\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18196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6552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de cotações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4760" y="228600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cartão por ativo com preço atual, variação do dia, máxima/mínima, abertura, fechamento anterior, volume, valor de mercado e faixa de 52 semanas.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04672" y="348386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6" name="Image 2" descr="C:\Users\PC ANTONIO\AppData\Roaming\Claude\scratch-workspaces\f0f5d1bc-bf72-4611-a8ea-e50e459a0a45\08c0c592-3fff-44bf-a144-086c85aaeea0\scratch-2026-09-22-98642c\icons\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05" y="3564697"/>
            <a:ext cx="149230" cy="1492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429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avulsa e preço alvo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4672" y="392277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consultar qualquer ticker, mesmo fora da carteira, direto da API. O campo "Preço alvo" calcula na hora o lucro/perda se o ativo fosse vendido naquele preço.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78728" y="324612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34760" y="348386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1" name="Image 3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593" y="3564697"/>
            <a:ext cx="149230" cy="1492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0248" y="3429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IFR (RSI)?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34760" y="392277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explicativo com fórmula, régua visual de 0 a 100, significado de cada faixa e explicação sobre divergências entre preço e IFR.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confirmação de sinais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6" name="Image 4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167092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78992" y="503834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alta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78992" y="5294376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 &lt; 35, preço acima da média de 21 dias, volume acima da média, MACD positivo, tendência de curto prazo positiva.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78728" y="5074920"/>
            <a:ext cx="384048" cy="384048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30" name="Image 5" descr="C:\Users\PC ANTONIO\AppData\Roaming\Claude\scratch-workspaces\f0f5d1bc-bf72-4611-a8ea-e50e459a0a45\08c0c592-3fff-44bf-a144-086c85aaeea0\scratch-2026-09-22-98642c\icons\trendDow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899" y="5167092"/>
            <a:ext cx="199705" cy="19970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09080" y="503834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baixa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809080" y="5294376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 &gt; 65, preço abaixo da média de 21 dias, volume aumentando na queda, MACD negativo, tendência de curto prazo negativa.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· 11.7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COTAÇÕES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cotações e gráfico compra x alvo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 cada atualização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Ativo, data, hora e valor de cada ativo em carteira, gravados pela rotina automática (Automática) e pelo botão ou consulta avulsa (Manual).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78728" y="146304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4760" y="170078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1" name="Image 1" descr="C:\Users\PC ANTONIO\AppData\Roaming\Claude\scratch-workspaces\f0f5d1bc-bf72-4611-a8ea-e50e459a0a45\08c0c592-3fff-44bf-a144-086c85aaeea0\scratch-2026-09-22-98642c\icons\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18196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6552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em Detalhes de Cotações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4760" y="228600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"Registros de cotações", ao lado de "Pesquisar cotação": registros do ticker digitado ou de todos os ativos, do mais recente ao mais antigo.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04672" y="348386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6" name="Image 2" descr="C:\Users\PC ANTONIO\AppData\Roaming\Claude\scratch-workspaces\f0f5d1bc-bf72-4611-a8ea-e50e459a0a45\08c0c592-3fff-44bf-a144-086c85aaeea0\scratch-2026-09-22-98642c\icons\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05" y="3564697"/>
            <a:ext cx="149230" cy="1492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429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compra x alvo em popup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4672" y="392277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gráfico ao lado do ticker: linha das cotações registradas com o preço de compra (azul) e o alvo (laranja) como referências.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78728" y="324612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34760" y="348386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1" name="Image 3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593" y="3564697"/>
            <a:ext cx="149230" cy="1492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0248" y="3429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após a venda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34760" y="392277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vender, o sistema pergunta se exclui os registros do ativo: Sim apaga todos, Não mantém.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o botão de gráfico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6" name="Image 4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167092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78992" y="503834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em Carteira e Painel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78992" y="5294376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lado do ticker na tabela de compradas; compra = preço médio da posição, alvo = meta de lucro.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78728" y="5074920"/>
            <a:ext cx="384048" cy="384048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30" name="Image 5" descr="C:\Users\PC ANTONIO\AppData\Roaming\Claude\scratch-workspaces\f0f5d1bc-bf72-4611-a8ea-e50e459a0a45\08c0c592-3fff-44bf-a144-086c85aaeea0\scratch-2026-09-22-98642c\icons\trendDow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899" y="5167092"/>
            <a:ext cx="199705" cy="19970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09080" y="503834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 Operações › Em carteira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809080" y="5294376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lado do ticker de cada lote com saldo; usa o preço de compra e o alvo (meta de lucro) daquele lote, e não o preço médio da posição.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14 · 15 · 16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&amp; NOTIFICAÇÕES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Notícias, TradingView, alertas e WhatsApp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65506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7393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0020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do mercado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240280"/>
            <a:ext cx="485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cadastradas pelo próprio usuário, compartilhadas entre todos como um mural comum. Cada fonte pode ser ativada, desativada ou excluída; manchetes novas ganham o selo "Nova".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78728" y="141732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4760" y="165506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1" name="Image 1" descr="C:\Users\PC ANTONIO\AppData\Roaming\Claude\scratch-workspaces\f0f5d1bc-bf72-4611-a8ea-e50e459a0a45\08c0c592-3fff-44bf-a144-086c85aaeea0\scratch-2026-09-22-98642c\icons\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177393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6552" y="160020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embutido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34760" y="2240280"/>
            <a:ext cx="485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avançado oficial, com busca de qualquer ativo, indicadores e ferramentas de desenho. Um campo permite abrir qualquer URL do site em nova aba (bloqueio de segurança do próprio TradingView).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alerta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5121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é gerado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Lucro / Perda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posição comprada atinge a meta (%) configurada.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Tendência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Mudança relevante na tendência (média móvel) de um ativo.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de compra / venda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robô consultor identifica um sinal técnico (RSI + MACD + tendência).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72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804672" y="490118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8" name="Image 2" descr="C:\Users\PC ANTONIO\AppData\Roaming\Claude\scratch-workspaces\f0f5d1bc-bf72-4611-a8ea-e50e459a0a45\08c0c592-3fff-44bf-a144-086c85aaeea0\scratch-2026-09-22-98642c\icons\whatsap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05" y="4982017"/>
            <a:ext cx="149230" cy="1492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84632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04672" y="5340096"/>
            <a:ext cx="105823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flutuante leva direto à conversa com o contato oficial. Quando configurado no servidor, o sistema também pode enviar proativamente os mesmos avisos de meta e sinal do robô por WhatsApp.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CORRENTE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corrente — o caixa das operações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o saldo inicial informado manualmente, debita automaticamente a cada compra e credita automaticamente a cada venda, além de aceitar transferências manuais de e para outras contas (ex.: Nubank, a própria corretora).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0848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inicial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no formulário, editável a qualquer momento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78728" y="20116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61608" y="20848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atual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1608" y="2450592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+ créditos − débitos, incl. transferências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339242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3" name="Image 0" descr="C:\Users\PC ANTONIO\AppData\Roaming\Claude\scratch-workspaces\f0f5d1bc-bf72-4611-a8ea-e50e459a0a45\08c0c592-3fff-44bf-a144-086c85aaeea0\scratch-2026-09-22-98642c\icons\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05" y="3473257"/>
            <a:ext cx="149230" cy="1492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333756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e crédito automáticos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4672" y="3831336"/>
            <a:ext cx="1058235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compra gera um débito automático ("Compra de Nx TICKER"); toda venda gera um crédito automático líquido ("Venda de Nx TICKER"). Editar uma operação atualiza o lançamento; excluir a operação de origem exclui o lançamento junto.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52628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04672" y="47640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8" name="Image 1" descr="C:\Users\PC ANTONIO\AppData\Roaming\Claude\scratch-workspaces\f0f5d1bc-bf72-4611-a8ea-e50e459a0a45\08c0c592-3fff-44bf-a144-086c85aaeea0\scratch-2026-09-22-98642c\icons\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5" y="4844857"/>
            <a:ext cx="149230" cy="14923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470916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manuais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04672" y="520293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Crédito (entrada) ou Débito (saída) não ligado a compra/venda — ex.: depósito de outro banco ou saque para outra conta.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78728" y="452628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6534760" y="476402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3" name="Image 2" descr="C:\Users\PC ANTONIO\AppData\Roaming\Claude\scratch-workspaces\f0f5d1bc-bf72-4611-a8ea-e50e459a0a45\08c0c592-3fff-44bf-a144-086c85aaeea0\scratch-2026-09-22-98642c\icons\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593" y="4844857"/>
            <a:ext cx="149230" cy="1492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10248" y="470916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e exportação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534760" y="520293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os lançamentos com saldo acumulado por linha. Filtro por período (padrão: mês corrente) e exportação em Excel/PDF.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CRIPTOMOEDAS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Criptomoedas — carteira própria, 24 horas por 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completamente separado das ações da B3: não entra em Posições em Carteira, no robô consultor, no Scanner Técnico nem na comparação com Ibovespa/CDI. Como cripto negocia todos os dias, sem horário de pregão, cada carteira mantém sua própria lógica e seus próprios números.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0848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Criptomoedas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Cotações, carteira e reservas em uma tela própria, acessível pelo Menu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78728" y="2011680"/>
            <a:ext cx="5364328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61608" y="20848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Cripto agora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1608" y="2450592"/>
            <a:ext cx="499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as cotações mais recentes e grava um novo registro, sem depender do horário de pregão da B3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94415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339242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3" name="Image 0" descr="C:\Users\PC ANTONIO\AppData\Roaming\Claude\scratch-workspaces\f0f5d1bc-bf72-4611-a8ea-e50e459a0a45\08c0c592-3fff-44bf-a144-086c85aaeea0\scratch-2026-09-22-98642c\icons\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05" y="3473257"/>
            <a:ext cx="149230" cy="1492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333756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operações de cripto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4672" y="3831336"/>
            <a:ext cx="1058235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Compra, venda e reserva com até 8 casas decimais de precisão e metas de lucro e perda — os mesmos recursos de editar, excluir e vender um lote parcial das ações.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52628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04672" y="47640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8" name="Image 1" descr="C:\Users\PC ANTONIO\AppData\Roaming\Claude\scratch-workspaces\f0f5d1bc-bf72-4611-a8ea-e50e459a0a45\08c0c592-3fff-44bf-a144-086c85aaeea0\scratch-2026-09-22-98642c\icons\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5" y="4844857"/>
            <a:ext cx="149230" cy="14923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470916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de hoje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04672" y="520293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com o lucro/perda consolidado da carteira de cripto a cada atualização registrada no dia.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78728" y="452628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6534760" y="476402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23" name="Image 2" descr="C:\Users\PC ANTONIO\AppData\Roaming\Claude\scratch-workspaces\f0f5d1bc-bf72-4611-a8ea-e50e459a0a45\08c0c592-3fff-44bf-a144-086c85aaeea0\scratch-2026-09-22-98642c\icons\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593" y="4844857"/>
            <a:ext cx="149230" cy="1492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10248" y="470916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Corrente e relatórios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534760" y="520293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e vendas lançadas automaticamente no mesmo caixa das ações, com exportação em Excel e PDF.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</a:t>
            </a:r>
            <a:pPr indent="0" marL="0">
              <a:buNone/>
            </a:pPr>
            <a:r>
              <a:rPr lang="en-US" sz="1250" b="1" spc="2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que afetam o uso diário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Ajustadas pelo administrador do sistema (arquivo de configuração do servidor) e mudam diretamente o comportamento das telas descritas neste manual.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6815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controla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MAX_ATIVOS_EM_CARTEIRA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Quantos tickers diferentes cada usuário pode ter comprados ao mesmo tempo (padrão: 10).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META_LUCRO_PADRAO / META_PERDA_PADRAO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 (%) usadas quando uma operação não define meta própria.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B3_HORARIO_ABERTURA / FECHAMENTO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Horário de negociação da B3, usado no badge de mercado e no botão de atualizar cotações.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TRADINGVIEW_URL_PESQUISA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pré-preenchida para abrir páginas do TradingView em nova aba.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WHATSAPP_NUMERO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contato usado pelo ícone flutuante de WhatsApp.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COTACOES / NOTICIAS _INTERVALO_MINUTOS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04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Intervalo das rotinas automáticas do servidor (não afeta os botões manuais).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EAF0FB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31520" y="5756148"/>
            <a:ext cx="329184" cy="329184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8" name="Image 0" descr="C:\Users\PC ANTONIO\AppData\Roaming\Claude\scratch-workspaces\f0f5d1bc-bf72-4611-a8ea-e50e459a0a45\08c0c592-3fff-44bf-a144-086c85aaeea0\scratch-2026-09-22-98642c\icons\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40" y="5828568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5296" y="5715000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o responsável técnico da sua instalação para alterar qualquer uma dessas configurações.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</a:t>
            </a:r>
            <a:pPr indent="0" marL="0">
              <a:buNone/>
            </a:pPr>
            <a:r>
              <a:rPr lang="en-US" sz="1250" b="1" spc="200" kern="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RESPONSÁVEL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legais e uso responsável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7362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572768"/>
            <a:ext cx="102531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BolsaTrader é uma ferramenta de organização e acompanhamento pessoal de carteira. Nenhum indicador, alerta, sinal do robô consultor ou resultado de backtesting constitui recomendação de investimento, consultoria financeira ou promessa de rentabilidade.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515258" cy="2606040"/>
          </a:xfrm>
          <a:prstGeom prst="roundRect">
            <a:avLst>
              <a:gd name="adj" fmla="val 3158"/>
            </a:avLst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77240" y="3246120"/>
            <a:ext cx="420624" cy="420624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0" name="Image 1" descr="C:\Users\PC ANTONIO\AppData\Roaming\Claude\scratch-workspaces\f0f5d1bc-bf72-4611-a8ea-e50e459a0a45\08c0c592-3fff-44bf-a144-086c85aaeea0\scratch-2026-09-22-98642c\icons\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334707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794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mercado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4178808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vêm de APIs externas e podem sofrer atraso, indisponibilidade ou imprecisão pontual.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4338218" y="3017520"/>
            <a:ext cx="3515258" cy="2606040"/>
          </a:xfrm>
          <a:prstGeom prst="roundRect">
            <a:avLst>
              <a:gd name="adj" fmla="val 3158"/>
            </a:avLst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566818" y="3246120"/>
            <a:ext cx="420624" cy="420624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5" name="Image 2" descr="C:\Users\PC ANTONIO\AppData\Roaming\Claude\scratch-workspaces\f0f5d1bc-bf72-4611-a8ea-e50e459a0a45\08c0c592-3fff-44bf-a144-086c85aaeea0\scratch-2026-09-22-98642c\icons\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68" y="334707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66818" y="3794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do usuário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66818" y="4178808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decisões de compra e venda de ativos são de exclusiva responsabilidade do usuário.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8127797" y="3017520"/>
            <a:ext cx="3515258" cy="2606040"/>
          </a:xfrm>
          <a:prstGeom prst="roundRect">
            <a:avLst>
              <a:gd name="adj" fmla="val 3158"/>
            </a:avLst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356397" y="3246120"/>
            <a:ext cx="420624" cy="420624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0" name="Image 3" descr="C:\Users\PC ANTONIO\AppData\Roaming\Claude\scratch-workspaces\f0f5d1bc-bf72-4611-a8ea-e50e459a0a45\08c0c592-3fff-44bf-a144-086c85aaeea0\scratch-2026-09-22-98642c\icons\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347" y="3347070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56397" y="3794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manual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356397" y="4178808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reflete as funcionalidades na data de emissão indicada na capa; novas funcionalidades podem não estar ainda refletidas.</a:t>
            </a:r>
            <a:endParaRPr lang="en-US" sz="103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264D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5" name="Image 0" descr="C:\Users\PC ANTONIO\AppData\Roaming\Claude\scratch-workspaces\f0f5d1bc-bf72-4611-a8ea-e50e459a0a45\08c0c592-3fff-44bf-a144-086c85aaeea0\scratch-2026-09-22-98642c\icons\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22219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255368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adicionais? Consulte a seção 20 — Perguntas Frequentes e Solução de Problemas do manual completo.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Manual_Operacional_BolsaTrader.docx  ·  Versão 10/2026 (rev. 10/10/2026)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 COMANDO DE VOZ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de voz em português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6" name="Image 0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🎤 no cabeçalho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🎤 (ou Ctrl+Espaço) e fale um comando. O botão pulsa em vermelho enquanto escuta e um balão mostra o que foi entendido.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78728" y="146304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4760" y="1700784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11" name="Image 1" descr="C:\Users\PC ANTONIO\AppData\Roaming\Claude\scratch-workspaces\f0f5d1bc-bf72-4611-a8ea-e50e459a0a45\08c0c592-3fff-44bf-a144-086c85aaeea0\scratch-2026-09-22-98642c\icons\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32" y="18196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6552" y="1645920"/>
            <a:ext cx="425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falando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4760" y="2286000"/>
            <a:ext cx="485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"posições", "operações", "nova operação", "alertas", "notícias", "conta corrente", "cripto", "scanner", "menu", "voltar"...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04672" y="3483864"/>
            <a:ext cx="310896" cy="310896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p/>
        </p:txBody>
      </p:sp>
      <p:pic>
        <p:nvPicPr>
          <p:cNvPr id="16" name="Image 2" descr="C:\Users\PC ANTONIO\AppData\Roaming\Claude\scratch-workspaces\f0f5d1bc-bf72-4611-a8ea-e50e459a0a45\08c0c592-3fff-44bf-a144-086c85aaeea0\scratch-2026-09-22-98642c\icons\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05" y="3564697"/>
            <a:ext cx="149230" cy="1492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429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4672" y="392277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"atualizar cotações", "atualizar cripto" e "atualizar notícias" — o mesmo efeito dos botões.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78728" y="3246120"/>
            <a:ext cx="5364328" cy="1280160"/>
          </a:xfrm>
          <a:prstGeom prst="roundRect">
            <a:avLst>
              <a:gd name="adj" fmla="val 64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34760" y="348386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1" name="Image 3" descr="C:\Users\PC ANTONIO\AppData\Roaming\Claude\scratch-workspaces\f0f5d1bc-bf72-4611-a8ea-e50e459a0a45\08c0c592-3fff-44bf-a144-086c85aaeea0\scratch-2026-09-22-98642c\icons\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593" y="3564697"/>
            <a:ext cx="149230" cy="1492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0248" y="342900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uma cotação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34760" y="3922776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"cotação de PETR4" ou "preço do BOVA 11" abrem Detalhes de Cotações já pesquisando o ticker.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e requisitos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  <p:txBody>
          <a:bodyPr/>
          <a:p/>
        </p:txBody>
      </p:sp>
      <p:pic>
        <p:nvPicPr>
          <p:cNvPr id="26" name="Image 4" descr="C:\Users\PC ANTONIO\AppData\Roaming\Claude\scratch-workspaces\f0f5d1bc-bf72-4611-a8ea-e50e459a0a45\08c0c592-3fff-44bf-a144-086c85aaeea0\scratch-2026-09-22-98642c\icons\trend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167092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78992" y="503834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"ajuda"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78992" y="5294376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balão lista os comandos disponíveis. Se a frase não for reconhecida, o sistema avisa e nada é executado.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78728" y="5074920"/>
            <a:ext cx="384048" cy="384048"/>
          </a:xfrm>
          <a:prstGeom prst="ellipse">
            <a:avLst/>
          </a:prstGeom>
          <a:solidFill>
            <a:srgbClr val="E1495A"/>
          </a:solidFill>
          <a:ln/>
        </p:spPr>
        <p:txBody>
          <a:bodyPr/>
          <a:p/>
        </p:txBody>
      </p:sp>
      <p:pic>
        <p:nvPicPr>
          <p:cNvPr id="30" name="Image 5" descr="C:\Users\PC ANTONIO\AppData\Roaming\Claude\scratch-workspaces\f0f5d1bc-bf72-4611-a8ea-e50e459a0a45\08c0c592-3fff-44bf-a144-086c85aaeea0\scratch-2026-09-22-98642c\icons\trendDow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899" y="5167092"/>
            <a:ext cx="199705" cy="19970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09080" y="5038344"/>
            <a:ext cx="483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ou Edge, com microfone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809080" y="5294376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o microfone na 1ª vez; fora do computador local o site precisa estar em HTTPS. No Firefox o botão não aparece.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BolsaTrader  ·  Manual Operacional do Sistema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BolsaTrader — Manual Operacional do Sistema</dc:title>
  <dc:subject>PptxGenJS Presentation</dc:subject>
  <dc:creator>BolsaTrader</dc:creator>
  <cp:lastModifiedBy>BolsaTrader</cp:lastModifiedBy>
  <cp:revision>1</cp:revision>
  <dcterms:created xsi:type="dcterms:W3CDTF">2026-09-22T15:41:23Z</dcterms:created>
  <dcterms:modified xsi:type="dcterms:W3CDTF">2026-09-22T15:41:23Z</dcterms:modified>
</cp:coreProperties>
</file>
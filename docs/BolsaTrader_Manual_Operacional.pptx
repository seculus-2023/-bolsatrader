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2.png"/><Relationship Id="rId4" Type="http://schemas.openxmlformats.org/officeDocument/2006/relationships/image" Target="../media/image-14-2.png"/><Relationship Id="rId5" Type="http://schemas.openxmlformats.org/officeDocument/2006/relationships/image" Target="../media/image-14-2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1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16264D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463040"/>
            <a:ext cx="4754880" cy="4754880"/>
          </a:xfrm>
          <a:prstGeom prst="ellipse">
            <a:avLst/>
          </a:prstGeom>
          <a:solidFill>
            <a:srgbClr val="081226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4206240"/>
            <a:ext cx="2926080" cy="2926080"/>
          </a:xfrm>
          <a:prstGeom prst="ellipse">
            <a:avLst/>
          </a:prstGeom>
          <a:solidFill>
            <a:srgbClr val="081226"/>
          </a:solidFill>
          <a:ln/>
        </p:spPr>
      </p:sp>
      <p:sp>
        <p:nvSpPr>
          <p:cNvPr id="5" name="Shape 3"/>
          <p:cNvSpPr/>
          <p:nvPr/>
        </p:nvSpPr>
        <p:spPr>
          <a:xfrm>
            <a:off x="8732520" y="2788920"/>
            <a:ext cx="1234440" cy="123444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416" y="3099816"/>
            <a:ext cx="612648" cy="6126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0848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BOLSATRADER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251460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Operacional do Sistema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48640" y="36118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 de uso de todas as telas e funcionalidades da plataforma de acompanhamento de carteira na B3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48920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do documento  ·  </a:t>
            </a:r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09/2026 (revisão 22/09/2026)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5349240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081226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4944" y="5477256"/>
            <a:ext cx="310896" cy="310896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13" name="Image 1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" y="5539435"/>
            <a:ext cx="186538" cy="1865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33856" y="5349240"/>
            <a:ext cx="5358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educacional — não constitui recomendação de investimento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 </a:t>
            </a:r>
            <a:pPr indent="0" marL="0">
              <a:buNone/>
            </a:pPr>
            <a:r>
              <a:rPr lang="en-US" sz="1250" b="1" spc="200" kern="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percorrer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7335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 do sistema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2258568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 e convenções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8072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2825496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 sistema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337413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97280" y="339242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e menu principal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394106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97280" y="3959352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controle (dashboard)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45079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452628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 (compra/venda)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70168" y="167335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91880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 e risco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70168" y="22402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918808" y="2258568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 e backtesting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70168" y="28072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918808" y="2825496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 e scanner técnico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70168" y="337413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918808" y="339242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cotações e IFR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70168" y="394106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918808" y="3959352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Notícias, TradingView, alertas e WhatsApp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370168" y="45079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918808" y="452628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 e configurações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BolsaTrader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de acompanhamento de compra e venda de ações da B3. Registra operações, calcula lucro/perda automaticamente, acompanha cotações diárias, compara o desempenho da carteira com o mercado e conta com um robô consultor que analisa indicadores técnicos.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56946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wal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68833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5146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operações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3154680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Compras, vendas e reservas de intenção de compra, com cálculo automático de lucro/perda por lote.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2331720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4760" y="256946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268833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56552" y="25146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diárias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534760" y="3154680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automático dos preços dos ativos comprados e reservados, com histórico e gráficos.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4178808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4672" y="4416552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53542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26464" y="4361688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 x mercado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04672" y="5001768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o retorno da carteira com o Ibovespa e o CDI acumulado no mesmo período.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78728" y="4178808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34760" y="4416552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ro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4535424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56552" y="4361688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534760" y="5001768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 tendência, RSI e MACD e sugere sinais de compra/venda, com reserva automática.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48640" y="5870448"/>
            <a:ext cx="11094415" cy="548640"/>
          </a:xfrm>
          <a:prstGeom prst="roundRect">
            <a:avLst>
              <a:gd name="adj" fmla="val 13333"/>
            </a:avLst>
          </a:prstGeom>
          <a:solidFill>
            <a:srgbClr val="FDECEE"/>
          </a:solidFill>
          <a:ln/>
        </p:spPr>
      </p:sp>
      <p:sp>
        <p:nvSpPr>
          <p:cNvPr id="26" name="Shape 20"/>
          <p:cNvSpPr/>
          <p:nvPr/>
        </p:nvSpPr>
        <p:spPr>
          <a:xfrm>
            <a:off x="731520" y="5980176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27" name="Image 4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940" y="6052596"/>
            <a:ext cx="184343" cy="18434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225296" y="5961888"/>
            <a:ext cx="102348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informação, sinal ou indicador do sistema constitui recomendação de investimento. Decisões de compra e venda são de inteira responsabilidade do usuário.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MANUAL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 e convenções do documento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2011680"/>
          </a:xfrm>
          <a:prstGeom prst="roundRect">
            <a:avLst>
              <a:gd name="adj" fmla="val 409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379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9568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78308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é este manual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423160"/>
            <a:ext cx="48522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Investidores pessoa física que usam o BolsaTrader para organizar a própria carteira de ações. Não é necessário conhecimento técnico de programação para acompanhar o conteúdo.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78728" y="1600200"/>
            <a:ext cx="5364328" cy="2011680"/>
          </a:xfrm>
          <a:prstGeom prst="roundRect">
            <a:avLst>
              <a:gd name="adj" fmla="val 409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83794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95681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78308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operacional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534760" y="2423160"/>
            <a:ext cx="48522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manual descreve exclusivamente o uso das telas e funcionalidades no dia a dia. Instalação, configuração de servidor e implantação ficam no manual técnico, à parte.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Convenções usadas neste documento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6" name="Image 2" descr="C:\Users\PC ANTONIO\AppData\Roaming\Claude\scratch-workspaces\f0f5d1bc-bf72-4611-a8ea-e50e459a0a45\08c0c592-3fff-44bf-a144-086c85aaeea0\scratch-2026-09-22-98642c\icons\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4527012"/>
            <a:ext cx="199705" cy="19970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78992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Negrito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078992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o nome exato de um botão, campo ou aba clicável na tela.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368698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0" name="Image 3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870" y="4527012"/>
            <a:ext cx="199705" cy="19970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99050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Caixas sombreadas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4899050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Trazem avisos, observações importantes ou alertas de atenção.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188757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4" name="Image 4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928" y="4527012"/>
            <a:ext cx="199705" cy="199705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719109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Aspas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8719109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Reproduzem o texto exato que aparece na tela do sistema.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PRIMEIROS PASSOS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5" name="Image 0" descr="C:\Users\PC ANTONIO\AppData\Roaming\Claude\scratch-workspaces\f0f5d1bc-bf72-4611-a8ea-e50e459a0a45\08c0c592-3fff-44bf-a144-086c85aaeea0\scratch-2026-09-22-98642c\icons\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2" y="1692372"/>
            <a:ext cx="199705" cy="1997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uma conta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78992" y="181965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tela de login, acesse "Cadastrar Usuário", preencha usuário, e-mail e senha. Cada usuário só enxerga as próprias operações, posições, alertas e reservas.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278728" y="160020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9" name="Image 1" descr="C:\Users\PC ANTONIO\AppData\Roaming\Claude\scratch-workspaces\f0f5d1bc-bf72-4611-a8ea-e50e459a0a45\08c0c592-3fff-44bf-a144-086c85aaeea0\scratch-2026-09-22-98642c\icons\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899" y="1692372"/>
            <a:ext cx="199705" cy="19970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09080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(login)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6809080" y="181965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usuário e senha. Após autenticado, o sistema abre diretamente no Painel de Controle.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48640" y="265176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3" name="Image 2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2743932"/>
            <a:ext cx="199705" cy="19970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78992" y="261518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 Conta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078992" y="287121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na barra de navegação superior — consulta e atualização dos dados cadastrais do usuário logado.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278728" y="265176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3" descr="C:\Users\PC ANTONIO\AppData\Roaming\Claude\scratch-workspaces\f0f5d1bc-bf72-4611-a8ea-e50e459a0a45\08c0c592-3fff-44bf-a144-086c85aaeea0\scratch-2026-09-22-98642c\icons\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0899" y="2743932"/>
            <a:ext cx="199705" cy="19970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09080" y="261518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809080" y="287121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no canto superior direito da barra de navegação, encerra a sessão a qualquer momento.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48640" y="3977640"/>
            <a:ext cx="11094415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2153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2" name="Image 4" descr="C:\Users\PC ANTONIO\AppData\Roaming\Claude\scratch-workspaces\f0f5d1bc-bf72-4611-a8ea-e50e459a0a45\08c0c592-3fff-44bf-a144-086c85aaeea0\scratch-2026-09-22-98642c\icons\smartph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334256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26464" y="4160520"/>
            <a:ext cx="9987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como aplicativo (PWA)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804672" y="4800600"/>
            <a:ext cx="10582351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BolsaTrader pode ser instalado como um app no computador ou celular, sem loja de aplicativos. Quando o navegador permite, aparece o botão "⬇ Instalar app" — clique e confirme para abrir o sistema como um app independente, com ícone próprio.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562356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AF0FB"/>
          </a:solidFill>
          <a:ln/>
        </p:spPr>
      </p:sp>
      <p:sp>
        <p:nvSpPr>
          <p:cNvPr id="26" name="Shape 19"/>
          <p:cNvSpPr/>
          <p:nvPr/>
        </p:nvSpPr>
        <p:spPr>
          <a:xfrm>
            <a:off x="731520" y="580186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7" name="Image 5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874288"/>
            <a:ext cx="184343" cy="18434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25296" y="571500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instalação como app exige que o site esteja em HTTPS (conexão segura). Sem HTTPS configurado, o botão de instalação pode não aparecer — limitação do navegador, não do BolsaTrader.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geral e menu principal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barra superior dá acesso direto às principais telas. A tela "Menu" reúne todas as áreas do sistema em cartões com ícone e descrição: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2002536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053" y="2070933"/>
            <a:ext cx="174102" cy="1741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6656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76656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geral, lucro/perda e alertas.</a:t>
            </a:r>
            <a:endParaRPr lang="en-US" sz="830" dirty="0"/>
          </a:p>
        </p:txBody>
      </p:sp>
      <p:sp>
        <p:nvSpPr>
          <p:cNvPr id="10" name="Shape 7"/>
          <p:cNvSpPr/>
          <p:nvPr/>
        </p:nvSpPr>
        <p:spPr>
          <a:xfrm>
            <a:off x="3372536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500552" y="2002536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wall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8949" y="2070933"/>
            <a:ext cx="174102" cy="174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00552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Compra/Venda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500552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nova operação.</a:t>
            </a:r>
            <a:endParaRPr lang="en-US" sz="830" dirty="0"/>
          </a:p>
        </p:txBody>
      </p:sp>
      <p:sp>
        <p:nvSpPr>
          <p:cNvPr id="15" name="Shape 11"/>
          <p:cNvSpPr/>
          <p:nvPr/>
        </p:nvSpPr>
        <p:spPr>
          <a:xfrm>
            <a:off x="6196432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16" name="Shape 12"/>
          <p:cNvSpPr/>
          <p:nvPr/>
        </p:nvSpPr>
        <p:spPr>
          <a:xfrm>
            <a:off x="6324448" y="2002536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845" y="2070933"/>
            <a:ext cx="174102" cy="1741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24448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Operações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324448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compras e vendas.</a:t>
            </a:r>
            <a:endParaRPr lang="en-US" sz="830" dirty="0"/>
          </a:p>
        </p:txBody>
      </p:sp>
      <p:sp>
        <p:nvSpPr>
          <p:cNvPr id="20" name="Shape 15"/>
          <p:cNvSpPr/>
          <p:nvPr/>
        </p:nvSpPr>
        <p:spPr>
          <a:xfrm>
            <a:off x="9020327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21" name="Shape 16"/>
          <p:cNvSpPr/>
          <p:nvPr/>
        </p:nvSpPr>
        <p:spPr>
          <a:xfrm>
            <a:off x="9148343" y="2002536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6741" y="2070933"/>
            <a:ext cx="174102" cy="17410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48343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9148343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médio e lucro/perda.</a:t>
            </a:r>
            <a:endParaRPr lang="en-US" sz="830" dirty="0"/>
          </a:p>
        </p:txBody>
      </p:sp>
      <p:sp>
        <p:nvSpPr>
          <p:cNvPr id="25" name="Shape 19"/>
          <p:cNvSpPr/>
          <p:nvPr/>
        </p:nvSpPr>
        <p:spPr>
          <a:xfrm>
            <a:off x="548640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26" name="Shape 20"/>
          <p:cNvSpPr/>
          <p:nvPr/>
        </p:nvSpPr>
        <p:spPr>
          <a:xfrm>
            <a:off x="676656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7" name="Image 4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053" y="3095061"/>
            <a:ext cx="174102" cy="17410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76656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676656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alta ou baixa.</a:t>
            </a:r>
            <a:endParaRPr lang="en-US" sz="830" dirty="0"/>
          </a:p>
        </p:txBody>
      </p:sp>
      <p:sp>
        <p:nvSpPr>
          <p:cNvPr id="30" name="Shape 23"/>
          <p:cNvSpPr/>
          <p:nvPr/>
        </p:nvSpPr>
        <p:spPr>
          <a:xfrm>
            <a:off x="3372536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31" name="Shape 24"/>
          <p:cNvSpPr/>
          <p:nvPr/>
        </p:nvSpPr>
        <p:spPr>
          <a:xfrm>
            <a:off x="3500552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32" name="Image 5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8949" y="3095061"/>
            <a:ext cx="174102" cy="17410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500552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3500552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acerto do robô.</a:t>
            </a:r>
            <a:endParaRPr lang="en-US" sz="830" dirty="0"/>
          </a:p>
        </p:txBody>
      </p:sp>
      <p:sp>
        <p:nvSpPr>
          <p:cNvPr id="35" name="Shape 27"/>
          <p:cNvSpPr/>
          <p:nvPr/>
        </p:nvSpPr>
        <p:spPr>
          <a:xfrm>
            <a:off x="6196432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36" name="Shape 28"/>
          <p:cNvSpPr/>
          <p:nvPr/>
        </p:nvSpPr>
        <p:spPr>
          <a:xfrm>
            <a:off x="6324448" y="302666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37" name="Image 6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2845" y="3095061"/>
            <a:ext cx="174102" cy="17410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324448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e Gráfico</a:t>
            </a:r>
            <a:endParaRPr lang="en-US" sz="1050" dirty="0"/>
          </a:p>
        </p:txBody>
      </p:sp>
      <p:sp>
        <p:nvSpPr>
          <p:cNvPr id="39" name="Text 30"/>
          <p:cNvSpPr/>
          <p:nvPr/>
        </p:nvSpPr>
        <p:spPr>
          <a:xfrm>
            <a:off x="6324448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e gráfico por ativo.</a:t>
            </a:r>
            <a:endParaRPr lang="en-US" sz="830" dirty="0"/>
          </a:p>
        </p:txBody>
      </p:sp>
      <p:sp>
        <p:nvSpPr>
          <p:cNvPr id="40" name="Shape 31"/>
          <p:cNvSpPr/>
          <p:nvPr/>
        </p:nvSpPr>
        <p:spPr>
          <a:xfrm>
            <a:off x="9020327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41" name="Shape 32"/>
          <p:cNvSpPr/>
          <p:nvPr/>
        </p:nvSpPr>
        <p:spPr>
          <a:xfrm>
            <a:off x="9148343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42" name="Image 7" descr="C:\Users\PC ANTONIO\AppData\Roaming\Claude\scratch-workspaces\f0f5d1bc-bf72-4611-a8ea-e50e459a0a45\08c0c592-3fff-44bf-a144-086c85aaeea0\scratch-2026-09-22-98642c\icons\bel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6741" y="3095061"/>
            <a:ext cx="174102" cy="174102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9148343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e Lembretes</a:t>
            </a:r>
            <a:endParaRPr lang="en-US" sz="1050" dirty="0"/>
          </a:p>
        </p:txBody>
      </p:sp>
      <p:sp>
        <p:nvSpPr>
          <p:cNvPr id="44" name="Text 34"/>
          <p:cNvSpPr/>
          <p:nvPr/>
        </p:nvSpPr>
        <p:spPr>
          <a:xfrm>
            <a:off x="9148343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atingidas e tendências.</a:t>
            </a:r>
            <a:endParaRPr lang="en-US" sz="830" dirty="0"/>
          </a:p>
        </p:txBody>
      </p:sp>
      <p:sp>
        <p:nvSpPr>
          <p:cNvPr id="45" name="Shape 35"/>
          <p:cNvSpPr/>
          <p:nvPr/>
        </p:nvSpPr>
        <p:spPr>
          <a:xfrm>
            <a:off x="548640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46" name="Shape 36"/>
          <p:cNvSpPr/>
          <p:nvPr/>
        </p:nvSpPr>
        <p:spPr>
          <a:xfrm>
            <a:off x="676656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47" name="Image 8" descr="C:\Users\PC ANTONIO\AppData\Roaming\Claude\scratch-workspaces\f0f5d1bc-bf72-4611-a8ea-e50e459a0a45\08c0c592-3fff-44bf-a144-086c85aaeea0\scratch-2026-09-22-98642c\icons\whatsap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053" y="4119189"/>
            <a:ext cx="174102" cy="174102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676656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WhatsApp</a:t>
            </a:r>
            <a:endParaRPr lang="en-US" sz="1050" dirty="0"/>
          </a:p>
        </p:txBody>
      </p:sp>
      <p:sp>
        <p:nvSpPr>
          <p:cNvPr id="49" name="Text 38"/>
          <p:cNvSpPr/>
          <p:nvPr/>
        </p:nvSpPr>
        <p:spPr>
          <a:xfrm>
            <a:off x="676656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Recebidas pelo contato oficial.</a:t>
            </a:r>
            <a:endParaRPr lang="en-US" sz="830" dirty="0"/>
          </a:p>
        </p:txBody>
      </p:sp>
      <p:sp>
        <p:nvSpPr>
          <p:cNvPr id="50" name="Shape 39"/>
          <p:cNvSpPr/>
          <p:nvPr/>
        </p:nvSpPr>
        <p:spPr>
          <a:xfrm>
            <a:off x="3372536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51" name="Shape 40"/>
          <p:cNvSpPr/>
          <p:nvPr/>
        </p:nvSpPr>
        <p:spPr>
          <a:xfrm>
            <a:off x="3500552" y="4050792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52" name="Image 9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68949" y="4119189"/>
            <a:ext cx="174102" cy="174102"/>
          </a:xfrm>
          <a:prstGeom prst="rect">
            <a:avLst/>
          </a:prstGeom>
        </p:spPr>
      </p:pic>
      <p:sp>
        <p:nvSpPr>
          <p:cNvPr id="53" name="Text 41"/>
          <p:cNvSpPr/>
          <p:nvPr/>
        </p:nvSpPr>
        <p:spPr>
          <a:xfrm>
            <a:off x="3500552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de Cotações</a:t>
            </a:r>
            <a:endParaRPr lang="en-US" sz="1050" dirty="0"/>
          </a:p>
        </p:txBody>
      </p:sp>
      <p:sp>
        <p:nvSpPr>
          <p:cNvPr id="54" name="Text 42"/>
          <p:cNvSpPr/>
          <p:nvPr/>
        </p:nvSpPr>
        <p:spPr>
          <a:xfrm>
            <a:off x="3500552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Preço, volume e 52 semanas.</a:t>
            </a:r>
            <a:endParaRPr lang="en-US" sz="830" dirty="0"/>
          </a:p>
        </p:txBody>
      </p:sp>
      <p:sp>
        <p:nvSpPr>
          <p:cNvPr id="55" name="Shape 43"/>
          <p:cNvSpPr/>
          <p:nvPr/>
        </p:nvSpPr>
        <p:spPr>
          <a:xfrm>
            <a:off x="6196432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56" name="Shape 44"/>
          <p:cNvSpPr/>
          <p:nvPr/>
        </p:nvSpPr>
        <p:spPr>
          <a:xfrm>
            <a:off x="6324448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57" name="Image 10" descr="C:\Users\PC ANTONIO\AppData\Roaming\Claude\scratch-workspaces\f0f5d1bc-bf72-4611-a8ea-e50e459a0a45\08c0c592-3fff-44bf-a144-086c85aaeea0\scratch-2026-09-22-98642c\icons\buildin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2845" y="4119189"/>
            <a:ext cx="174102" cy="174102"/>
          </a:xfrm>
          <a:prstGeom prst="rect">
            <a:avLst/>
          </a:prstGeom>
        </p:spPr>
      </p:pic>
      <p:sp>
        <p:nvSpPr>
          <p:cNvPr id="58" name="Text 45"/>
          <p:cNvSpPr/>
          <p:nvPr/>
        </p:nvSpPr>
        <p:spPr>
          <a:xfrm>
            <a:off x="6324448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da B3</a:t>
            </a:r>
            <a:endParaRPr lang="en-US" sz="1050" dirty="0"/>
          </a:p>
        </p:txBody>
      </p:sp>
      <p:sp>
        <p:nvSpPr>
          <p:cNvPr id="59" name="Text 46"/>
          <p:cNvSpPr/>
          <p:nvPr/>
        </p:nvSpPr>
        <p:spPr>
          <a:xfrm>
            <a:off x="6324448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completo de ações.</a:t>
            </a:r>
            <a:endParaRPr lang="en-US" sz="830" dirty="0"/>
          </a:p>
        </p:txBody>
      </p:sp>
      <p:sp>
        <p:nvSpPr>
          <p:cNvPr id="60" name="Shape 47"/>
          <p:cNvSpPr/>
          <p:nvPr/>
        </p:nvSpPr>
        <p:spPr>
          <a:xfrm>
            <a:off x="9020327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61" name="Shape 48"/>
          <p:cNvSpPr/>
          <p:nvPr/>
        </p:nvSpPr>
        <p:spPr>
          <a:xfrm>
            <a:off x="9148343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2" name="Image 11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16741" y="4119189"/>
            <a:ext cx="174102" cy="174102"/>
          </a:xfrm>
          <a:prstGeom prst="rect">
            <a:avLst/>
          </a:prstGeom>
        </p:spPr>
      </p:pic>
      <p:sp>
        <p:nvSpPr>
          <p:cNvPr id="63" name="Text 49"/>
          <p:cNvSpPr/>
          <p:nvPr/>
        </p:nvSpPr>
        <p:spPr>
          <a:xfrm>
            <a:off x="9148343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do Mercado</a:t>
            </a:r>
            <a:endParaRPr lang="en-US" sz="1050" dirty="0"/>
          </a:p>
        </p:txBody>
      </p:sp>
      <p:sp>
        <p:nvSpPr>
          <p:cNvPr id="64" name="Text 50"/>
          <p:cNvSpPr/>
          <p:nvPr/>
        </p:nvSpPr>
        <p:spPr>
          <a:xfrm>
            <a:off x="9148343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Manchetes das fontes configuradas.</a:t>
            </a:r>
            <a:endParaRPr lang="en-US" sz="830" dirty="0"/>
          </a:p>
        </p:txBody>
      </p:sp>
      <p:sp>
        <p:nvSpPr>
          <p:cNvPr id="65" name="Shape 51"/>
          <p:cNvSpPr/>
          <p:nvPr/>
        </p:nvSpPr>
        <p:spPr>
          <a:xfrm>
            <a:off x="548640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66" name="Shape 52"/>
          <p:cNvSpPr/>
          <p:nvPr/>
        </p:nvSpPr>
        <p:spPr>
          <a:xfrm>
            <a:off x="676656" y="507492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67" name="Image 12" descr="C:\Users\PC ANTONIO\AppData\Roaming\Claude\scratch-workspaces\f0f5d1bc-bf72-4611-a8ea-e50e459a0a45\08c0c592-3fff-44bf-a144-086c85aaeea0\scratch-2026-09-22-98642c\icons\tv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5053" y="5143317"/>
            <a:ext cx="174102" cy="174102"/>
          </a:xfrm>
          <a:prstGeom prst="rect">
            <a:avLst/>
          </a:prstGeom>
        </p:spPr>
      </p:pic>
      <p:sp>
        <p:nvSpPr>
          <p:cNvPr id="68" name="Text 53"/>
          <p:cNvSpPr/>
          <p:nvPr/>
        </p:nvSpPr>
        <p:spPr>
          <a:xfrm>
            <a:off x="676656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TradingView</a:t>
            </a:r>
            <a:endParaRPr lang="en-US" sz="1050" dirty="0"/>
          </a:p>
        </p:txBody>
      </p:sp>
      <p:sp>
        <p:nvSpPr>
          <p:cNvPr id="69" name="Text 54"/>
          <p:cNvSpPr/>
          <p:nvPr/>
        </p:nvSpPr>
        <p:spPr>
          <a:xfrm>
            <a:off x="676656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avançado embutido.</a:t>
            </a:r>
            <a:endParaRPr lang="en-US" sz="830" dirty="0"/>
          </a:p>
        </p:txBody>
      </p:sp>
      <p:sp>
        <p:nvSpPr>
          <p:cNvPr id="70" name="Shape 55"/>
          <p:cNvSpPr/>
          <p:nvPr/>
        </p:nvSpPr>
        <p:spPr>
          <a:xfrm>
            <a:off x="3372536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71" name="Shape 56"/>
          <p:cNvSpPr/>
          <p:nvPr/>
        </p:nvSpPr>
        <p:spPr>
          <a:xfrm>
            <a:off x="3500552" y="5074920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2" name="Image 13" descr="C:\Users\PC ANTONIO\AppData\Roaming\Claude\scratch-workspaces\f0f5d1bc-bf72-4611-a8ea-e50e459a0a45\08c0c592-3fff-44bf-a144-086c85aaeea0\scratch-2026-09-22-98642c\icons\cloc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68949" y="5143317"/>
            <a:ext cx="174102" cy="174102"/>
          </a:xfrm>
          <a:prstGeom prst="rect">
            <a:avLst/>
          </a:prstGeom>
        </p:spPr>
      </p:pic>
      <p:sp>
        <p:nvSpPr>
          <p:cNvPr id="73" name="Text 57"/>
          <p:cNvSpPr/>
          <p:nvPr/>
        </p:nvSpPr>
        <p:spPr>
          <a:xfrm>
            <a:off x="3500552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Atualizações</a:t>
            </a:r>
            <a:endParaRPr lang="en-US" sz="1050" dirty="0"/>
          </a:p>
        </p:txBody>
      </p:sp>
      <p:sp>
        <p:nvSpPr>
          <p:cNvPr id="74" name="Text 58"/>
          <p:cNvSpPr/>
          <p:nvPr/>
        </p:nvSpPr>
        <p:spPr>
          <a:xfrm>
            <a:off x="3500552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cada atualização.</a:t>
            </a:r>
            <a:endParaRPr lang="en-US" sz="830" dirty="0"/>
          </a:p>
        </p:txBody>
      </p:sp>
      <p:sp>
        <p:nvSpPr>
          <p:cNvPr id="75" name="Shape 59"/>
          <p:cNvSpPr/>
          <p:nvPr/>
        </p:nvSpPr>
        <p:spPr>
          <a:xfrm>
            <a:off x="6196432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76" name="Shape 60"/>
          <p:cNvSpPr/>
          <p:nvPr/>
        </p:nvSpPr>
        <p:spPr>
          <a:xfrm>
            <a:off x="6324448" y="5074920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7" name="Image 14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92845" y="5143317"/>
            <a:ext cx="174102" cy="174102"/>
          </a:xfrm>
          <a:prstGeom prst="rect">
            <a:avLst/>
          </a:prstGeom>
        </p:spPr>
      </p:pic>
      <p:sp>
        <p:nvSpPr>
          <p:cNvPr id="78" name="Text 61"/>
          <p:cNvSpPr/>
          <p:nvPr/>
        </p:nvSpPr>
        <p:spPr>
          <a:xfrm>
            <a:off x="6324448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</a:t>
            </a:r>
            <a:endParaRPr lang="en-US" sz="1050" dirty="0"/>
          </a:p>
        </p:txBody>
      </p:sp>
      <p:sp>
        <p:nvSpPr>
          <p:cNvPr id="79" name="Text 62"/>
          <p:cNvSpPr/>
          <p:nvPr/>
        </p:nvSpPr>
        <p:spPr>
          <a:xfrm>
            <a:off x="6324448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Saldo, débitos e créditos.</a:t>
            </a:r>
            <a:endParaRPr lang="en-US" sz="830" dirty="0"/>
          </a:p>
        </p:txBody>
      </p:sp>
      <p:sp>
        <p:nvSpPr>
          <p:cNvPr id="80" name="Shape 63"/>
          <p:cNvSpPr/>
          <p:nvPr/>
        </p:nvSpPr>
        <p:spPr>
          <a:xfrm>
            <a:off x="9020327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81" name="Shape 64"/>
          <p:cNvSpPr/>
          <p:nvPr/>
        </p:nvSpPr>
        <p:spPr>
          <a:xfrm>
            <a:off x="9148343" y="507492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82" name="Image 15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16741" y="5143317"/>
            <a:ext cx="174102" cy="174102"/>
          </a:xfrm>
          <a:prstGeom prst="rect">
            <a:avLst/>
          </a:prstGeom>
        </p:spPr>
      </p:pic>
      <p:sp>
        <p:nvSpPr>
          <p:cNvPr id="83" name="Text 65"/>
          <p:cNvSpPr/>
          <p:nvPr/>
        </p:nvSpPr>
        <p:spPr>
          <a:xfrm>
            <a:off x="9148343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</a:t>
            </a:r>
            <a:endParaRPr lang="en-US" sz="1050" dirty="0"/>
          </a:p>
        </p:txBody>
      </p:sp>
      <p:sp>
        <p:nvSpPr>
          <p:cNvPr id="84" name="Text 66"/>
          <p:cNvSpPr/>
          <p:nvPr/>
        </p:nvSpPr>
        <p:spPr>
          <a:xfrm>
            <a:off x="9148343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combinados por ativo.</a:t>
            </a:r>
            <a:endParaRPr lang="en-US" sz="830" dirty="0"/>
          </a:p>
        </p:txBody>
      </p:sp>
      <p:sp>
        <p:nvSpPr>
          <p:cNvPr id="85" name="Text 6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86" name="Text 6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controle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inicial após o login — visão consolidada e rápida da carteira.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Cartões de resumo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7" name="Text 5"/>
          <p:cNvSpPr/>
          <p:nvPr/>
        </p:nvSpPr>
        <p:spPr>
          <a:xfrm>
            <a:off x="694944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Ativos em carteira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94944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tickers comprados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79394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10" name="Text 8"/>
          <p:cNvSpPr/>
          <p:nvPr/>
        </p:nvSpPr>
        <p:spPr>
          <a:xfrm>
            <a:off x="3525698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investido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525698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aplicado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0148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6356452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atual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356452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mercado hoje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40901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9187205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/ Perda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87205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e % consolidado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337560"/>
            <a:ext cx="5364328" cy="2651760"/>
          </a:xfrm>
          <a:prstGeom prst="roundRect">
            <a:avLst>
              <a:gd name="adj" fmla="val 310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357530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0" name="Image 0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3694176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26464" y="35204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carteira x mercado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04672" y="4160520"/>
            <a:ext cx="485226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o retorno percentual da carteira comprada com o Ibovespa e o CDI, do início da posição mais antiga (limite de 90 dias) até hoje — responde se valeu a pena operar ativamente. Quando faltam dados, um botão de atualização busca o histórico mais recente das duas referências.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78728" y="333756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534760" y="357530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5" name="Image 1" descr="C:\Users\PC ANTONIO\AppData\Roaming\Claude\scratch-workspaces\f0f5d1bc-bf72-4611-a8ea-e50e459a0a45\08c0c592-3fff-44bf-a144-086c85aaeea0\scratch-2026-09-22-98642c\icons\z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593" y="3656137"/>
            <a:ext cx="149230" cy="14923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010248" y="352044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rápidas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6534760" y="4014216"/>
            <a:ext cx="485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Atalhos: + Nova compra/venda, Ver posições, Atualizar cotações, Ver análise de mercado, Histórico e gráficos, Notícias.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278728" y="470916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534760" y="49469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30" name="Image 2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593" y="5027737"/>
            <a:ext cx="149230" cy="14923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010248" y="489204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 (resumo)</a:t>
            </a:r>
            <a:endParaRPr lang="en-US" sz="1450" dirty="0"/>
          </a:p>
        </p:txBody>
      </p:sp>
      <p:sp>
        <p:nvSpPr>
          <p:cNvPr id="32" name="Text 27"/>
          <p:cNvSpPr/>
          <p:nvPr/>
        </p:nvSpPr>
        <p:spPr>
          <a:xfrm>
            <a:off x="6534760" y="538581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compacta com selos visuais: 🔖 Reservado, 🤖 Robô (posição automática) e 🎯 Meta atingida — vender.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uma nova compra ou reserva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central para registrar e consultar compras, vendas e reservas, organizadas em três abas: Em carteira, Reservadas e Vendidas. Clique em "+ Nova compra/reserva" e preencha: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833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(já efetivada) ou Reservar (intenção futura).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Ticker do ativo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da ação na B3 (ex.: PETR4, VALE3, ITUB4).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Nº de ações. Em Reservar, fica limitada a 1.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unitário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pago ou pretendido, em R$.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de lucro / perda (%)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Opcional. Dispara alerta de meta atingida.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4E5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4567428"/>
            <a:ext cx="329184" cy="329184"/>
          </a:xfrm>
          <a:prstGeom prst="ellipse">
            <a:avLst/>
          </a:prstGeom>
          <a:solidFill>
            <a:srgbClr val="F5A623"/>
          </a:solidFill>
          <a:ln/>
        </p:spPr>
      </p:sp>
      <p:pic>
        <p:nvPicPr>
          <p:cNvPr id="8" name="Image 0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46398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25296" y="4434840"/>
            <a:ext cx="102348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tem um limite configurável de ativos DIFERENTES comprados ao mesmo tempo (padrão: 10). O limite vale só para compra de verdade — registrar uma reserva não consome essa cota.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5257800"/>
            <a:ext cx="11094415" cy="1143000"/>
          </a:xfrm>
          <a:prstGeom prst="roundRect">
            <a:avLst>
              <a:gd name="adj" fmla="val 72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04672" y="549554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5" y="5576377"/>
            <a:ext cx="149230" cy="14923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544068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Efetivar uma reserva como compra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804672" y="5934456"/>
            <a:ext cx="1058235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aba Reservadas, o botão de efetivar permite ajustar quantidade, preço e data — eles podem diferir do planejado, pois o preço de mercado muda com o tempo. O mesmo limite de ativos diferentes se aplica aqui.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Vender, editar e filtrar operações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2148840"/>
          </a:xfrm>
          <a:prstGeom prst="roundRect">
            <a:avLst>
              <a:gd name="adj" fmla="val 383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um lote (total ou parcial)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aba Em carteira, é possível vender só parte da quantidade — o saldo restante segue na carteira. A venda calcula automaticamente: valor líquido a receber, lucro/perda em R$ e %, e lucro/perda por dia em carteira. Vender 100% não apaga o registro: ele passa para a aba Vendidas e pode ser reaberto para correção.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78728" y="160020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0" name="Image 1" descr="C:\Users\PC ANTONIO\AppData\Roaming\Claude\scratch-workspaces\f0f5d1bc-bf72-4611-a8ea-e50e459a0a45\08c0c592-3fff-44bf-a144-086c85aaeea0\scratch-2026-09-22-98642c\icons\ed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899" y="1692372"/>
            <a:ext cx="199705" cy="19970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09080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ou excluir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809080" y="1819656"/>
            <a:ext cx="4833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e reservas podem ser editadas ou excluídas definitivamente. A exclusão pede confirmação e não pode ser desfeita.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278728" y="269748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4" name="Image 2" descr="C:\Users\PC ANTONIO\AppData\Roaming\Claude\scratch-workspaces\f0f5d1bc-bf72-4611-a8ea-e50e459a0a45\08c0c592-3fff-44bf-a144-086c85aaeea0\scratch-2026-09-22-98642c\icons\fil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899" y="2789652"/>
            <a:ext cx="199705" cy="19970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809080" y="266090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período e ativo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809080" y="2916936"/>
            <a:ext cx="4833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carteira e Reservadas filtram pela data da operação; Vendidas filtra pela data da venda. Sem filtro, mostra o mês corrente.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do formulário de venda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vendida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pode passar do saldo disponível daquele lote.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de venda (R$)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pelo qual as ações foram vendidas.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Percentual da corretora (%)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cobrada pela corretora sobre a venda, se houver.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de relatórios (Excel / PDF)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botões "⬇ Exportar Excel" e "⬇ Exportar PDF" respeitam os filtros de data e ativo ativos no momento e geram um relatório com três seções, espelhando as abas da tela: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951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41401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carteira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dias, ativo, quantidade e valores comprados, saldo, lucro/perda realizado, meta.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38218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4250" y="229514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122" y="241401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6042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Vendidas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94250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compra/venda, dias em carteira, preços, corretora, valor líquido, lucro/perda por dia.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27797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83829" y="22951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01" y="2414016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05621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Reservadas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83829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dias, ativo, quantidade, preço pretendido, variação desde a reserva, meta.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470916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AF0FB"/>
          </a:solidFill>
          <a:ln/>
        </p:spPr>
      </p:sp>
      <p:sp>
        <p:nvSpPr>
          <p:cNvPr id="21" name="Shape 16"/>
          <p:cNvSpPr/>
          <p:nvPr/>
        </p:nvSpPr>
        <p:spPr>
          <a:xfrm>
            <a:off x="731520" y="488746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40" y="4959888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25296" y="480060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seção traz o período usado no filtro no topo e uma linha de TOTAL ao final, somando as colunas em R$ (percentuais e preços unitários não são somados).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consolidada da carteira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 as operações de compra por ativo (preço médio, quantidade total), em vez de lote por lote. Organizada em três abas: Compradas, Reservadas e Reservadas pelo Robô.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36829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19456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 Compradas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4672" y="283464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ativo: dias em carteira, lucro/perda, quantidade, preço médio, valor investido/atual, metas e tendência. Selos 🎯 Meta atingida e 🤖 Robô destacam linhas especiais. A coluna Ação permite vender, alterar ou excluir sem sair da tela.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201168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4760" y="224942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236829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56552" y="219456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Reservadas e Reservadas pelo Robô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534760" y="283464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Mostram ativo, preço pretendido, cotação atual, variação desde a reserva e tendência. A aba do robô reúne reservas automáticas; quando o preço cai o suficiente, aparece o selo 📉 Baixa atingida — comprar.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379476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4672" y="40325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4113337"/>
            <a:ext cx="149230" cy="1492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97764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compra x valor atual (histórico) e carteira x mercado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04672" y="4471416"/>
            <a:ext cx="1058235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por ativo comparando valor pago x valor atual ao longo do tempo, além do mesmo comparativo de retorno da carteira frente ao Ibovespa e ao CDI disponível no Painel.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51663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EAF0FB"/>
          </a:solidFill>
          <a:ln/>
        </p:spPr>
      </p:sp>
      <p:sp>
        <p:nvSpPr>
          <p:cNvPr id="21" name="Shape 16"/>
          <p:cNvSpPr/>
          <p:nvPr/>
        </p:nvSpPr>
        <p:spPr>
          <a:xfrm>
            <a:off x="731520" y="529894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40" y="5371368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25296" y="525780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"🔎 Scanner Técnico", no topo desta tela, leva à análise técnica combinada de cada ativo comprado.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RISCO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por setor e indicadores de risco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9987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por setor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105823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 o valor atual das posições compradas por setor da empresa e mostra o percentual de cada setor sobre o total da carteira, com barra visual. Setores acima de 40% aparecem com o selo ⚠ concentrado — útil porque o limite de ativos diferentes não enxerga diversificação dentro do mesmo setor.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risco por posição e por carteira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2" y="3566892"/>
            <a:ext cx="199705" cy="1997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78992" y="343814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Volatilidade anualizada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078992" y="369417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Calculada nos últimos 30 pregões, por ativo comprado.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370168" y="347472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5" name="Image 2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339" y="35668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00520" y="343814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drawdown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900520" y="369417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do topo ao fundo nos últimos 30 pregões.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9" name="Image 3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2" y="4527012"/>
            <a:ext cx="199705" cy="19970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78992" y="439826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da carteira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1078992" y="465429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de cada posição sobre o total investido.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6370168" y="443484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3" name="Image 4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339" y="4527012"/>
            <a:ext cx="199705" cy="19970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00520" y="439826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Herfindahl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6900520" y="465429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da carteira inteira — quanto mais perto de 1, mais concentrada em uma posição.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548640" y="557784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FDECEE"/>
          </a:solidFill>
          <a:ln/>
        </p:spPr>
      </p:sp>
      <p:sp>
        <p:nvSpPr>
          <p:cNvPr id="27" name="Shape 20"/>
          <p:cNvSpPr/>
          <p:nvPr/>
        </p:nvSpPr>
        <p:spPr>
          <a:xfrm>
            <a:off x="731520" y="5710428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28" name="Image 5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782848"/>
            <a:ext cx="184343" cy="18434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225296" y="566928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destaca em vermelho quando um único ativo já responde por 40% ou mais da carteira.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robô consultor decide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 automático de análise técnica que roda a cada atualização de cotações. Não executa nenhuma ordem real — apenas gera alertas e, em caso de sinal de compra, registra uma reserva automática.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36829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a média móvel de curto prazo com a de longo prazo.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38218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4250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122" y="236829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6042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(IFR)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94250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se o ativo está sobrecomprado ou sobrevendido.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27797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83829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z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01" y="2368296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05621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83829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a força e a direção do movimento recente do preço.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548640" y="3566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"sinal geral" soma votos de compra x votos de venda entre os três indicadores, visível na tela Análise de Mercado.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48640" y="402336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04672" y="426110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3" name="Image 3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379976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26464" y="42062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 "já comprado"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804672" y="4846320"/>
            <a:ext cx="485226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robô identificar sinal de compra para um ativo que o usuário já possui (saldo &gt; 0), não gera novo alerta nem reserva para ele — evita sugerir comprar mais do que já se tem. Sinais de venda continuam avaliados normalmente.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78728" y="402336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534760" y="426110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8" name="Image 4" descr="C:\Users\PC ANTONIO\AppData\Roaming\Claude\scratch-workspaces\f0f5d1bc-bf72-4611-a8ea-e50e459a0a45\08c0c592-3fff-44bf-a144-086c85aaeea0\scratch-2026-09-22-98642c\icons\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632" y="4379976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156552" y="42062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automática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534760" y="4846320"/>
            <a:ext cx="485226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sinal de compra é válido, o robô registra uma reserva no preço da cotação do momento, com observação identificando a origem. Aparece com o selo 🤖 Robô nas telas do sistema. Se já existir reserva para o ativo, não duplica.</a:t>
            </a:r>
            <a:endParaRPr lang="en-US" sz="1050" dirty="0"/>
          </a:p>
        </p:txBody>
      </p:sp>
      <p:sp>
        <p:nvSpPr>
          <p:cNvPr id="31" name="Text 2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HISTÓRICA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do robô consultor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Simula, dia a dia, os sinais que o robô teria dado no passado (usando o histórico de cotações já salvo) e mede a taxa de acerto: compra acerta quando o preço sobe nos N pregões seguintes; venda acerta quando o preço cai.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1094415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4323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05" y="2513137"/>
            <a:ext cx="149230" cy="1492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37744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de conferência configurável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4672" y="2871216"/>
            <a:ext cx="1058235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de pregões de conferência (padrão ajustável na própria tela, de 1 a 60) é definido no campo "Conferir o resultado quantos pregões depois do sinal?".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3703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resultado mostra, por ativo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1148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037" y="4183197"/>
            <a:ext cx="174102" cy="174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05840" y="40873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sinais simulados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370168" y="41148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5" name="Image 2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565" y="4183197"/>
            <a:ext cx="174102" cy="1741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27368" y="40873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acerto geral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8006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8" name="Image 3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868997"/>
            <a:ext cx="174102" cy="17410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47731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Acerto e retorno médio por tipo (compra / venda)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370168" y="48006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1" name="Image 4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8565" y="4868997"/>
            <a:ext cx="174102" cy="17410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827368" y="47731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detalhada: data, preço, retorno e acerto/erro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DECEE"/>
          </a:solidFill>
          <a:ln/>
        </p:spPr>
      </p:sp>
      <p:sp>
        <p:nvSpPr>
          <p:cNvPr id="24" name="Shape 17"/>
          <p:cNvSpPr/>
          <p:nvPr/>
        </p:nvSpPr>
        <p:spPr>
          <a:xfrm>
            <a:off x="731520" y="5756148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25" name="Image 5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828568"/>
            <a:ext cx="184343" cy="184343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25296" y="566928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backtesting é uma estatística sobre o passado, calculada com o histórico disponível — não garante desempenho futuro nem constitui recomendação de investimento.</a:t>
            </a:r>
            <a:endParaRPr lang="en-US" sz="1050" dirty="0"/>
          </a:p>
        </p:txBody>
      </p:sp>
      <p:sp>
        <p:nvSpPr>
          <p:cNvPr id="27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09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&amp; SINCRONIZAÇÃO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 e atualizações manuais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Maiores altas e baixas do dia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as 10 maiores altas e as 10 maiores baixas do dia entre todas as ações da B3, via API de cotações.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78728" y="146304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7007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8196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técnicos acompanhados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534760" y="2286000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com tendência, RSI, MACD e sinal geral (votos de compra/venda) de cada ativo do usuário — mesma lógica do robô consultor, para consulta manual. Exportável em Excel/PDF.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48640" y="3566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Botões de atualização manual disponíveis pelo sistema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16" name="Shape 12"/>
          <p:cNvSpPr/>
          <p:nvPr/>
        </p:nvSpPr>
        <p:spPr>
          <a:xfrm>
            <a:off x="1666837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refre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304" y="4176979"/>
            <a:ext cx="204826" cy="20482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agora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58368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 cotação mais recente e dispara metas + robô. Só ativo em horário de pregão.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3379394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21" name="Shape 16"/>
          <p:cNvSpPr/>
          <p:nvPr/>
        </p:nvSpPr>
        <p:spPr>
          <a:xfrm>
            <a:off x="4497591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058" y="4176979"/>
            <a:ext cx="204826" cy="20482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470834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3489122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Ibovespa / CDI — busca até 3 meses de histórico de uma vez.</a:t>
            </a:r>
            <a:endParaRPr lang="en-US" sz="860" dirty="0"/>
          </a:p>
        </p:txBody>
      </p:sp>
      <p:sp>
        <p:nvSpPr>
          <p:cNvPr id="25" name="Shape 19"/>
          <p:cNvSpPr/>
          <p:nvPr/>
        </p:nvSpPr>
        <p:spPr>
          <a:xfrm>
            <a:off x="6210148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26" name="Shape 20"/>
          <p:cNvSpPr/>
          <p:nvPr/>
        </p:nvSpPr>
        <p:spPr>
          <a:xfrm>
            <a:off x="7328345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7" name="Image 4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8812" y="4176979"/>
            <a:ext cx="204826" cy="20482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301588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agora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6319876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todas as fontes ativas em busca de manchetes novas.</a:t>
            </a:r>
            <a:endParaRPr lang="en-US" sz="860" dirty="0"/>
          </a:p>
        </p:txBody>
      </p:sp>
      <p:sp>
        <p:nvSpPr>
          <p:cNvPr id="30" name="Shape 23"/>
          <p:cNvSpPr/>
          <p:nvPr/>
        </p:nvSpPr>
        <p:spPr>
          <a:xfrm>
            <a:off x="9040901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31" name="Shape 24"/>
          <p:cNvSpPr/>
          <p:nvPr/>
        </p:nvSpPr>
        <p:spPr>
          <a:xfrm>
            <a:off x="10159098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32" name="Image 5" descr="C:\Users\PC ANTONIO\AppData\Roaming\Claude\scratch-workspaces\f0f5d1bc-bf72-4611-a8ea-e50e459a0a45\08c0c592-3fff-44bf-a144-086c85aaeea0\scratch-2026-09-22-98642c\icons\build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9566" y="4176979"/>
            <a:ext cx="204826" cy="20482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132341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Ações B3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9150629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Reconstrói o catálogo completo a partir da API.</a:t>
            </a:r>
            <a:endParaRPr lang="en-US" sz="860" dirty="0"/>
          </a:p>
        </p:txBody>
      </p:sp>
      <p:sp>
        <p:nvSpPr>
          <p:cNvPr id="35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 — leitura combinada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Combina, num só painel por ativo, seis indicadores técnicos de cada ação realmente comprada. Acessível pelo Menu ou por um botão na tela Posições em Carteira.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(RSI)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0569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</p:sp>
      <p:sp>
        <p:nvSpPr>
          <p:cNvPr id="8" name="Text 6"/>
          <p:cNvSpPr/>
          <p:nvPr/>
        </p:nvSpPr>
        <p:spPr>
          <a:xfrm>
            <a:off x="2493721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Médias móveis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2498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</p:sp>
      <p:sp>
        <p:nvSpPr>
          <p:cNvPr id="10" name="Text 8"/>
          <p:cNvSpPr/>
          <p:nvPr/>
        </p:nvSpPr>
        <p:spPr>
          <a:xfrm>
            <a:off x="4365650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64428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</p:sp>
      <p:sp>
        <p:nvSpPr>
          <p:cNvPr id="12" name="Text 10"/>
          <p:cNvSpPr/>
          <p:nvPr/>
        </p:nvSpPr>
        <p:spPr>
          <a:xfrm>
            <a:off x="6237580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36357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</p:sp>
      <p:sp>
        <p:nvSpPr>
          <p:cNvPr id="14" name="Text 12"/>
          <p:cNvSpPr/>
          <p:nvPr/>
        </p:nvSpPr>
        <p:spPr>
          <a:xfrm>
            <a:off x="8109509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908286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</p:sp>
      <p:sp>
        <p:nvSpPr>
          <p:cNvPr id="16" name="Text 14"/>
          <p:cNvSpPr/>
          <p:nvPr/>
        </p:nvSpPr>
        <p:spPr>
          <a:xfrm>
            <a:off x="9981438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063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veredito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8545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Veredito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Predomínio de 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os indicadores que apontaram direção concordam em alta.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Predomínio de 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os indicadores que apontaram direção concordam em baixa.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Indicadores conflitantes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Pelo menos um aponta alta e outro aponta baixa ao mesmo tempo.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Neutro / aguardando histórico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direção clara, ou cotações insuficientes ainda.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48640" y="562356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EAF0FB"/>
          </a:solidFill>
          <a:ln/>
        </p:spPr>
      </p:sp>
      <p:sp>
        <p:nvSpPr>
          <p:cNvPr id="20" name="Shape 17"/>
          <p:cNvSpPr/>
          <p:nvPr/>
        </p:nvSpPr>
        <p:spPr>
          <a:xfrm>
            <a:off x="731520" y="577900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1" name="Image 0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5851428"/>
            <a:ext cx="184343" cy="184343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225296" y="5715000"/>
            <a:ext cx="102348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do robô consultor (que sempre escolhe um lado por votação), o Scanner mostra explicitamente quando o mercado está indeciso, em vez de forçar uma previsão.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11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&amp; COTAÇÕES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gráficos e detalhes de cotações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e gráficos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de linha com a evolução do preço de fechamento de cada ativo comprado, mais tabela com data, fechamento e variação do dia. Ativos reservados aparecem à parte, com gráfico desde a data da reserva.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78728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7007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8196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de cotações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34760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cartão por ativo com preço atual, variação do dia, máxima/mínima, abertura, fechamento anterior, volume, valor de mercado e faixa de 52 semanas.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34838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6" name="Image 2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3564697"/>
            <a:ext cx="149230" cy="1492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avulsa e preço alvo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04672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consultar qualquer ticker, mesmo fora da carteira, direto da API. O campo "Preço alvo" calcula na hora o lucro/perda se o ativo fosse vendido naquele preço.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78728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4760" y="348386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1" name="Image 3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593" y="3564697"/>
            <a:ext cx="149230" cy="1492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10248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IFR (RSI)?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534760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explicativo com fórmula, régua visual de 0 a 100, significado de cada faixa e explicação sobre divergências entre preço e IFR.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confirmação de sinais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6" name="Image 4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5167092"/>
            <a:ext cx="199705" cy="19970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78992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alta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078992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&lt; 35, preço acima da média de 21 dias, volume acima da média, MACD positivo, tendência de curto prazo positiva.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278728" y="5074920"/>
            <a:ext cx="384048" cy="384048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30" name="Image 5" descr="C:\Users\PC ANTONIO\AppData\Roaming\Claude\scratch-workspaces\f0f5d1bc-bf72-4611-a8ea-e50e459a0a45\08c0c592-3fff-44bf-a144-086c85aaeea0\scratch-2026-09-22-98642c\icons\trendDow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0899" y="5167092"/>
            <a:ext cx="199705" cy="19970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09080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baixa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6809080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&gt; 65, preço abaixo da média de 21 dias, volume aumentando na queda, MACD negativo, tendência de curto prazo negativa.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14 · 15 · 16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&amp; NOTIFICAÇÕES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Notícias, TradingView, alertas e WhatsApp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65506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77393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002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do mercado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2240280"/>
            <a:ext cx="48522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cadastradas pelo próprio usuário, compartilhadas entre todos como um mural comum. Cada fonte pode ser ativada, desativada ou excluída; manchetes novas ganham o selo "Nova".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78728" y="141732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65506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77393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002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TradingView embutido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534760" y="2240280"/>
            <a:ext cx="48522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avançado oficial, com busca de qualquer ativo, indicadores e ferramentas de desenho. Um campo permite abrir qualquer URL do site em nova aba (bloqueio de segurança do próprio TradingView).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alerta</a:t>
            </a:r>
            <a:endParaRPr lang="en-US" sz="13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5121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é gerado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 / Perda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posição comprada atinge a meta (%) configurada.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Mudança relevante na tendência (média móvel) de um ativo.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 de compra / venda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robô consultor identifica um sinal técnico (RSI + MACD + tendência).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1"/>
          <p:cNvSpPr/>
          <p:nvPr/>
        </p:nvSpPr>
        <p:spPr>
          <a:xfrm>
            <a:off x="548640" y="4663440"/>
            <a:ext cx="11094415" cy="1143000"/>
          </a:xfrm>
          <a:prstGeom prst="roundRect">
            <a:avLst>
              <a:gd name="adj" fmla="val 72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04672" y="490118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8" name="Image 2" descr="C:\Users\PC ANTONIO\AppData\Roaming\Claude\scratch-workspaces\f0f5d1bc-bf72-4611-a8ea-e50e459a0a45\08c0c592-3fff-44bf-a144-086c85aaeea0\scratch-2026-09-22-98642c\icons\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4982017"/>
            <a:ext cx="149230" cy="14923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80160" y="484632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804672" y="5340096"/>
            <a:ext cx="1058235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Ícone flutuante leva direto à conversa com o contato oficial. Quando configurado no servidor, o sistema também pode enviar proativamente os mesmos avisos de meta e sinal do robô por WhatsApp.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 — o caixa das operações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o saldo inicial informado manualmente, debita automaticamente a cada compra e credita automaticamente a cada venda, além de aceitar transferências manuais de e para outras contas (ex.: Nubank, a própria corretora).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inicial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 no formulário, editável a qualquer momento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8728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</p:sp>
      <p:sp>
        <p:nvSpPr>
          <p:cNvPr id="9" name="Text 7"/>
          <p:cNvSpPr/>
          <p:nvPr/>
        </p:nvSpPr>
        <p:spPr>
          <a:xfrm>
            <a:off x="6461608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atual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61608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 + créditos − débitos, incl. transferências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04672" y="33924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3" name="Image 0" descr="C:\Users\PC ANTONIO\AppData\Roaming\Claude\scratch-workspaces\f0f5d1bc-bf72-4611-a8ea-e50e459a0a45\08c0c592-3fff-44bf-a144-086c85aaeea0\scratch-2026-09-22-98642c\icons\refre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05" y="3473257"/>
            <a:ext cx="149230" cy="1492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80160" y="333756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crédito automáticos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3831336"/>
            <a:ext cx="1058235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compra gera um débito automático ("Compra de Nx TICKER"); toda venda gera um crédito automático líquido ("Venda de Nx TICKER"). Editar uma operação atualiza o lançamento; excluir a operação de origem exclui o lançamento junto.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" y="476402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8" name="Image 1" descr="C:\Users\PC ANTONIO\AppData\Roaming\Claude\scratch-workspaces\f0f5d1bc-bf72-4611-a8ea-e50e459a0a45\08c0c592-3fff-44bf-a144-086c85aaeea0\scratch-2026-09-22-98642c\icons\pl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5" y="4844857"/>
            <a:ext cx="149230" cy="14923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80160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Transferências manuais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804672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Crédito (entrada) ou Débito (saída) não ligado a compra/venda — ex.: depósito de outro banco ou saque para outra conta.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278728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534760" y="47640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3" name="Image 2" descr="C:\Users\PC ANTONIO\AppData\Roaming\Claude\scratch-workspaces\f0f5d1bc-bf72-4611-a8ea-e50e459a0a45\08c0c592-3fff-44bf-a144-086c85aaeea0\scratch-2026-09-22-98642c\icons\downlo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593" y="4844857"/>
            <a:ext cx="149230" cy="14923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10248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Extrato e exportação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534760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todos os lançamentos com saldo acumulado por linha. Filtro por período (padrão: mês corrente) e exportação em Excel/PDF.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Configurações que afetam o uso diário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Ajustadas pelo administrador do sistema (arquivo de configuração do servidor) e mudam diretamente o comportamento das telas descritas neste manual.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6815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Configuração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controla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MAX_ATIVOS_EM_CARTEIRA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Quantos tickers diferentes cada usuário pode ter comprados ao mesmo tempo (padrão: 10).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META_LUCRO_PADRAO / META_PERDA_PADRAO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Metas (%) usadas quando uma operação não define meta própria.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B3_HORARIO_ABERTURA / FECHAMENTO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Horário de negociação da B3, usado no badge de mercado e no botão de atualizar cotações.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TRADINGVIEW_URL_PESQUISA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 pré-preenchida para abrir páginas do TradingView em nova aba.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WHATSAPP_NUMERO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 de contato usado pelo ícone flutuante de WhatsApp.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COTACOES / NOTICIAS _INTERVALO_MINUTOS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Intervalo das rotinas automáticas do servidor (não afeta os botões manuais).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EAF0FB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575614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8" name="Image 0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5828568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25296" y="571500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o responsável técnico da sua instalação para alterar qualquer uma dessas configurações.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22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4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 </a:t>
            </a:r>
            <a:pPr indent="0" marL="0">
              <a:buNone/>
            </a:pPr>
            <a:r>
              <a:rPr lang="en-US" sz="1250" b="1" spc="200" kern="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RESPONSÁVEL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legais e uso responsável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1736263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9888" y="1572768"/>
            <a:ext cx="102531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BolsaTrader é uma ferramenta de organização e acompanhamento pessoal de carteira. Nenhum indicador, alerta, sinal do robô consultor ou resultado de backtesting constitui recomendação de investimento, consultoria financeira ou promessa de rentabilidade.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0" name="Image 1" descr="C:\Users\PC ANTONIO\AppData\Roaming\Claude\scratch-workspaces\f0f5d1bc-bf72-4611-a8ea-e50e459a0a45\08c0c592-3fff-44bf-a144-086c85aaeea0\scratch-2026-09-22-98642c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190" y="334707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mercado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77240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vêm de APIs externas e podem sofrer atraso, indisponibilidade ou imprecisão pontual.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4338218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</p:sp>
      <p:sp>
        <p:nvSpPr>
          <p:cNvPr id="14" name="Shape 10"/>
          <p:cNvSpPr/>
          <p:nvPr/>
        </p:nvSpPr>
        <p:spPr>
          <a:xfrm>
            <a:off x="4566818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5" name="Image 2" descr="C:\Users\PC ANTONIO\AppData\Roaming\Claude\scratch-workspaces\f0f5d1bc-bf72-4611-a8ea-e50e459a0a45\08c0c592-3fff-44bf-a144-086c85aaeea0\scratch-2026-09-22-98642c\icons\us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68" y="3347070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66818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 do usuário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66818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decisões de compra e venda de ativos são de exclusiva responsabilidade do usuário.</a:t>
            </a:r>
            <a:endParaRPr lang="en-US" sz="1030" dirty="0"/>
          </a:p>
        </p:txBody>
      </p:sp>
      <p:sp>
        <p:nvSpPr>
          <p:cNvPr id="18" name="Shape 13"/>
          <p:cNvSpPr/>
          <p:nvPr/>
        </p:nvSpPr>
        <p:spPr>
          <a:xfrm>
            <a:off x="8127797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</p:sp>
      <p:sp>
        <p:nvSpPr>
          <p:cNvPr id="19" name="Shape 14"/>
          <p:cNvSpPr/>
          <p:nvPr/>
        </p:nvSpPr>
        <p:spPr>
          <a:xfrm>
            <a:off x="8356397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0" name="Image 3" descr="C:\Users\PC ANTONIO\AppData\Roaming\Claude\scratch-workspaces\f0f5d1bc-bf72-4611-a8ea-e50e459a0a45\08c0c592-3fff-44bf-a144-086c85aaeea0\scratch-2026-09-22-98642c\icons\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7347" y="3347070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56397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do manual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8356397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documento reflete as funcionalidades na data de emissão indicada na capa; novas funcionalidades podem não estar ainda refletidas.</a:t>
            </a:r>
            <a:endParaRPr lang="en-US" sz="1030" dirty="0"/>
          </a:p>
        </p:txBody>
      </p:sp>
      <p:sp>
        <p:nvSpPr>
          <p:cNvPr id="23" name="Text 1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011680"/>
            <a:ext cx="5029200" cy="5029200"/>
          </a:xfrm>
          <a:prstGeom prst="ellipse">
            <a:avLst/>
          </a:prstGeom>
          <a:solidFill>
            <a:srgbClr val="16264D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solidFill>
            <a:srgbClr val="16264D"/>
          </a:solidFill>
          <a:ln/>
        </p:spPr>
      </p:sp>
      <p:sp>
        <p:nvSpPr>
          <p:cNvPr id="4" name="Shape 2"/>
          <p:cNvSpPr/>
          <p:nvPr/>
        </p:nvSpPr>
        <p:spPr>
          <a:xfrm>
            <a:off x="5592928" y="1965960"/>
            <a:ext cx="1005840" cy="100584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5" name="Image 0" descr="C:\Users\PC ANTONIO\AppData\Roaming\Claude\scratch-workspaces\f0f5d1bc-bf72-4611-a8ea-e50e459a0a45\08c0c592-3fff-44bf-a144-086c85aaeea0\scratch-2026-09-22-98642c\icons\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8960" y="222199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3246120"/>
            <a:ext cx="12191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2255368" y="4023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adicionais? Consulte a seção 20 — Perguntas Frequentes e Solução de Problemas do manual completo.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0" y="489204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Manual_Operacional_BolsaTrader.docx  ·  Versão 09/2026 (rev. 22/09/2026)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BolsaTrader — Manual Operacional do Sistema</dc:title>
  <dc:subject>PptxGenJS Presentation</dc:subject>
  <dc:creator>BolsaTrader</dc:creator>
  <cp:lastModifiedBy>BolsaTrader</cp:lastModifiedBy>
  <cp:revision>1</cp:revision>
  <dcterms:created xsi:type="dcterms:W3CDTF">2026-09-22T15:41:23Z</dcterms:created>
  <dcterms:modified xsi:type="dcterms:W3CDTF">2026-09-22T15:41:23Z</dcterms:modified>
</cp:coreProperties>
</file>